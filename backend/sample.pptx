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69"/>
  </p:notesMasterIdLst>
  <p:sldIdLst>
    <p:sldId id="256" r:id="rId2"/>
    <p:sldId id="257" r:id="rId3"/>
    <p:sldId id="273" r:id="rId4"/>
    <p:sldId id="274" r:id="rId5"/>
    <p:sldId id="429" r:id="rId6"/>
    <p:sldId id="275" r:id="rId7"/>
    <p:sldId id="413" r:id="rId8"/>
    <p:sldId id="414" r:id="rId9"/>
    <p:sldId id="430" r:id="rId10"/>
    <p:sldId id="415" r:id="rId11"/>
    <p:sldId id="417" r:id="rId12"/>
    <p:sldId id="422" r:id="rId13"/>
    <p:sldId id="456" r:id="rId14"/>
    <p:sldId id="463" r:id="rId15"/>
    <p:sldId id="464" r:id="rId16"/>
    <p:sldId id="465" r:id="rId17"/>
    <p:sldId id="287" r:id="rId18"/>
    <p:sldId id="300" r:id="rId19"/>
    <p:sldId id="301" r:id="rId20"/>
    <p:sldId id="302" r:id="rId21"/>
    <p:sldId id="303" r:id="rId22"/>
    <p:sldId id="304" r:id="rId23"/>
    <p:sldId id="466" r:id="rId24"/>
    <p:sldId id="467" r:id="rId25"/>
    <p:sldId id="305" r:id="rId26"/>
    <p:sldId id="306" r:id="rId27"/>
    <p:sldId id="307" r:id="rId28"/>
    <p:sldId id="316" r:id="rId29"/>
    <p:sldId id="317" r:id="rId30"/>
    <p:sldId id="318" r:id="rId31"/>
    <p:sldId id="431" r:id="rId32"/>
    <p:sldId id="432" r:id="rId33"/>
    <p:sldId id="468" r:id="rId34"/>
    <p:sldId id="319" r:id="rId35"/>
    <p:sldId id="469" r:id="rId36"/>
    <p:sldId id="433" r:id="rId37"/>
    <p:sldId id="329" r:id="rId38"/>
    <p:sldId id="434" r:id="rId39"/>
    <p:sldId id="435" r:id="rId40"/>
    <p:sldId id="333" r:id="rId41"/>
    <p:sldId id="436" r:id="rId42"/>
    <p:sldId id="471" r:id="rId43"/>
    <p:sldId id="462" r:id="rId44"/>
    <p:sldId id="472" r:id="rId45"/>
    <p:sldId id="476" r:id="rId46"/>
    <p:sldId id="341" r:id="rId47"/>
    <p:sldId id="437" r:id="rId48"/>
    <p:sldId id="342" r:id="rId49"/>
    <p:sldId id="440" r:id="rId50"/>
    <p:sldId id="474" r:id="rId51"/>
    <p:sldId id="442" r:id="rId52"/>
    <p:sldId id="475" r:id="rId53"/>
    <p:sldId id="443" r:id="rId54"/>
    <p:sldId id="459" r:id="rId55"/>
    <p:sldId id="445" r:id="rId56"/>
    <p:sldId id="477" r:id="rId57"/>
    <p:sldId id="479" r:id="rId58"/>
    <p:sldId id="480" r:id="rId59"/>
    <p:sldId id="482" r:id="rId60"/>
    <p:sldId id="478" r:id="rId61"/>
    <p:sldId id="451" r:id="rId62"/>
    <p:sldId id="481" r:id="rId63"/>
    <p:sldId id="450" r:id="rId64"/>
    <p:sldId id="448" r:id="rId65"/>
    <p:sldId id="452" r:id="rId66"/>
    <p:sldId id="453" r:id="rId67"/>
    <p:sldId id="454"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9" autoAdjust="0"/>
    <p:restoredTop sz="94660"/>
  </p:normalViewPr>
  <p:slideViewPr>
    <p:cSldViewPr>
      <p:cViewPr varScale="1">
        <p:scale>
          <a:sx n="110" d="100"/>
          <a:sy n="110" d="100"/>
        </p:scale>
        <p:origin x="1962"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BDD028-778D-4B2F-9313-73E7E88985F0}" type="datetimeFigureOut">
              <a:rPr lang="en-US" smtClean="0"/>
              <a:pPr/>
              <a:t>29-09-2025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59F5DC-99E7-4539-A1B3-68973864052F}" type="slidenum">
              <a:rPr lang="en-IN" smtClean="0"/>
              <a:pPr/>
              <a:t>‹#›</a:t>
            </a:fld>
            <a:endParaRPr lang="en-IN"/>
          </a:p>
        </p:txBody>
      </p:sp>
    </p:spTree>
    <p:extLst>
      <p:ext uri="{BB962C8B-B14F-4D97-AF65-F5344CB8AC3E}">
        <p14:creationId xmlns:p14="http://schemas.microsoft.com/office/powerpoint/2010/main" val="3583053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3D59F5DC-99E7-4539-A1B3-68973864052F}" type="slidenum">
              <a:rPr lang="en-IN" smtClean="0"/>
              <a:pPr/>
              <a:t>1</a:t>
            </a:fld>
            <a:endParaRPr lang="en-IN"/>
          </a:p>
        </p:txBody>
      </p:sp>
    </p:spTree>
    <p:extLst>
      <p:ext uri="{BB962C8B-B14F-4D97-AF65-F5344CB8AC3E}">
        <p14:creationId xmlns:p14="http://schemas.microsoft.com/office/powerpoint/2010/main" val="1248201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p>
            <a:fld id="{7A1D7A59-BC30-47A8-9C1C-9B2AFD299AC1}" type="slidenum">
              <a:rPr lang="en-US" smtClean="0"/>
              <a:pPr/>
              <a:t>18</a:t>
            </a:fld>
            <a:endParaRPr lang="en-US" smtClean="0"/>
          </a:p>
        </p:txBody>
      </p:sp>
      <p:sp>
        <p:nvSpPr>
          <p:cNvPr id="18227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8369BA91-2378-41B3-A5D5-154FC58A6F37}" type="slidenum">
              <a:rPr lang="ar-SA" sz="1200"/>
              <a:pPr algn="r"/>
              <a:t>18</a:t>
            </a:fld>
            <a:endParaRPr lang="en-US" sz="1200"/>
          </a:p>
        </p:txBody>
      </p:sp>
      <p:sp>
        <p:nvSpPr>
          <p:cNvPr id="182276" name="Rectangle 2"/>
          <p:cNvSpPr>
            <a:spLocks noGrp="1" noRot="1" noChangeAspect="1" noChangeArrowheads="1" noTextEdit="1"/>
          </p:cNvSpPr>
          <p:nvPr>
            <p:ph type="sldImg"/>
          </p:nvPr>
        </p:nvSpPr>
        <p:spPr>
          <a:ln/>
        </p:spPr>
      </p:sp>
      <p:sp>
        <p:nvSpPr>
          <p:cNvPr id="182277"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63357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p>
            <a:fld id="{9C65E2F4-B9D1-4048-879F-8001C1C75FBD}" type="slidenum">
              <a:rPr lang="en-US" smtClean="0"/>
              <a:pPr/>
              <a:t>19</a:t>
            </a:fld>
            <a:endParaRPr lang="en-US" smtClean="0"/>
          </a:p>
        </p:txBody>
      </p:sp>
      <p:sp>
        <p:nvSpPr>
          <p:cNvPr id="18329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BC7ACBD1-FB14-4A87-989B-98D7A59D0190}" type="slidenum">
              <a:rPr lang="ar-SA" sz="1200"/>
              <a:pPr algn="r"/>
              <a:t>19</a:t>
            </a:fld>
            <a:endParaRPr lang="en-US" sz="1200"/>
          </a:p>
        </p:txBody>
      </p:sp>
      <p:sp>
        <p:nvSpPr>
          <p:cNvPr id="183300" name="Rectangle 2"/>
          <p:cNvSpPr>
            <a:spLocks noGrp="1" noRot="1" noChangeAspect="1" noChangeArrowheads="1" noTextEdit="1"/>
          </p:cNvSpPr>
          <p:nvPr>
            <p:ph type="sldImg"/>
          </p:nvPr>
        </p:nvSpPr>
        <p:spPr>
          <a:ln/>
        </p:spPr>
      </p:sp>
      <p:sp>
        <p:nvSpPr>
          <p:cNvPr id="183301"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899577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p>
            <a:fld id="{EB7991C9-6B04-4D49-B330-C8406185E218}" type="slidenum">
              <a:rPr lang="en-US" smtClean="0"/>
              <a:pPr/>
              <a:t>20</a:t>
            </a:fld>
            <a:endParaRPr lang="en-US" smtClean="0"/>
          </a:p>
        </p:txBody>
      </p:sp>
      <p:sp>
        <p:nvSpPr>
          <p:cNvPr id="18432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9D50273-5E0B-4D36-90B7-1EB6133A491C}" type="slidenum">
              <a:rPr lang="ar-SA" sz="1200"/>
              <a:pPr algn="r"/>
              <a:t>20</a:t>
            </a:fld>
            <a:endParaRPr lang="en-US" sz="1200"/>
          </a:p>
        </p:txBody>
      </p:sp>
      <p:sp>
        <p:nvSpPr>
          <p:cNvPr id="184324" name="Rectangle 2"/>
          <p:cNvSpPr>
            <a:spLocks noGrp="1" noRot="1" noChangeAspect="1" noChangeArrowheads="1" noTextEdit="1"/>
          </p:cNvSpPr>
          <p:nvPr>
            <p:ph type="sldImg"/>
          </p:nvPr>
        </p:nvSpPr>
        <p:spPr>
          <a:ln/>
        </p:spPr>
      </p:sp>
      <p:sp>
        <p:nvSpPr>
          <p:cNvPr id="184325"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912774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p>
            <a:fld id="{A0410AAC-1ADA-48CC-8E4C-6751EDD75FA1}" type="slidenum">
              <a:rPr lang="en-US" smtClean="0"/>
              <a:pPr/>
              <a:t>22</a:t>
            </a:fld>
            <a:endParaRPr lang="en-US" smtClean="0"/>
          </a:p>
        </p:txBody>
      </p:sp>
      <p:sp>
        <p:nvSpPr>
          <p:cNvPr id="18637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02985B9C-CAF7-48C1-A915-D34B9EA11A6D}" type="slidenum">
              <a:rPr lang="ar-SA" sz="1200"/>
              <a:pPr algn="r"/>
              <a:t>22</a:t>
            </a:fld>
            <a:endParaRPr lang="en-US" sz="1200"/>
          </a:p>
        </p:txBody>
      </p:sp>
      <p:sp>
        <p:nvSpPr>
          <p:cNvPr id="186372" name="Rectangle 2"/>
          <p:cNvSpPr>
            <a:spLocks noGrp="1" noRot="1" noChangeAspect="1" noChangeArrowheads="1" noTextEdit="1"/>
          </p:cNvSpPr>
          <p:nvPr>
            <p:ph type="sldImg"/>
          </p:nvPr>
        </p:nvSpPr>
        <p:spPr>
          <a:ln/>
        </p:spPr>
      </p:sp>
      <p:sp>
        <p:nvSpPr>
          <p:cNvPr id="186373"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742774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p>
            <a:fld id="{09BABFB6-2E55-47E8-8A2D-55BD3E72EA2A}" type="slidenum">
              <a:rPr lang="en-US" smtClean="0"/>
              <a:pPr/>
              <a:t>25</a:t>
            </a:fld>
            <a:endParaRPr lang="en-US" smtClean="0"/>
          </a:p>
        </p:txBody>
      </p:sp>
      <p:sp>
        <p:nvSpPr>
          <p:cNvPr id="18739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387F2B7-C26E-4DA7-A59F-966B30B799D8}" type="slidenum">
              <a:rPr lang="ar-SA" sz="1200"/>
              <a:pPr algn="r"/>
              <a:t>25</a:t>
            </a:fld>
            <a:endParaRPr lang="en-US" sz="1200"/>
          </a:p>
        </p:txBody>
      </p:sp>
      <p:sp>
        <p:nvSpPr>
          <p:cNvPr id="187396" name="Rectangle 2"/>
          <p:cNvSpPr>
            <a:spLocks noGrp="1" noRot="1" noChangeAspect="1" noChangeArrowheads="1" noTextEdit="1"/>
          </p:cNvSpPr>
          <p:nvPr>
            <p:ph type="sldImg"/>
          </p:nvPr>
        </p:nvSpPr>
        <p:spPr>
          <a:ln/>
        </p:spPr>
      </p:sp>
      <p:sp>
        <p:nvSpPr>
          <p:cNvPr id="187397"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876371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p>
            <a:fld id="{1B0E5461-7B03-4341-90A8-E4F5677B84D3}" type="slidenum">
              <a:rPr lang="en-US" smtClean="0"/>
              <a:pPr/>
              <a:t>27</a:t>
            </a:fld>
            <a:endParaRPr lang="en-US" smtClean="0"/>
          </a:p>
        </p:txBody>
      </p:sp>
      <p:sp>
        <p:nvSpPr>
          <p:cNvPr id="18841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B6099274-F0E9-474F-9422-3CA69B80AD88}" type="slidenum">
              <a:rPr lang="ar-SA" sz="1200"/>
              <a:pPr algn="r"/>
              <a:t>27</a:t>
            </a:fld>
            <a:endParaRPr lang="en-US" sz="1200"/>
          </a:p>
        </p:txBody>
      </p:sp>
      <p:sp>
        <p:nvSpPr>
          <p:cNvPr id="188420" name="Rectangle 2"/>
          <p:cNvSpPr>
            <a:spLocks noGrp="1" noRot="1" noChangeAspect="1" noChangeArrowheads="1" noTextEdit="1"/>
          </p:cNvSpPr>
          <p:nvPr>
            <p:ph type="sldImg"/>
          </p:nvPr>
        </p:nvSpPr>
        <p:spPr>
          <a:ln/>
        </p:spPr>
      </p:sp>
      <p:sp>
        <p:nvSpPr>
          <p:cNvPr id="188421"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676101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3D59F5DC-99E7-4539-A1B3-68973864052F}" type="slidenum">
              <a:rPr lang="en-IN" smtClean="0"/>
              <a:pPr/>
              <a:t>28</a:t>
            </a:fld>
            <a:endParaRPr lang="en-IN"/>
          </a:p>
        </p:txBody>
      </p:sp>
    </p:spTree>
    <p:extLst>
      <p:ext uri="{BB962C8B-B14F-4D97-AF65-F5344CB8AC3E}">
        <p14:creationId xmlns:p14="http://schemas.microsoft.com/office/powerpoint/2010/main" val="2948146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29-09-2025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29-09-2025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D8BD707-D9CF-40AE-B4C6-C98DA3205C09}" type="datetimeFigureOut">
              <a:rPr lang="en-US" smtClean="0"/>
              <a:pPr/>
              <a:t>29-09-2025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D8BD707-D9CF-40AE-B4C6-C98DA3205C09}" type="datetimeFigureOut">
              <a:rPr lang="en-US" smtClean="0"/>
              <a:pPr/>
              <a:t>29-09-2025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D8BD707-D9CF-40AE-B4C6-C98DA3205C09}" type="datetimeFigureOut">
              <a:rPr lang="en-US" smtClean="0"/>
              <a:pPr/>
              <a:t>29-09-2025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29-09-2025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29-09-2025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29-09-2025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4400" dirty="0" smtClean="0">
                <a:solidFill>
                  <a:srgbClr val="C00000"/>
                </a:solidFill>
                <a:latin typeface="Times New Roman" pitchFamily="18" charset="0"/>
                <a:cs typeface="Times New Roman" pitchFamily="18" charset="0"/>
              </a:rPr>
              <a:t>Computer Organization and Embedded systems</a:t>
            </a:r>
            <a:endParaRPr lang="en-IN" sz="4400"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1371600" y="3886200"/>
            <a:ext cx="7160840" cy="1752600"/>
          </a:xfrm>
        </p:spPr>
        <p:txBody>
          <a:bodyPr>
            <a:normAutofit fontScale="85000" lnSpcReduction="10000"/>
          </a:bodyPr>
          <a:lstStyle/>
          <a:p>
            <a:pPr algn="l"/>
            <a:r>
              <a:rPr lang="en-US" sz="2000" dirty="0" smtClean="0">
                <a:solidFill>
                  <a:schemeClr val="tx1"/>
                </a:solidFill>
                <a:latin typeface="Times New Roman" panose="02020603050405020304" pitchFamily="18" charset="0"/>
                <a:cs typeface="Times New Roman" panose="02020603050405020304" pitchFamily="18" charset="0"/>
              </a:rPr>
              <a:t>Edition: 6</a:t>
            </a:r>
            <a:r>
              <a:rPr lang="en-US" sz="2000" baseline="30000" dirty="0" smtClean="0">
                <a:solidFill>
                  <a:schemeClr val="tx1"/>
                </a:solidFill>
                <a:latin typeface="Times New Roman" panose="02020603050405020304" pitchFamily="18" charset="0"/>
                <a:cs typeface="Times New Roman" panose="02020603050405020304" pitchFamily="18" charset="0"/>
              </a:rPr>
              <a:t>th</a:t>
            </a:r>
            <a:r>
              <a:rPr lang="en-US" sz="2000" dirty="0" smtClean="0">
                <a:solidFill>
                  <a:schemeClr val="tx1"/>
                </a:solidFill>
                <a:latin typeface="Times New Roman" panose="02020603050405020304" pitchFamily="18" charset="0"/>
                <a:cs typeface="Times New Roman" panose="02020603050405020304" pitchFamily="18" charset="0"/>
              </a:rPr>
              <a:t> edition</a:t>
            </a:r>
          </a:p>
          <a:p>
            <a:pPr algn="l"/>
            <a:r>
              <a:rPr lang="en-US" sz="2000" dirty="0" smtClean="0">
                <a:solidFill>
                  <a:schemeClr val="tx1"/>
                </a:solidFill>
                <a:latin typeface="Times New Roman" panose="02020603050405020304" pitchFamily="18" charset="0"/>
                <a:cs typeface="Times New Roman" panose="02020603050405020304" pitchFamily="18" charset="0"/>
              </a:rPr>
              <a:t>Authors: </a:t>
            </a:r>
            <a:r>
              <a:rPr lang="en-IN" sz="2000" dirty="0" smtClean="0">
                <a:solidFill>
                  <a:schemeClr val="tx1"/>
                </a:solidFill>
                <a:latin typeface="Times New Roman" panose="02020603050405020304" pitchFamily="18" charset="0"/>
                <a:cs typeface="Times New Roman" panose="02020603050405020304" pitchFamily="18" charset="0"/>
              </a:rPr>
              <a:t>Carl </a:t>
            </a:r>
            <a:r>
              <a:rPr lang="en-IN" sz="2000" dirty="0" err="1" smtClean="0">
                <a:solidFill>
                  <a:schemeClr val="tx1"/>
                </a:solidFill>
                <a:latin typeface="Times New Roman" panose="02020603050405020304" pitchFamily="18" charset="0"/>
                <a:cs typeface="Times New Roman" panose="02020603050405020304" pitchFamily="18" charset="0"/>
              </a:rPr>
              <a:t>Hamacher</a:t>
            </a:r>
            <a:r>
              <a:rPr lang="en-IN" sz="2000" dirty="0" smtClean="0">
                <a:solidFill>
                  <a:schemeClr val="tx1"/>
                </a:solidFill>
                <a:latin typeface="Times New Roman" panose="02020603050405020304" pitchFamily="18" charset="0"/>
                <a:cs typeface="Times New Roman" panose="02020603050405020304" pitchFamily="18" charset="0"/>
              </a:rPr>
              <a:t>, </a:t>
            </a:r>
            <a:r>
              <a:rPr lang="en-IN" sz="2000" dirty="0" err="1" smtClean="0">
                <a:solidFill>
                  <a:schemeClr val="tx1"/>
                </a:solidFill>
                <a:latin typeface="Times New Roman" panose="02020603050405020304" pitchFamily="18" charset="0"/>
                <a:cs typeface="Times New Roman" panose="02020603050405020304" pitchFamily="18" charset="0"/>
              </a:rPr>
              <a:t>Zvonko</a:t>
            </a:r>
            <a:r>
              <a:rPr lang="en-IN" sz="2000" dirty="0" smtClean="0">
                <a:solidFill>
                  <a:schemeClr val="tx1"/>
                </a:solidFill>
                <a:latin typeface="Times New Roman" panose="02020603050405020304" pitchFamily="18" charset="0"/>
                <a:cs typeface="Times New Roman" panose="02020603050405020304" pitchFamily="18" charset="0"/>
              </a:rPr>
              <a:t> </a:t>
            </a:r>
            <a:r>
              <a:rPr lang="en-IN" sz="2000" dirty="0" err="1" smtClean="0">
                <a:solidFill>
                  <a:schemeClr val="tx1"/>
                </a:solidFill>
                <a:latin typeface="Times New Roman" panose="02020603050405020304" pitchFamily="18" charset="0"/>
                <a:cs typeface="Times New Roman" panose="02020603050405020304" pitchFamily="18" charset="0"/>
              </a:rPr>
              <a:t>Vranesic</a:t>
            </a:r>
            <a:r>
              <a:rPr lang="en-IN" sz="2000" dirty="0" smtClean="0">
                <a:solidFill>
                  <a:schemeClr val="tx1"/>
                </a:solidFill>
                <a:latin typeface="Times New Roman" panose="02020603050405020304" pitchFamily="18" charset="0"/>
                <a:cs typeface="Times New Roman" panose="02020603050405020304" pitchFamily="18" charset="0"/>
              </a:rPr>
              <a:t>, </a:t>
            </a:r>
            <a:r>
              <a:rPr lang="en-IN" sz="2000" dirty="0" err="1" smtClean="0">
                <a:solidFill>
                  <a:schemeClr val="tx1"/>
                </a:solidFill>
                <a:latin typeface="Times New Roman" panose="02020603050405020304" pitchFamily="18" charset="0"/>
                <a:cs typeface="Times New Roman" panose="02020603050405020304" pitchFamily="18" charset="0"/>
              </a:rPr>
              <a:t>Safwat</a:t>
            </a:r>
            <a:r>
              <a:rPr lang="en-IN" sz="2000" dirty="0" smtClean="0">
                <a:solidFill>
                  <a:schemeClr val="tx1"/>
                </a:solidFill>
                <a:latin typeface="Times New Roman" panose="02020603050405020304" pitchFamily="18" charset="0"/>
                <a:cs typeface="Times New Roman" panose="02020603050405020304" pitchFamily="18" charset="0"/>
              </a:rPr>
              <a:t> </a:t>
            </a:r>
            <a:r>
              <a:rPr lang="en-IN" sz="2000" dirty="0" err="1" smtClean="0">
                <a:solidFill>
                  <a:schemeClr val="tx1"/>
                </a:solidFill>
                <a:latin typeface="Times New Roman" panose="02020603050405020304" pitchFamily="18" charset="0"/>
                <a:cs typeface="Times New Roman" panose="02020603050405020304" pitchFamily="18" charset="0"/>
              </a:rPr>
              <a:t>Zaky</a:t>
            </a:r>
            <a:endParaRPr lang="en-IN" sz="2000" dirty="0" smtClean="0">
              <a:solidFill>
                <a:schemeClr val="tx1"/>
              </a:solidFill>
              <a:latin typeface="Times New Roman" panose="02020603050405020304" pitchFamily="18" charset="0"/>
              <a:cs typeface="Times New Roman" panose="02020603050405020304" pitchFamily="18" charset="0"/>
            </a:endParaRPr>
          </a:p>
          <a:p>
            <a:pPr algn="l"/>
            <a:endParaRPr lang="en-IN" sz="2000" dirty="0">
              <a:solidFill>
                <a:schemeClr val="tx1"/>
              </a:solidFill>
              <a:latin typeface="Times New Roman" panose="02020603050405020304" pitchFamily="18" charset="0"/>
              <a:cs typeface="Times New Roman" panose="02020603050405020304" pitchFamily="18" charset="0"/>
            </a:endParaRPr>
          </a:p>
          <a:p>
            <a:pPr algn="r"/>
            <a:r>
              <a:rPr lang="en-IN" sz="2000" dirty="0" smtClean="0">
                <a:solidFill>
                  <a:srgbClr val="C00000"/>
                </a:solidFill>
                <a:latin typeface="Times New Roman" panose="02020603050405020304" pitchFamily="18" charset="0"/>
                <a:cs typeface="Times New Roman" panose="02020603050405020304" pitchFamily="18" charset="0"/>
              </a:rPr>
              <a:t>-</a:t>
            </a:r>
            <a:r>
              <a:rPr lang="en-IN" sz="2000" dirty="0" err="1" smtClean="0">
                <a:solidFill>
                  <a:srgbClr val="C00000"/>
                </a:solidFill>
                <a:latin typeface="Times New Roman" panose="02020603050405020304" pitchFamily="18" charset="0"/>
                <a:cs typeface="Times New Roman" panose="02020603050405020304" pitchFamily="18" charset="0"/>
              </a:rPr>
              <a:t>Dr.</a:t>
            </a:r>
            <a:r>
              <a:rPr lang="en-IN" sz="2000" dirty="0" smtClean="0">
                <a:solidFill>
                  <a:srgbClr val="C00000"/>
                </a:solidFill>
                <a:latin typeface="Times New Roman" panose="02020603050405020304" pitchFamily="18" charset="0"/>
                <a:cs typeface="Times New Roman" panose="02020603050405020304" pitchFamily="18" charset="0"/>
              </a:rPr>
              <a:t> MINAVATHI</a:t>
            </a:r>
          </a:p>
          <a:p>
            <a:pPr algn="r"/>
            <a:r>
              <a:rPr lang="en-IN" sz="2000" dirty="0" smtClean="0">
                <a:solidFill>
                  <a:srgbClr val="C00000"/>
                </a:solidFill>
                <a:latin typeface="Times New Roman" panose="02020603050405020304" pitchFamily="18" charset="0"/>
                <a:cs typeface="Times New Roman" panose="02020603050405020304" pitchFamily="18" charset="0"/>
              </a:rPr>
              <a:t>PROFESSOR</a:t>
            </a:r>
          </a:p>
          <a:p>
            <a:pPr algn="r"/>
            <a:r>
              <a:rPr lang="en-IN" sz="2000" dirty="0" smtClean="0">
                <a:solidFill>
                  <a:srgbClr val="C00000"/>
                </a:solidFill>
                <a:latin typeface="Times New Roman" panose="02020603050405020304" pitchFamily="18" charset="0"/>
                <a:cs typeface="Times New Roman" panose="02020603050405020304" pitchFamily="18" charset="0"/>
              </a:rPr>
              <a:t>CS &amp;E</a:t>
            </a:r>
          </a:p>
          <a:p>
            <a:endParaRPr lang="en-IN" sz="2000"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200" b="1" dirty="0" smtClean="0">
                <a:solidFill>
                  <a:srgbClr val="C00000"/>
                </a:solidFill>
                <a:latin typeface="Times New Roman" pitchFamily="18" charset="0"/>
                <a:cs typeface="Times New Roman" pitchFamily="18" charset="0"/>
              </a:rPr>
              <a:t>Unit-1</a:t>
            </a:r>
            <a:br>
              <a:rPr lang="en-US" sz="3200" b="1" dirty="0" smtClean="0">
                <a:solidFill>
                  <a:srgbClr val="C00000"/>
                </a:solidFill>
                <a:latin typeface="Times New Roman" pitchFamily="18" charset="0"/>
                <a:cs typeface="Times New Roman" pitchFamily="18" charset="0"/>
              </a:rPr>
            </a:br>
            <a:r>
              <a:rPr lang="en-US" sz="3200" b="1" dirty="0" smtClean="0">
                <a:solidFill>
                  <a:srgbClr val="C00000"/>
                </a:solidFill>
                <a:latin typeface="Times New Roman" pitchFamily="18" charset="0"/>
                <a:cs typeface="Times New Roman" pitchFamily="18" charset="0"/>
              </a:rPr>
              <a:t>TOPICS TO BE COVERED</a:t>
            </a:r>
            <a:endParaRPr lang="en-IN"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IN" b="1" dirty="0" smtClean="0">
                <a:solidFill>
                  <a:srgbClr val="0070C0"/>
                </a:solidFill>
                <a:latin typeface="Times New Roman" pitchFamily="18" charset="0"/>
                <a:cs typeface="Times New Roman" pitchFamily="18" charset="0"/>
              </a:rPr>
              <a:t>BASIC STRUCTURE OF COMPUTERS:</a:t>
            </a:r>
            <a:r>
              <a:rPr lang="en-IN" dirty="0" smtClean="0">
                <a:solidFill>
                  <a:srgbClr val="0070C0"/>
                </a:solidFill>
                <a:latin typeface="Times New Roman" pitchFamily="18" charset="0"/>
                <a:cs typeface="Times New Roman" pitchFamily="18" charset="0"/>
              </a:rPr>
              <a:t> </a:t>
            </a:r>
            <a:r>
              <a:rPr lang="en-IN" dirty="0" smtClean="0">
                <a:latin typeface="Times New Roman" pitchFamily="18" charset="0"/>
                <a:cs typeface="Times New Roman" pitchFamily="18" charset="0"/>
              </a:rPr>
              <a:t>Basic operational Concepts, Performance.</a:t>
            </a:r>
            <a:endParaRPr lang="en-US" dirty="0" smtClean="0">
              <a:latin typeface="Times New Roman" pitchFamily="18" charset="0"/>
              <a:cs typeface="Times New Roman" pitchFamily="18" charset="0"/>
            </a:endParaRPr>
          </a:p>
          <a:p>
            <a:pPr algn="just"/>
            <a:r>
              <a:rPr lang="en-IN" b="1" dirty="0" smtClean="0">
                <a:solidFill>
                  <a:srgbClr val="0070C0"/>
                </a:solidFill>
                <a:latin typeface="Times New Roman" pitchFamily="18" charset="0"/>
                <a:cs typeface="Times New Roman" pitchFamily="18" charset="0"/>
              </a:rPr>
              <a:t>INSTRUCTION SET ARCHITECTURE</a:t>
            </a:r>
            <a:r>
              <a:rPr lang="en-IN" b="1" dirty="0" smtClean="0">
                <a:latin typeface="Times New Roman" pitchFamily="18" charset="0"/>
                <a:cs typeface="Times New Roman" pitchFamily="18" charset="0"/>
              </a:rPr>
              <a:t>:</a:t>
            </a:r>
            <a:r>
              <a:rPr lang="en-IN" dirty="0" smtClean="0">
                <a:latin typeface="Times New Roman" pitchFamily="18" charset="0"/>
                <a:cs typeface="Times New Roman" pitchFamily="18" charset="0"/>
              </a:rPr>
              <a:t> Memory Location and Addresses, Memory Operations, Instruction and Instruction Sequencing, Addressing Modes,</a:t>
            </a:r>
            <a:r>
              <a:rPr lang="en-US" dirty="0" smtClean="0">
                <a:latin typeface="Times New Roman" pitchFamily="18" charset="0"/>
                <a:cs typeface="Times New Roman" pitchFamily="18" charset="0"/>
              </a:rPr>
              <a:t> Assembly Language.</a:t>
            </a:r>
          </a:p>
          <a:p>
            <a:pPr>
              <a:buNone/>
            </a:pPr>
            <a:endParaRPr lang="en-I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200" b="1" dirty="0" smtClean="0">
                <a:solidFill>
                  <a:srgbClr val="C00000"/>
                </a:solidFill>
                <a:latin typeface="Times New Roman" pitchFamily="18" charset="0"/>
                <a:cs typeface="Times New Roman" pitchFamily="18" charset="0"/>
              </a:rPr>
              <a:t>Basic Operational Concepts </a:t>
            </a:r>
            <a:endParaRPr lang="en-IN"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268760"/>
            <a:ext cx="8610600" cy="5360640"/>
          </a:xfrm>
        </p:spPr>
        <p:txBody>
          <a:bodyPr>
            <a:normAutofit/>
          </a:bodyPr>
          <a:lstStyle/>
          <a:p>
            <a:pPr algn="just"/>
            <a:r>
              <a:rPr lang="en-US" sz="2400" dirty="0" smtClean="0">
                <a:latin typeface="Times New Roman" pitchFamily="18" charset="0"/>
                <a:cs typeface="Times New Roman" pitchFamily="18" charset="0"/>
              </a:rPr>
              <a:t>Activity in a computer is governed by instructions.</a:t>
            </a:r>
          </a:p>
          <a:p>
            <a:pPr algn="just"/>
            <a:r>
              <a:rPr lang="en-US" sz="2400" dirty="0" smtClean="0">
                <a:latin typeface="Times New Roman" pitchFamily="18" charset="0"/>
                <a:cs typeface="Times New Roman" pitchFamily="18" charset="0"/>
              </a:rPr>
              <a:t>To perform a task, an appropriate program consisting of a list of instructions is stored in the memory.</a:t>
            </a:r>
          </a:p>
          <a:p>
            <a:pPr algn="just"/>
            <a:r>
              <a:rPr lang="en-US" sz="2400" dirty="0" smtClean="0">
                <a:latin typeface="Times New Roman" pitchFamily="18" charset="0"/>
                <a:cs typeface="Times New Roman" pitchFamily="18" charset="0"/>
              </a:rPr>
              <a:t>Individual instructions are brought from the memory into the processor, which executes the specified operations.</a:t>
            </a:r>
          </a:p>
          <a:p>
            <a:pPr algn="just"/>
            <a:r>
              <a:rPr lang="en-US" sz="2400" dirty="0" smtClean="0">
                <a:latin typeface="Times New Roman" pitchFamily="18" charset="0"/>
                <a:cs typeface="Times New Roman" pitchFamily="18" charset="0"/>
              </a:rPr>
              <a:t>Data to be used as operands are also stored in the memory.</a:t>
            </a:r>
          </a:p>
          <a:p>
            <a:pPr algn="just"/>
            <a:r>
              <a:rPr lang="en-IN" sz="2400" dirty="0" smtClean="0">
                <a:latin typeface="Times New Roman" pitchFamily="18" charset="0"/>
                <a:cs typeface="Times New Roman" pitchFamily="18" charset="0"/>
              </a:rPr>
              <a:t>An Instruction consists of two parts, an Operation code and operand/s as shown below:</a:t>
            </a:r>
            <a:endParaRPr lang="en-US" sz="2400" dirty="0" smtClean="0">
              <a:latin typeface="Times New Roman" pitchFamily="18" charset="0"/>
              <a:cs typeface="Times New Roman" pitchFamily="18" charset="0"/>
            </a:endParaRPr>
          </a:p>
          <a:p>
            <a:pPr>
              <a:buNone/>
            </a:pPr>
            <a:endParaRPr lang="en-IN" sz="2400" dirty="0"/>
          </a:p>
        </p:txBody>
      </p:sp>
      <p:graphicFrame>
        <p:nvGraphicFramePr>
          <p:cNvPr id="4" name="Table 3"/>
          <p:cNvGraphicFramePr>
            <a:graphicFrameLocks noGrp="1"/>
          </p:cNvGraphicFramePr>
          <p:nvPr/>
        </p:nvGraphicFramePr>
        <p:xfrm>
          <a:off x="1295400" y="5334001"/>
          <a:ext cx="3429000" cy="685799"/>
        </p:xfrm>
        <a:graphic>
          <a:graphicData uri="http://schemas.openxmlformats.org/drawingml/2006/table">
            <a:tbl>
              <a:tblPr firstRow="1" bandRow="1">
                <a:tableStyleId>{5C22544A-7EE6-4342-B048-85BDC9FD1C3A}</a:tableStyleId>
              </a:tblPr>
              <a:tblGrid>
                <a:gridCol w="1714500"/>
                <a:gridCol w="1714500"/>
              </a:tblGrid>
              <a:tr h="685799">
                <a:tc>
                  <a:txBody>
                    <a:bodyPr/>
                    <a:lstStyle/>
                    <a:p>
                      <a:pPr algn="ctr"/>
                      <a:r>
                        <a:rPr lang="en-US" dirty="0" smtClean="0"/>
                        <a:t>Opcode</a:t>
                      </a:r>
                      <a:endParaRPr lang="en-IN" dirty="0"/>
                    </a:p>
                  </a:txBody>
                  <a:tcPr/>
                </a:tc>
                <a:tc>
                  <a:txBody>
                    <a:bodyPr/>
                    <a:lstStyle/>
                    <a:p>
                      <a:pPr algn="ctr"/>
                      <a:r>
                        <a:rPr lang="en-US" dirty="0" smtClean="0"/>
                        <a:t>Operands</a:t>
                      </a:r>
                      <a:endParaRPr lang="en-IN" dirty="0"/>
                    </a:p>
                  </a:txBody>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75928"/>
          </a:xfrm>
        </p:spPr>
        <p:txBody>
          <a:bodyPr>
            <a:normAutofit/>
          </a:bodyPr>
          <a:lstStyle/>
          <a:p>
            <a:r>
              <a:rPr lang="en-US" sz="3200" b="1" dirty="0" smtClean="0">
                <a:solidFill>
                  <a:srgbClr val="C00000"/>
                </a:solidFill>
                <a:latin typeface="Times New Roman" pitchFamily="18" charset="0"/>
                <a:cs typeface="Times New Roman" pitchFamily="18" charset="0"/>
              </a:rPr>
              <a:t>Basic Operational Concepts </a:t>
            </a:r>
            <a:endParaRPr lang="en-IN"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a:xfrm>
            <a:off x="266700" y="1340768"/>
            <a:ext cx="8610600" cy="4632920"/>
          </a:xfrm>
        </p:spPr>
        <p:txBody>
          <a:bodyPr>
            <a:normAutofit fontScale="70000" lnSpcReduction="20000"/>
          </a:bodyPr>
          <a:lstStyle/>
          <a:p>
            <a:pPr>
              <a:buNone/>
            </a:pPr>
            <a:r>
              <a:rPr lang="en-US" sz="3100" b="1" dirty="0" smtClean="0">
                <a:solidFill>
                  <a:srgbClr val="C00000"/>
                </a:solidFill>
                <a:latin typeface="Times New Roman" panose="02020603050405020304" pitchFamily="18" charset="0"/>
                <a:cs typeface="Times New Roman" panose="02020603050405020304" pitchFamily="18" charset="0"/>
              </a:rPr>
              <a:t>A Typical Instruction</a:t>
            </a:r>
          </a:p>
          <a:p>
            <a:pPr>
              <a:buNone/>
            </a:pPr>
            <a:r>
              <a:rPr lang="en-US" sz="3100" b="1" dirty="0" smtClean="0">
                <a:solidFill>
                  <a:srgbClr val="002060"/>
                </a:solidFill>
                <a:latin typeface="Times New Roman" panose="02020603050405020304" pitchFamily="18" charset="0"/>
                <a:cs typeface="Times New Roman" panose="02020603050405020304" pitchFamily="18" charset="0"/>
              </a:rPr>
              <a:t>Load R2, LOC</a:t>
            </a:r>
          </a:p>
          <a:p>
            <a:pPr algn="just"/>
            <a:r>
              <a:rPr lang="en-US" sz="3100" dirty="0" smtClean="0">
                <a:latin typeface="Times New Roman" pitchFamily="18" charset="0"/>
                <a:cs typeface="Times New Roman" pitchFamily="18" charset="0"/>
              </a:rPr>
              <a:t>Reads the contents of a memory location   whose address is represented symbolically by the Label LOC and loads them to processor register R2</a:t>
            </a:r>
          </a:p>
          <a:p>
            <a:pPr algn="just"/>
            <a:r>
              <a:rPr lang="en-US" sz="3100" dirty="0" smtClean="0">
                <a:latin typeface="Times New Roman" pitchFamily="18" charset="0"/>
                <a:cs typeface="Times New Roman" pitchFamily="18" charset="0"/>
              </a:rPr>
              <a:t>LOC contents are preserved R2 Contents are overwritten.  </a:t>
            </a:r>
          </a:p>
          <a:p>
            <a:pPr marL="0" indent="0" algn="just">
              <a:buNone/>
            </a:pPr>
            <a:r>
              <a:rPr lang="en-US" sz="3100" dirty="0" smtClean="0">
                <a:latin typeface="Times New Roman" pitchFamily="18" charset="0"/>
                <a:cs typeface="Times New Roman" pitchFamily="18" charset="0"/>
              </a:rPr>
              <a:t>                       </a:t>
            </a:r>
          </a:p>
          <a:p>
            <a:pPr>
              <a:buNone/>
            </a:pPr>
            <a:r>
              <a:rPr lang="en-US" sz="3100" b="1" dirty="0" smtClean="0">
                <a:solidFill>
                  <a:srgbClr val="002060"/>
                </a:solidFill>
                <a:latin typeface="Times New Roman" panose="02020603050405020304" pitchFamily="18" charset="0"/>
                <a:cs typeface="Times New Roman" panose="02020603050405020304" pitchFamily="18" charset="0"/>
              </a:rPr>
              <a:t>Add LOCA, R0</a:t>
            </a:r>
          </a:p>
          <a:p>
            <a:pPr>
              <a:buNone/>
            </a:pPr>
            <a:endParaRPr lang="en-US" sz="3100" b="1" dirty="0" smtClean="0">
              <a:latin typeface="Times New Roman" panose="02020603050405020304" pitchFamily="18" charset="0"/>
              <a:cs typeface="Times New Roman" panose="02020603050405020304" pitchFamily="18" charset="0"/>
            </a:endParaRPr>
          </a:p>
          <a:p>
            <a:pPr algn="just">
              <a:lnSpc>
                <a:spcPct val="90000"/>
              </a:lnSpc>
            </a:pPr>
            <a:r>
              <a:rPr lang="en-US" sz="3100" dirty="0" smtClean="0">
                <a:latin typeface="Times New Roman" pitchFamily="18" charset="0"/>
                <a:cs typeface="Times New Roman" pitchFamily="18" charset="0"/>
              </a:rPr>
              <a:t>Add the operand at memory location LOCA to the operand in a register R0 in the processor.</a:t>
            </a:r>
          </a:p>
          <a:p>
            <a:pPr algn="just">
              <a:lnSpc>
                <a:spcPct val="90000"/>
              </a:lnSpc>
            </a:pPr>
            <a:r>
              <a:rPr lang="en-US" sz="3100" dirty="0" smtClean="0">
                <a:latin typeface="Times New Roman" pitchFamily="18" charset="0"/>
                <a:cs typeface="Times New Roman" pitchFamily="18" charset="0"/>
              </a:rPr>
              <a:t>Place the sum into register R0.</a:t>
            </a:r>
          </a:p>
          <a:p>
            <a:pPr algn="just">
              <a:lnSpc>
                <a:spcPct val="90000"/>
              </a:lnSpc>
            </a:pPr>
            <a:r>
              <a:rPr lang="en-US" sz="3100" dirty="0" smtClean="0">
                <a:latin typeface="Times New Roman" pitchFamily="18" charset="0"/>
                <a:cs typeface="Times New Roman" pitchFamily="18" charset="0"/>
              </a:rPr>
              <a:t>The original contents of LOCA are preserved.</a:t>
            </a:r>
          </a:p>
          <a:p>
            <a:pPr algn="just">
              <a:lnSpc>
                <a:spcPct val="90000"/>
              </a:lnSpc>
            </a:pPr>
            <a:r>
              <a:rPr lang="en-US" sz="3100" dirty="0" smtClean="0">
                <a:latin typeface="Times New Roman" pitchFamily="18" charset="0"/>
                <a:cs typeface="Times New Roman" pitchFamily="18" charset="0"/>
              </a:rPr>
              <a:t>The original contents of R0 is overwritten.</a:t>
            </a:r>
          </a:p>
          <a:p>
            <a:endParaRPr lang="en-IN" sz="31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imes New Roman" pitchFamily="18" charset="0"/>
                <a:cs typeface="Times New Roman" pitchFamily="18" charset="0"/>
              </a:rPr>
              <a:t>Basic Operational Concepts CONTD </a:t>
            </a:r>
            <a:endParaRPr lang="en-US" sz="3200" b="1" dirty="0">
              <a:solidFill>
                <a:srgbClr val="C00000"/>
              </a:solidFill>
            </a:endParaRPr>
          </a:p>
        </p:txBody>
      </p:sp>
      <p:sp>
        <p:nvSpPr>
          <p:cNvPr id="3" name="Content Placeholder 2"/>
          <p:cNvSpPr>
            <a:spLocks noGrp="1"/>
          </p:cNvSpPr>
          <p:nvPr>
            <p:ph idx="1"/>
          </p:nvPr>
        </p:nvSpPr>
        <p:spPr/>
        <p:txBody>
          <a:bodyPr>
            <a:normAutofit/>
          </a:bodyPr>
          <a:lstStyle/>
          <a:p>
            <a:pPr>
              <a:buNone/>
            </a:pPr>
            <a:r>
              <a:rPr lang="en-US" sz="2400" dirty="0" smtClean="0">
                <a:solidFill>
                  <a:srgbClr val="002060"/>
                </a:solidFill>
                <a:latin typeface="Times New Roman" pitchFamily="18" charset="0"/>
                <a:cs typeface="Times New Roman" pitchFamily="18" charset="0"/>
              </a:rPr>
              <a:t>Add R4,R2,R3</a:t>
            </a:r>
          </a:p>
          <a:p>
            <a:r>
              <a:rPr lang="en-US" sz="2400" dirty="0" smtClean="0">
                <a:latin typeface="Times New Roman" pitchFamily="18" charset="0"/>
                <a:cs typeface="Times New Roman" pitchFamily="18" charset="0"/>
              </a:rPr>
              <a:t>Adds the contents of registers R2 and R3, then place their sum into R4</a:t>
            </a:r>
          </a:p>
          <a:p>
            <a:pPr>
              <a:buNone/>
            </a:pPr>
            <a:endParaRPr lang="en-US" sz="2400" dirty="0" smtClean="0">
              <a:solidFill>
                <a:srgbClr val="7030A0"/>
              </a:solidFill>
              <a:latin typeface="Times New Roman" pitchFamily="18" charset="0"/>
              <a:cs typeface="Times New Roman" pitchFamily="18" charset="0"/>
            </a:endParaRPr>
          </a:p>
          <a:p>
            <a:pPr>
              <a:buNone/>
            </a:pPr>
            <a:r>
              <a:rPr lang="en-US" sz="2400" dirty="0" smtClean="0">
                <a:solidFill>
                  <a:srgbClr val="002060"/>
                </a:solidFill>
                <a:latin typeface="Times New Roman" pitchFamily="18" charset="0"/>
                <a:cs typeface="Times New Roman" pitchFamily="18" charset="0"/>
              </a:rPr>
              <a:t>Store R4, LOC</a:t>
            </a:r>
          </a:p>
          <a:p>
            <a:r>
              <a:rPr lang="en-US" sz="2400" dirty="0" smtClean="0">
                <a:latin typeface="Times New Roman" pitchFamily="18" charset="0"/>
                <a:cs typeface="Times New Roman" pitchFamily="18" charset="0"/>
              </a:rPr>
              <a:t>Copies the operand in register R4 to memory location LOC</a:t>
            </a:r>
          </a:p>
          <a:p>
            <a:r>
              <a:rPr lang="en-US" sz="2400" dirty="0" smtClean="0">
                <a:latin typeface="Times New Roman" pitchFamily="18" charset="0"/>
                <a:cs typeface="Times New Roman" pitchFamily="18" charset="0"/>
              </a:rPr>
              <a:t>LOC content is overwritten, R4 content is preserved.</a:t>
            </a:r>
            <a:endParaRPr lang="en-US" sz="24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58200" cy="1143000"/>
          </a:xfrm>
        </p:spPr>
        <p:txBody>
          <a:bodyPr>
            <a:normAutofit/>
          </a:bodyPr>
          <a:lstStyle/>
          <a:p>
            <a:r>
              <a:rPr lang="en-US" sz="3200" b="1" dirty="0" smtClean="0">
                <a:solidFill>
                  <a:srgbClr val="C00000"/>
                </a:solidFill>
                <a:latin typeface="Times New Roman" pitchFamily="18" charset="0"/>
                <a:cs typeface="Times New Roman" pitchFamily="18" charset="0"/>
              </a:rPr>
              <a:t>Basic Operational Concepts cont.. </a:t>
            </a:r>
            <a:endParaRPr lang="en-IN" sz="3200" b="1" dirty="0">
              <a:solidFill>
                <a:srgbClr val="C0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buNone/>
            </a:pPr>
            <a:r>
              <a:rPr lang="en-US" sz="2400" b="1" dirty="0" smtClean="0">
                <a:solidFill>
                  <a:srgbClr val="002060"/>
                </a:solidFill>
                <a:latin typeface="Times New Roman" panose="02020603050405020304" pitchFamily="18" charset="0"/>
                <a:cs typeface="Times New Roman" panose="02020603050405020304" pitchFamily="18" charset="0"/>
              </a:rPr>
              <a:t>Add LOCA, R0</a:t>
            </a:r>
          </a:p>
          <a:p>
            <a:pPr algn="just">
              <a:buNone/>
            </a:pPr>
            <a:r>
              <a:rPr lang="en-IN" sz="2400" dirty="0" smtClean="0">
                <a:latin typeface="Times New Roman" pitchFamily="18" charset="0"/>
                <a:cs typeface="Times New Roman" pitchFamily="18" charset="0"/>
              </a:rPr>
              <a:t>The following are the steps to execute the instruction:</a:t>
            </a:r>
          </a:p>
          <a:p>
            <a:pPr algn="just">
              <a:buFont typeface="Wingdings" pitchFamily="2" charset="2"/>
              <a:buChar char="Ø"/>
            </a:pPr>
            <a:r>
              <a:rPr lang="en-IN" sz="2400" dirty="0" smtClean="0">
                <a:latin typeface="Times New Roman" pitchFamily="18" charset="0"/>
                <a:cs typeface="Times New Roman" pitchFamily="18" charset="0"/>
              </a:rPr>
              <a:t>Step 1: Fetch the instruction from main memory into the processor</a:t>
            </a:r>
          </a:p>
          <a:p>
            <a:pPr algn="just">
              <a:buFont typeface="Wingdings" pitchFamily="2" charset="2"/>
              <a:buChar char="Ø"/>
            </a:pPr>
            <a:r>
              <a:rPr lang="en-IN" sz="2400" dirty="0" smtClean="0">
                <a:latin typeface="Times New Roman" pitchFamily="18" charset="0"/>
                <a:cs typeface="Times New Roman" pitchFamily="18" charset="0"/>
              </a:rPr>
              <a:t>Step 2: Fetch the operand at location LOCA from main memory into the processor</a:t>
            </a:r>
          </a:p>
          <a:p>
            <a:pPr algn="just">
              <a:buFont typeface="Wingdings" pitchFamily="2" charset="2"/>
              <a:buChar char="Ø"/>
            </a:pPr>
            <a:r>
              <a:rPr lang="en-IN" sz="2400" dirty="0" smtClean="0">
                <a:latin typeface="Times New Roman" pitchFamily="18" charset="0"/>
                <a:cs typeface="Times New Roman" pitchFamily="18" charset="0"/>
              </a:rPr>
              <a:t>Step 3: Add the memory operand (i.e. fetched contents of LOCA) to the contents of register R0</a:t>
            </a:r>
          </a:p>
          <a:p>
            <a:pPr algn="just">
              <a:buFont typeface="Wingdings" pitchFamily="2" charset="2"/>
              <a:buChar char="Ø"/>
            </a:pPr>
            <a:r>
              <a:rPr lang="en-IN" sz="2400" dirty="0" smtClean="0">
                <a:latin typeface="Times New Roman" pitchFamily="18" charset="0"/>
                <a:cs typeface="Times New Roman" pitchFamily="18" charset="0"/>
              </a:rPr>
              <a:t>Step 4: Store the result (sum) in R0.</a:t>
            </a:r>
            <a:endParaRPr lang="en-IN"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04800" y="304800"/>
            <a:ext cx="7543800" cy="914400"/>
          </a:xfrm>
        </p:spPr>
        <p:txBody>
          <a:bodyPr>
            <a:noAutofit/>
          </a:bodyPr>
          <a:lstStyle/>
          <a:p>
            <a:pPr algn="ctr" eaLnBrk="1" hangingPunct="1"/>
            <a:r>
              <a:rPr lang="en-US" sz="3200" b="1" dirty="0" smtClean="0">
                <a:solidFill>
                  <a:srgbClr val="C00000"/>
                </a:solidFill>
                <a:latin typeface="Times New Roman" pitchFamily="18" charset="0"/>
                <a:cs typeface="Times New Roman" pitchFamily="18" charset="0"/>
              </a:rPr>
              <a:t>Connection Between the Processor and the Memory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1578864"/>
            <a:ext cx="5257800" cy="4364736"/>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z="2400" dirty="0" smtClean="0">
                <a:solidFill>
                  <a:srgbClr val="C00000"/>
                </a:solidFill>
                <a:latin typeface="Times New Roman" pitchFamily="18" charset="0"/>
                <a:cs typeface="Times New Roman" pitchFamily="18" charset="0"/>
              </a:rPr>
              <a:t>REGISTERS</a:t>
            </a:r>
          </a:p>
        </p:txBody>
      </p:sp>
      <p:sp>
        <p:nvSpPr>
          <p:cNvPr id="22531" name="Rectangle 3"/>
          <p:cNvSpPr>
            <a:spLocks noGrp="1" noChangeArrowheads="1"/>
          </p:cNvSpPr>
          <p:nvPr>
            <p:ph idx="1"/>
          </p:nvPr>
        </p:nvSpPr>
        <p:spPr/>
        <p:txBody>
          <a:bodyPr>
            <a:normAutofit/>
          </a:bodyPr>
          <a:lstStyle/>
          <a:p>
            <a:pPr eaLnBrk="1" hangingPunct="1"/>
            <a:r>
              <a:rPr lang="en-US" sz="2400" dirty="0" smtClean="0">
                <a:latin typeface="Times New Roman" pitchFamily="18" charset="0"/>
                <a:cs typeface="Times New Roman" pitchFamily="18" charset="0"/>
              </a:rPr>
              <a:t>Instruction register (IR): is used to hold the instruction that is currently being executed.</a:t>
            </a:r>
          </a:p>
          <a:p>
            <a:pPr eaLnBrk="1" hangingPunct="1"/>
            <a:r>
              <a:rPr lang="en-US" sz="2400" dirty="0" smtClean="0">
                <a:latin typeface="Times New Roman" pitchFamily="18" charset="0"/>
                <a:cs typeface="Times New Roman" pitchFamily="18" charset="0"/>
              </a:rPr>
              <a:t>Program counter (PC):it contains the memory address of the next instruction  to be fetched &amp; executed. During the execution of an instruction the contents of the  PC are updated.</a:t>
            </a:r>
          </a:p>
          <a:p>
            <a:pPr eaLnBrk="1" hangingPunct="1"/>
            <a:r>
              <a:rPr lang="en-US" sz="2400" b="1" dirty="0" smtClean="0">
                <a:latin typeface="Times New Roman" pitchFamily="18" charset="0"/>
                <a:cs typeface="Times New Roman" pitchFamily="18" charset="0"/>
              </a:rPr>
              <a:t>General-purpose register (R</a:t>
            </a:r>
            <a:r>
              <a:rPr lang="en-US" sz="2400" b="1" baseline="-25000" dirty="0" smtClean="0">
                <a:latin typeface="Times New Roman" pitchFamily="18" charset="0"/>
                <a:cs typeface="Times New Roman" pitchFamily="18" charset="0"/>
              </a:rPr>
              <a:t>0</a:t>
            </a:r>
            <a:r>
              <a:rPr lang="en-US" sz="2400" b="1" dirty="0" smtClean="0">
                <a:latin typeface="Times New Roman" pitchFamily="18" charset="0"/>
                <a:cs typeface="Times New Roman" pitchFamily="18" charset="0"/>
              </a:rPr>
              <a:t> – R</a:t>
            </a:r>
            <a:r>
              <a:rPr lang="en-US" sz="2400" b="1" baseline="-25000" dirty="0" smtClean="0">
                <a:latin typeface="Times New Roman" pitchFamily="18" charset="0"/>
                <a:cs typeface="Times New Roman" pitchFamily="18" charset="0"/>
              </a:rPr>
              <a:t>n-1</a:t>
            </a:r>
            <a:r>
              <a:rPr lang="en-US" sz="2400" b="1" dirty="0" smtClean="0">
                <a:latin typeface="Times New Roman" pitchFamily="18" charset="0"/>
                <a:cs typeface="Times New Roman" pitchFamily="18" charset="0"/>
              </a:rPr>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260648"/>
            <a:ext cx="8229600" cy="6048672"/>
          </a:xfrm>
        </p:spPr>
        <p:txBody>
          <a:bodyPr/>
          <a:lstStyle/>
          <a:p>
            <a:r>
              <a:rPr lang="en-US" sz="2400" dirty="0" smtClean="0">
                <a:latin typeface="Times New Roman" pitchFamily="18" charset="0"/>
                <a:cs typeface="Times New Roman" pitchFamily="18" charset="0"/>
              </a:rPr>
              <a:t>Processor Memory Interface is a circuit which manages the transfer of data between main memory and the processor.</a:t>
            </a:r>
          </a:p>
          <a:p>
            <a:pPr>
              <a:buNone/>
            </a:pPr>
            <a:r>
              <a:rPr lang="en-US" sz="2400" b="1" dirty="0" smtClean="0">
                <a:solidFill>
                  <a:srgbClr val="002060"/>
                </a:solidFill>
                <a:latin typeface="Times New Roman" pitchFamily="18" charset="0"/>
                <a:cs typeface="Times New Roman" pitchFamily="18" charset="0"/>
              </a:rPr>
              <a:t>Read Operation</a:t>
            </a:r>
          </a:p>
          <a:p>
            <a:r>
              <a:rPr lang="en-US" sz="2400" dirty="0" smtClean="0">
                <a:latin typeface="Times New Roman" pitchFamily="18" charset="0"/>
                <a:cs typeface="Times New Roman" pitchFamily="18" charset="0"/>
              </a:rPr>
              <a:t>If a word is to be read from the memory, the interface sends the address of that word to the memory along with read control signal. </a:t>
            </a:r>
          </a:p>
          <a:p>
            <a:r>
              <a:rPr lang="en-US" sz="2400" dirty="0" smtClean="0">
                <a:latin typeface="Times New Roman" pitchFamily="18" charset="0"/>
                <a:cs typeface="Times New Roman" pitchFamily="18" charset="0"/>
              </a:rPr>
              <a:t>Interface waits for the word , then transfers to appropriate register  once it is received.</a:t>
            </a:r>
          </a:p>
          <a:p>
            <a:pPr>
              <a:buNone/>
            </a:pPr>
            <a:endParaRPr lang="en-US" sz="2000" dirty="0" smtClean="0">
              <a:solidFill>
                <a:srgbClr val="7030A0"/>
              </a:solidFill>
              <a:latin typeface="Times New Roman" pitchFamily="18" charset="0"/>
              <a:cs typeface="Times New Roman" pitchFamily="18" charset="0"/>
            </a:endParaRPr>
          </a:p>
          <a:p>
            <a:pPr>
              <a:buNone/>
            </a:pPr>
            <a:r>
              <a:rPr lang="en-US" sz="2400" b="1" dirty="0" smtClean="0">
                <a:solidFill>
                  <a:srgbClr val="002060"/>
                </a:solidFill>
                <a:latin typeface="Times New Roman" pitchFamily="18" charset="0"/>
                <a:cs typeface="Times New Roman" pitchFamily="18" charset="0"/>
              </a:rPr>
              <a:t>Write Operation</a:t>
            </a:r>
          </a:p>
          <a:p>
            <a:r>
              <a:rPr lang="en-US" sz="2400" dirty="0" smtClean="0">
                <a:latin typeface="Times New Roman" pitchFamily="18" charset="0"/>
                <a:cs typeface="Times New Roman" pitchFamily="18" charset="0"/>
              </a:rPr>
              <a:t>Writing a word to memory.</a:t>
            </a:r>
          </a:p>
          <a:p>
            <a:r>
              <a:rPr lang="en-US" sz="2400" dirty="0" smtClean="0">
                <a:latin typeface="Times New Roman" pitchFamily="18" charset="0"/>
                <a:cs typeface="Times New Roman" pitchFamily="18" charset="0"/>
              </a:rPr>
              <a:t>Interface transfers both address and the word content to the memory along with write control signal.</a:t>
            </a:r>
            <a:endParaRPr lang="en-US" sz="24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274638"/>
            <a:ext cx="8229600" cy="778098"/>
          </a:xfrm>
        </p:spPr>
        <p:txBody>
          <a:bodyPr/>
          <a:lstStyle/>
          <a:p>
            <a:pPr eaLnBrk="1" hangingPunct="1"/>
            <a:r>
              <a:rPr lang="en-US" sz="2400" b="1" dirty="0" smtClean="0">
                <a:solidFill>
                  <a:srgbClr val="C00000"/>
                </a:solidFill>
                <a:latin typeface="Times New Roman" pitchFamily="18" charset="0"/>
                <a:cs typeface="Times New Roman" pitchFamily="18" charset="0"/>
              </a:rPr>
              <a:t>TYPICAL OPERATING STEPS</a:t>
            </a:r>
          </a:p>
        </p:txBody>
      </p:sp>
      <p:sp>
        <p:nvSpPr>
          <p:cNvPr id="23555" name="Rectangle 3"/>
          <p:cNvSpPr>
            <a:spLocks noGrp="1" noChangeArrowheads="1"/>
          </p:cNvSpPr>
          <p:nvPr>
            <p:ph idx="1"/>
          </p:nvPr>
        </p:nvSpPr>
        <p:spPr>
          <a:xfrm>
            <a:off x="152400" y="1052736"/>
            <a:ext cx="8534400" cy="5805264"/>
          </a:xfrm>
        </p:spPr>
        <p:txBody>
          <a:bodyPr>
            <a:noAutofit/>
          </a:bodyPr>
          <a:lstStyle/>
          <a:p>
            <a:pPr marL="514350" indent="-514350" algn="just" eaLnBrk="1" hangingPunct="1">
              <a:lnSpc>
                <a:spcPct val="90000"/>
              </a:lnSpc>
              <a:buFont typeface="Arial" pitchFamily="34" charset="0"/>
              <a:buAutoNum type="arabicPeriod"/>
            </a:pPr>
            <a:r>
              <a:rPr lang="en-US" sz="2400" dirty="0" smtClean="0">
                <a:latin typeface="Times New Roman" pitchFamily="18" charset="0"/>
                <a:cs typeface="Times New Roman" pitchFamily="18" charset="0"/>
              </a:rPr>
              <a:t>Programs reside in the main memory through input devices from secondary memory in order to execute.</a:t>
            </a:r>
          </a:p>
          <a:p>
            <a:pPr marL="514350" indent="-514350" algn="just" eaLnBrk="1" hangingPunct="1">
              <a:lnSpc>
                <a:spcPct val="90000"/>
              </a:lnSpc>
              <a:buFont typeface="Arial" pitchFamily="34" charset="0"/>
              <a:buAutoNum type="arabicPeriod"/>
            </a:pPr>
            <a:r>
              <a:rPr lang="en-US" sz="2400" dirty="0" smtClean="0">
                <a:latin typeface="Times New Roman" pitchFamily="18" charset="0"/>
                <a:cs typeface="Times New Roman" pitchFamily="18" charset="0"/>
              </a:rPr>
              <a:t>PC is set to point to the first instruction.</a:t>
            </a:r>
          </a:p>
          <a:p>
            <a:pPr marL="514350" indent="-514350" algn="just" eaLnBrk="1" hangingPunct="1">
              <a:lnSpc>
                <a:spcPct val="90000"/>
              </a:lnSpc>
              <a:buFont typeface="Arial" pitchFamily="34" charset="0"/>
              <a:buAutoNum type="arabicPeriod"/>
            </a:pPr>
            <a:r>
              <a:rPr lang="en-US" sz="2400" dirty="0" smtClean="0">
                <a:latin typeface="Times New Roman" pitchFamily="18" charset="0"/>
                <a:cs typeface="Times New Roman" pitchFamily="18" charset="0"/>
              </a:rPr>
              <a:t>The contents of PC are transferred from memory along with read control signal.</a:t>
            </a:r>
          </a:p>
          <a:p>
            <a:pPr marL="514350" indent="-514350" algn="just" eaLnBrk="1" hangingPunct="1">
              <a:lnSpc>
                <a:spcPct val="90000"/>
              </a:lnSpc>
              <a:buFont typeface="Arial" pitchFamily="34" charset="0"/>
              <a:buAutoNum type="arabicPeriod"/>
            </a:pPr>
            <a:r>
              <a:rPr lang="en-US" sz="2400" dirty="0" smtClean="0">
                <a:latin typeface="Times New Roman" pitchFamily="18" charset="0"/>
                <a:cs typeface="Times New Roman" pitchFamily="18" charset="0"/>
              </a:rPr>
              <a:t>When the addressed word has been fetched from the memory and it is loaded into register IR</a:t>
            </a:r>
            <a:r>
              <a:rPr lang="en-US" sz="2400" dirty="0">
                <a:latin typeface="Times New Roman" pitchFamily="18" charset="0"/>
                <a:cs typeface="Times New Roman" pitchFamily="18" charset="0"/>
              </a:rPr>
              <a:t>,</a:t>
            </a:r>
            <a:r>
              <a:rPr lang="en-US" sz="2400" dirty="0" smtClean="0">
                <a:latin typeface="Times New Roman" pitchFamily="18" charset="0"/>
                <a:cs typeface="Times New Roman" pitchFamily="18" charset="0"/>
              </a:rPr>
              <a:t> the instruction is ready to be interpreted and executed.</a:t>
            </a:r>
          </a:p>
          <a:p>
            <a:pPr marL="514350" indent="-514350" algn="just" eaLnBrk="1" hangingPunct="1">
              <a:lnSpc>
                <a:spcPct val="90000"/>
              </a:lnSpc>
              <a:buFont typeface="Arial" pitchFamily="34" charset="0"/>
              <a:buAutoNum type="arabicPeriod"/>
            </a:pPr>
            <a:r>
              <a:rPr lang="en-US" sz="2400" dirty="0" smtClean="0">
                <a:latin typeface="Times New Roman" pitchFamily="18" charset="0"/>
                <a:cs typeface="Times New Roman" pitchFamily="18" charset="0"/>
              </a:rPr>
              <a:t>It checks for the operands in the instruction, if it needs memory operations then it is fetched by sending the address and read control signal.</a:t>
            </a:r>
          </a:p>
          <a:p>
            <a:pPr marL="514350" indent="-514350" algn="just" eaLnBrk="1" hangingPunct="1">
              <a:lnSpc>
                <a:spcPct val="90000"/>
              </a:lnSpc>
              <a:buFont typeface="Arial" pitchFamily="34" charset="0"/>
              <a:buAutoNum type="arabicPeriod"/>
            </a:pPr>
            <a:r>
              <a:rPr lang="en-US" sz="2400" dirty="0" smtClean="0">
                <a:latin typeface="Times New Roman" pitchFamily="18" charset="0"/>
                <a:cs typeface="Times New Roman" pitchFamily="18" charset="0"/>
              </a:rPr>
              <a:t>Once the operands are retrieved instruction operation is performed by taking the operands values from registers and storing the result in registers.</a:t>
            </a:r>
          </a:p>
          <a:p>
            <a:pPr marL="514350" indent="-514350" algn="just" eaLnBrk="1" hangingPunct="1">
              <a:lnSpc>
                <a:spcPct val="90000"/>
              </a:lnSpc>
              <a:buFont typeface="Arial" pitchFamily="34" charset="0"/>
              <a:buAutoNum type="arabicPeriod"/>
            </a:pPr>
            <a:r>
              <a:rPr lang="en-US" sz="2400" dirty="0" smtClean="0">
                <a:latin typeface="Times New Roman" pitchFamily="18" charset="0"/>
                <a:cs typeface="Times New Roman" pitchFamily="18" charset="0"/>
              </a:rPr>
              <a:t>If the result need to be stored  in memory again the write operation is performed.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5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5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274638"/>
            <a:ext cx="8229600" cy="634082"/>
          </a:xfrm>
        </p:spPr>
        <p:txBody>
          <a:bodyPr/>
          <a:lstStyle/>
          <a:p>
            <a:pPr eaLnBrk="1" hangingPunct="1"/>
            <a:r>
              <a:rPr lang="en-US" sz="2400" b="1" dirty="0" smtClean="0">
                <a:solidFill>
                  <a:srgbClr val="C00000"/>
                </a:solidFill>
                <a:latin typeface="Times New Roman" pitchFamily="18" charset="0"/>
                <a:cs typeface="Times New Roman" pitchFamily="18" charset="0"/>
              </a:rPr>
              <a:t>INTERRUPT:</a:t>
            </a:r>
          </a:p>
        </p:txBody>
      </p:sp>
      <p:sp>
        <p:nvSpPr>
          <p:cNvPr id="25603" name="Rectangle 3"/>
          <p:cNvSpPr>
            <a:spLocks noGrp="1" noChangeArrowheads="1"/>
          </p:cNvSpPr>
          <p:nvPr>
            <p:ph idx="1"/>
          </p:nvPr>
        </p:nvSpPr>
        <p:spPr>
          <a:xfrm>
            <a:off x="457200" y="980728"/>
            <a:ext cx="8229600" cy="5400600"/>
          </a:xfrm>
        </p:spPr>
        <p:txBody>
          <a:bodyPr>
            <a:noAutofit/>
          </a:bodyPr>
          <a:lstStyle/>
          <a:p>
            <a:pPr algn="just"/>
            <a:r>
              <a:rPr lang="en-US" sz="2400" dirty="0" smtClean="0">
                <a:latin typeface="Times New Roman" pitchFamily="18" charset="0"/>
                <a:cs typeface="Times New Roman" pitchFamily="18" charset="0"/>
              </a:rPr>
              <a:t>Besides information transfer between processor and memory, computer accepts data from input devices and send data to output devices. Some instructions are their to perform I/O Operation.</a:t>
            </a:r>
          </a:p>
          <a:p>
            <a:pPr algn="just" eaLnBrk="1" hangingPunct="1"/>
            <a:r>
              <a:rPr lang="en-US" sz="2400" dirty="0" smtClean="0">
                <a:latin typeface="Times New Roman" pitchFamily="18" charset="0"/>
                <a:cs typeface="Times New Roman" pitchFamily="18" charset="0"/>
              </a:rPr>
              <a:t>Normal execution of programs may be preempted if some device requires urgent servicing.</a:t>
            </a:r>
          </a:p>
          <a:p>
            <a:pPr algn="just" eaLnBrk="1" hangingPunct="1"/>
            <a:r>
              <a:rPr lang="en-US" sz="2400" dirty="0" smtClean="0">
                <a:latin typeface="Times New Roman" pitchFamily="18" charset="0"/>
                <a:cs typeface="Times New Roman" pitchFamily="18" charset="0"/>
              </a:rPr>
              <a:t>The normal execution of the current program must be interrupted – the device raises an </a:t>
            </a:r>
            <a:r>
              <a:rPr lang="en-US" sz="2400" i="1" dirty="0" smtClean="0">
                <a:latin typeface="Times New Roman" pitchFamily="18" charset="0"/>
                <a:cs typeface="Times New Roman" pitchFamily="18" charset="0"/>
              </a:rPr>
              <a:t>interrupt</a:t>
            </a:r>
            <a:r>
              <a:rPr lang="en-US" sz="2400" dirty="0" smtClean="0">
                <a:latin typeface="Times New Roman" pitchFamily="18" charset="0"/>
                <a:cs typeface="Times New Roman" pitchFamily="18" charset="0"/>
              </a:rPr>
              <a:t> signal.</a:t>
            </a:r>
          </a:p>
          <a:p>
            <a:pPr algn="just" eaLnBrk="1" hangingPunct="1"/>
            <a:r>
              <a:rPr lang="en-US" sz="2400" dirty="0" smtClean="0">
                <a:latin typeface="Times New Roman" pitchFamily="18" charset="0"/>
                <a:cs typeface="Times New Roman" pitchFamily="18" charset="0"/>
              </a:rPr>
              <a:t>The processor provides the requested service by executing an Interrupt-service routine(ISR)</a:t>
            </a:r>
          </a:p>
          <a:p>
            <a:pPr algn="just" eaLnBrk="1" hangingPunct="1"/>
            <a:r>
              <a:rPr lang="en-US" sz="2400" dirty="0" smtClean="0">
                <a:latin typeface="Times New Roman" pitchFamily="18" charset="0"/>
                <a:cs typeface="Times New Roman" pitchFamily="18" charset="0"/>
              </a:rPr>
              <a:t>State of the processor will be altered, so the state must be saved in memory location before servicing the interrupt</a:t>
            </a:r>
          </a:p>
          <a:p>
            <a:pPr algn="just" eaLnBrk="1" hangingPunct="1"/>
            <a:r>
              <a:rPr lang="en-US" sz="2400" dirty="0" smtClean="0">
                <a:latin typeface="Times New Roman" pitchFamily="18" charset="0"/>
                <a:cs typeface="Times New Roman" pitchFamily="18" charset="0"/>
              </a:rPr>
              <a:t>ISR is completed, the state of the processor is restored.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60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6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3990"/>
            <a:ext cx="8382000" cy="6861990"/>
          </a:xfrm>
        </p:spPr>
        <p:txBody>
          <a:bodyPr>
            <a:noAutofit/>
          </a:bodyPr>
          <a:lstStyle/>
          <a:p>
            <a:pPr marL="0" indent="0">
              <a:buNone/>
            </a:pPr>
            <a:r>
              <a:rPr lang="en-US" sz="2400" dirty="0" smtClean="0">
                <a:solidFill>
                  <a:srgbClr val="C00000"/>
                </a:solidFill>
                <a:latin typeface="Times New Roman" panose="02020603050405020304" pitchFamily="18" charset="0"/>
                <a:cs typeface="Times New Roman" panose="02020603050405020304" pitchFamily="18" charset="0"/>
              </a:rPr>
              <a:t>List the steps needed to execute the machine instruction:</a:t>
            </a:r>
            <a:endParaRPr lang="en-US" sz="2400" dirty="0" smtClean="0">
              <a:latin typeface="Times New Roman" panose="02020603050405020304" pitchFamily="18" charset="0"/>
              <a:cs typeface="Times New Roman" panose="02020603050405020304" pitchFamily="18" charset="0"/>
            </a:endParaRPr>
          </a:p>
          <a:p>
            <a:pPr algn="just">
              <a:buNone/>
            </a:pPr>
            <a:r>
              <a:rPr lang="en-US" sz="2400" dirty="0" smtClean="0">
                <a:solidFill>
                  <a:srgbClr val="C00000"/>
                </a:solidFill>
                <a:latin typeface="Times New Roman" pitchFamily="18" charset="0"/>
                <a:cs typeface="Times New Roman" pitchFamily="18" charset="0"/>
              </a:rPr>
              <a:t>Load R2, LOC</a:t>
            </a:r>
          </a:p>
          <a:p>
            <a:pPr algn="just">
              <a:buNone/>
            </a:pPr>
            <a:r>
              <a:rPr lang="en-US" sz="2400" dirty="0" smtClean="0">
                <a:latin typeface="Times New Roman" pitchFamily="18" charset="0"/>
                <a:cs typeface="Times New Roman" pitchFamily="18" charset="0"/>
              </a:rPr>
              <a:t>In terms between the components shown in the diagram and some simple control commands. Assume that address of  the memory location Containing this instruction is initially in register PC. </a:t>
            </a:r>
          </a:p>
          <a:p>
            <a:pPr>
              <a:buNone/>
            </a:pPr>
            <a:r>
              <a:rPr lang="en-US" sz="2400" dirty="0" smtClean="0">
                <a:solidFill>
                  <a:srgbClr val="C00000"/>
                </a:solidFill>
                <a:latin typeface="Times New Roman" panose="02020603050405020304" pitchFamily="18" charset="0"/>
                <a:cs typeface="Times New Roman" panose="02020603050405020304" pitchFamily="18" charset="0"/>
              </a:rPr>
              <a:t>The steps are:</a:t>
            </a:r>
          </a:p>
          <a:p>
            <a:pPr algn="just"/>
            <a:r>
              <a:rPr lang="en-US" sz="2400" dirty="0" smtClean="0">
                <a:latin typeface="Times New Roman" pitchFamily="18" charset="0"/>
                <a:cs typeface="Times New Roman" pitchFamily="18" charset="0"/>
              </a:rPr>
              <a:t>Send the address of the instruction  word from register PC to the memory and issue read control command.</a:t>
            </a:r>
          </a:p>
          <a:p>
            <a:pPr algn="just"/>
            <a:r>
              <a:rPr lang="en-US" sz="2400" dirty="0" smtClean="0">
                <a:latin typeface="Times New Roman" pitchFamily="18" charset="0"/>
                <a:cs typeface="Times New Roman" pitchFamily="18" charset="0"/>
              </a:rPr>
              <a:t>Wait until the requested word has been retrieved from the memory, then load it into register IR, where it is decoded by the control circuitry to determine the operation to be performed.</a:t>
            </a:r>
          </a:p>
          <a:p>
            <a:pPr algn="just"/>
            <a:r>
              <a:rPr lang="en-US" sz="2400" dirty="0" smtClean="0">
                <a:latin typeface="Times New Roman" pitchFamily="18" charset="0"/>
                <a:cs typeface="Times New Roman" pitchFamily="18" charset="0"/>
              </a:rPr>
              <a:t>Increment the contents of register PC to point to the next instruction in memory.</a:t>
            </a:r>
          </a:p>
          <a:p>
            <a:pPr algn="just"/>
            <a:r>
              <a:rPr lang="en-US" sz="2400" dirty="0" smtClean="0">
                <a:latin typeface="Times New Roman" pitchFamily="18" charset="0"/>
                <a:cs typeface="Times New Roman" pitchFamily="18" charset="0"/>
              </a:rPr>
              <a:t>Send the address value LOC from the instruction in Register IR to the memory and issue a read control signal.</a:t>
            </a:r>
          </a:p>
          <a:p>
            <a:pPr algn="just"/>
            <a:r>
              <a:rPr lang="en-US" sz="2400" dirty="0" smtClean="0">
                <a:latin typeface="Times New Roman" pitchFamily="18" charset="0"/>
                <a:cs typeface="Times New Roman" pitchFamily="18" charset="0"/>
              </a:rPr>
              <a:t>Wait until the requested word has been retrieved from the memory, then load it into register R2.</a:t>
            </a:r>
          </a:p>
          <a:p>
            <a:endParaRPr lang="en-US" sz="24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208912" cy="4154984"/>
          </a:xfrm>
          <a:prstGeom prst="rect">
            <a:avLst/>
          </a:prstGeom>
        </p:spPr>
        <p:txBody>
          <a:bodyPr wrap="square">
            <a:spAutoFit/>
          </a:bodyPr>
          <a:lstStyle/>
          <a:p>
            <a:pPr algn="just"/>
            <a:r>
              <a:rPr lang="en-US" sz="2400" b="1" dirty="0" smtClean="0">
                <a:solidFill>
                  <a:schemeClr val="accent2"/>
                </a:solidFill>
                <a:latin typeface="Times New Roman" panose="02020603050405020304" pitchFamily="18" charset="0"/>
                <a:cs typeface="Times New Roman" panose="02020603050405020304" pitchFamily="18" charset="0"/>
              </a:rPr>
              <a:t>PERFORMANCE:</a:t>
            </a:r>
          </a:p>
          <a:p>
            <a:pPr algn="just"/>
            <a:endParaRPr lang="en-US" sz="2400" b="1" dirty="0" smtClean="0">
              <a:solidFill>
                <a:schemeClr val="accent2"/>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most important measure of the performance of a computer is </a:t>
            </a:r>
            <a:r>
              <a:rPr lang="en-US" sz="2400" u="sng" dirty="0">
                <a:latin typeface="Times New Roman" panose="02020603050405020304" pitchFamily="18" charset="0"/>
                <a:cs typeface="Times New Roman" panose="02020603050405020304" pitchFamily="18" charset="0"/>
              </a:rPr>
              <a:t>how quickly it can execute programs</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speed with which a computer executes programs is affected by the </a:t>
            </a:r>
            <a:r>
              <a:rPr lang="en-US" sz="2400" u="sng" dirty="0">
                <a:latin typeface="Times New Roman" panose="02020603050405020304" pitchFamily="18" charset="0"/>
                <a:cs typeface="Times New Roman" panose="02020603050405020304" pitchFamily="18" charset="0"/>
              </a:rPr>
              <a:t>design of its instruction set, its hardware and its software, including the operating system, and the technology in which the hardware is implemented. </a:t>
            </a:r>
            <a:endParaRPr lang="en-US" sz="2400" u="sng"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Because </a:t>
            </a:r>
            <a:r>
              <a:rPr lang="en-US" sz="2400" dirty="0">
                <a:latin typeface="Times New Roman" panose="02020603050405020304" pitchFamily="18" charset="0"/>
                <a:cs typeface="Times New Roman" panose="02020603050405020304" pitchFamily="18" charset="0"/>
              </a:rPr>
              <a:t>programs are usually written in a high-level language, performance is also affected by the </a:t>
            </a:r>
            <a:r>
              <a:rPr lang="en-US" sz="2400" u="sng" dirty="0">
                <a:latin typeface="Times New Roman" panose="02020603050405020304" pitchFamily="18" charset="0"/>
                <a:cs typeface="Times New Roman" panose="02020603050405020304" pitchFamily="18" charset="0"/>
              </a:rPr>
              <a:t>compiler that translates programs into machine </a:t>
            </a:r>
            <a:r>
              <a:rPr lang="en-US" sz="2400" u="sng" dirty="0" smtClean="0">
                <a:latin typeface="Times New Roman" panose="02020603050405020304" pitchFamily="18" charset="0"/>
                <a:cs typeface="Times New Roman" panose="02020603050405020304" pitchFamily="18" charset="0"/>
              </a:rPr>
              <a:t>language.</a:t>
            </a:r>
          </a:p>
        </p:txBody>
      </p:sp>
    </p:spTree>
    <p:extLst>
      <p:ext uri="{BB962C8B-B14F-4D97-AF65-F5344CB8AC3E}">
        <p14:creationId xmlns:p14="http://schemas.microsoft.com/office/powerpoint/2010/main" val="366311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7702"/>
            <a:ext cx="8856984" cy="6370975"/>
          </a:xfrm>
          <a:prstGeom prst="rect">
            <a:avLst/>
          </a:prstGeom>
        </p:spPr>
        <p:txBody>
          <a:bodyPr wrap="square">
            <a:spAutoFit/>
          </a:bodyPr>
          <a:lstStyle/>
          <a:p>
            <a:pPr algn="just"/>
            <a:r>
              <a:rPr lang="en-US" sz="2400" dirty="0">
                <a:solidFill>
                  <a:schemeClr val="accent2"/>
                </a:solidFill>
                <a:latin typeface="Times New Roman" panose="02020603050405020304" pitchFamily="18" charset="0"/>
                <a:cs typeface="Times New Roman" panose="02020603050405020304" pitchFamily="18" charset="0"/>
              </a:rPr>
              <a:t>TECHNOLOGY: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technology of Very Large Scale Integration (VLSI) that is used to fabricate the electronic circuits for a processor on a single chip is a critical factor in the speed of execution of machine instructions.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The speed of switching between the 0 and 1 states in logic circuits is largely determined by the size of the transistors that implement the circuits. </a:t>
            </a:r>
            <a:r>
              <a:rPr lang="en-US" sz="2400" dirty="0" smtClean="0">
                <a:solidFill>
                  <a:srgbClr val="C00000"/>
                </a:solidFill>
                <a:latin typeface="Times New Roman" panose="02020603050405020304" pitchFamily="18" charset="0"/>
                <a:cs typeface="Times New Roman" panose="02020603050405020304" pitchFamily="18" charset="0"/>
              </a:rPr>
              <a:t>(</a:t>
            </a:r>
            <a:r>
              <a:rPr lang="en-US" sz="2400" i="1" dirty="0" smtClean="0">
                <a:solidFill>
                  <a:srgbClr val="C00000"/>
                </a:solidFill>
                <a:latin typeface="Times New Roman" panose="02020603050405020304" pitchFamily="18" charset="0"/>
                <a:cs typeface="Times New Roman" panose="02020603050405020304" pitchFamily="18" charset="0"/>
              </a:rPr>
              <a:t>Smaller </a:t>
            </a:r>
            <a:r>
              <a:rPr lang="en-US" sz="2400" i="1" dirty="0">
                <a:solidFill>
                  <a:srgbClr val="C00000"/>
                </a:solidFill>
                <a:latin typeface="Times New Roman" panose="02020603050405020304" pitchFamily="18" charset="0"/>
                <a:cs typeface="Times New Roman" panose="02020603050405020304" pitchFamily="18" charset="0"/>
              </a:rPr>
              <a:t>transistors switch </a:t>
            </a:r>
            <a:r>
              <a:rPr lang="en-US" sz="2400" i="1" dirty="0" smtClean="0">
                <a:solidFill>
                  <a:srgbClr val="C00000"/>
                </a:solidFill>
                <a:latin typeface="Times New Roman" panose="02020603050405020304" pitchFamily="18" charset="0"/>
                <a:cs typeface="Times New Roman" panose="02020603050405020304" pitchFamily="18" charset="0"/>
              </a:rPr>
              <a:t>faster).</a:t>
            </a:r>
            <a:endParaRPr lang="en-US" sz="2400" i="1"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Advances in fabrication technology over several decades have reduced transistor sizes dramatically. </a:t>
            </a:r>
            <a:endParaRPr lang="en-US" sz="24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has two advantages: </a:t>
            </a:r>
            <a:r>
              <a:rPr lang="en-US" sz="2400" u="sng" dirty="0">
                <a:latin typeface="Times New Roman" panose="02020603050405020304" pitchFamily="18" charset="0"/>
                <a:cs typeface="Times New Roman" panose="02020603050405020304" pitchFamily="18" charset="0"/>
              </a:rPr>
              <a:t>instructions can be executed faster, and more transistors can be placed on a chip</a:t>
            </a:r>
            <a:r>
              <a:rPr lang="en-US" sz="2400" dirty="0">
                <a:latin typeface="Times New Roman" panose="02020603050405020304" pitchFamily="18" charset="0"/>
                <a:cs typeface="Times New Roman" panose="02020603050405020304" pitchFamily="18" charset="0"/>
              </a:rPr>
              <a:t>, leading to more logic functionality and more memory storage </a:t>
            </a:r>
            <a:r>
              <a:rPr lang="en-US" sz="2400" dirty="0" smtClean="0">
                <a:latin typeface="Times New Roman" panose="02020603050405020304" pitchFamily="18" charset="0"/>
                <a:cs typeface="Times New Roman" panose="02020603050405020304" pitchFamily="18" charset="0"/>
              </a:rPr>
              <a:t>capacity.</a:t>
            </a:r>
          </a:p>
          <a:p>
            <a:pPr marL="285750" indent="-28575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Performance </a:t>
            </a:r>
            <a:r>
              <a:rPr lang="en-US" sz="2400" dirty="0">
                <a:latin typeface="Times New Roman" panose="02020603050405020304" pitchFamily="18" charset="0"/>
                <a:cs typeface="Times New Roman" panose="02020603050405020304" pitchFamily="18" charset="0"/>
              </a:rPr>
              <a:t>can be increased by performing a number of operations in parallel. Parallelism can be implemented on many different levels</a:t>
            </a:r>
          </a:p>
          <a:p>
            <a:pPr marL="1200150" lvl="2" indent="-285750" algn="just">
              <a:buFont typeface="Wingdings" panose="05000000000000000000" pitchFamily="2" charset="2"/>
              <a:buChar char="Ø"/>
            </a:pPr>
            <a:r>
              <a:rPr lang="en-US" sz="2400" dirty="0">
                <a:solidFill>
                  <a:srgbClr val="C00000"/>
                </a:solidFill>
                <a:latin typeface="Times New Roman" panose="02020603050405020304" pitchFamily="18" charset="0"/>
                <a:cs typeface="Times New Roman" panose="02020603050405020304" pitchFamily="18" charset="0"/>
              </a:rPr>
              <a:t>Instruction-level Parallelism</a:t>
            </a:r>
          </a:p>
          <a:p>
            <a:pPr marL="1200150" lvl="2" indent="-285750" algn="just">
              <a:buFont typeface="Wingdings" panose="05000000000000000000" pitchFamily="2" charset="2"/>
              <a:buChar char="Ø"/>
            </a:pPr>
            <a:r>
              <a:rPr lang="en-US" sz="2400" dirty="0">
                <a:solidFill>
                  <a:srgbClr val="C00000"/>
                </a:solidFill>
                <a:latin typeface="Times New Roman" panose="02020603050405020304" pitchFamily="18" charset="0"/>
                <a:cs typeface="Times New Roman" panose="02020603050405020304" pitchFamily="18" charset="0"/>
              </a:rPr>
              <a:t>Multicore Processors</a:t>
            </a:r>
          </a:p>
          <a:p>
            <a:pPr marL="1200150" lvl="2" indent="-285750" algn="just">
              <a:buFont typeface="Wingdings" panose="05000000000000000000" pitchFamily="2" charset="2"/>
              <a:buChar char="Ø"/>
            </a:pPr>
            <a:r>
              <a:rPr lang="en-US" sz="2400" dirty="0">
                <a:solidFill>
                  <a:srgbClr val="C00000"/>
                </a:solidFill>
                <a:latin typeface="Times New Roman" panose="02020603050405020304" pitchFamily="18" charset="0"/>
                <a:cs typeface="Times New Roman" panose="02020603050405020304" pitchFamily="18" charset="0"/>
              </a:rPr>
              <a:t>Multiprocessors</a:t>
            </a:r>
          </a:p>
        </p:txBody>
      </p:sp>
    </p:spTree>
    <p:extLst>
      <p:ext uri="{BB962C8B-B14F-4D97-AF65-F5344CB8AC3E}">
        <p14:creationId xmlns:p14="http://schemas.microsoft.com/office/powerpoint/2010/main" val="289500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8712968" cy="5909310"/>
          </a:xfrm>
          <a:prstGeom prst="rect">
            <a:avLst/>
          </a:prstGeom>
        </p:spPr>
        <p:txBody>
          <a:bodyPr wrap="square">
            <a:spAutoFit/>
          </a:bodyPr>
          <a:lstStyle/>
          <a:p>
            <a:pPr lvl="2" algn="just"/>
            <a:r>
              <a:rPr lang="en-US" sz="2400" dirty="0">
                <a:solidFill>
                  <a:srgbClr val="C00000"/>
                </a:solidFill>
                <a:latin typeface="Times New Roman" panose="02020603050405020304" pitchFamily="18" charset="0"/>
                <a:cs typeface="Times New Roman" panose="02020603050405020304" pitchFamily="18" charset="0"/>
              </a:rPr>
              <a:t>Instruction-level Parallelism</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we </a:t>
            </a:r>
            <a:r>
              <a:rPr lang="en-US" sz="2400" dirty="0" smtClean="0">
                <a:latin typeface="Times New Roman" panose="02020603050405020304" pitchFamily="18" charset="0"/>
                <a:cs typeface="Times New Roman" panose="02020603050405020304" pitchFamily="18" charset="0"/>
              </a:rPr>
              <a:t>overlap the </a:t>
            </a:r>
            <a:r>
              <a:rPr lang="en-US" sz="2400" dirty="0">
                <a:latin typeface="Times New Roman" panose="02020603050405020304" pitchFamily="18" charset="0"/>
                <a:cs typeface="Times New Roman" panose="02020603050405020304" pitchFamily="18" charset="0"/>
              </a:rPr>
              <a:t>execution of the steps of successive instructions, total execution time will be reduced.</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 example, the next instruction could be fetched from memory at the same time that </a:t>
            </a:r>
            <a:r>
              <a:rPr lang="en-US" sz="2400" dirty="0" smtClean="0">
                <a:latin typeface="Times New Roman" panose="02020603050405020304" pitchFamily="18" charset="0"/>
                <a:cs typeface="Times New Roman" panose="02020603050405020304" pitchFamily="18" charset="0"/>
              </a:rPr>
              <a:t>an arithmetic </a:t>
            </a:r>
            <a:r>
              <a:rPr lang="en-US" sz="2400" dirty="0">
                <a:latin typeface="Times New Roman" panose="02020603050405020304" pitchFamily="18" charset="0"/>
                <a:cs typeface="Times New Roman" panose="02020603050405020304" pitchFamily="18" charset="0"/>
              </a:rPr>
              <a:t>operation is being performed on the register operands of the current instruction</a:t>
            </a:r>
            <a:r>
              <a:rPr lang="en-US" sz="24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2400" dirty="0" smtClean="0">
              <a:latin typeface="Times New Roman" panose="02020603050405020304" pitchFamily="18" charset="0"/>
              <a:cs typeface="Times New Roman" panose="02020603050405020304" pitchFamily="18" charset="0"/>
            </a:endParaRPr>
          </a:p>
          <a:p>
            <a:pPr marL="0" lvl="2"/>
            <a:r>
              <a:rPr lang="en-US" sz="2400" dirty="0" smtClean="0">
                <a:solidFill>
                  <a:srgbClr val="C00000"/>
                </a:solidFill>
                <a:latin typeface="Times New Roman" panose="02020603050405020304" pitchFamily="18" charset="0"/>
                <a:cs typeface="Times New Roman" panose="02020603050405020304" pitchFamily="18" charset="0"/>
              </a:rPr>
              <a:t>	Multicore Processors</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Multiple processing units can be fabricated on a single chip. </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technical literature</a:t>
            </a:r>
            <a:r>
              <a:rPr lang="en-US" sz="2400" dirty="0" smtClean="0">
                <a:latin typeface="Times New Roman" panose="02020603050405020304" pitchFamily="18" charset="0"/>
                <a:cs typeface="Times New Roman" panose="02020603050405020304" pitchFamily="18" charset="0"/>
              </a:rPr>
              <a:t>, the </a:t>
            </a:r>
            <a:r>
              <a:rPr lang="en-US" sz="2400" dirty="0">
                <a:latin typeface="Times New Roman" panose="02020603050405020304" pitchFamily="18" charset="0"/>
                <a:cs typeface="Times New Roman" panose="02020603050405020304" pitchFamily="18" charset="0"/>
              </a:rPr>
              <a:t>term </a:t>
            </a:r>
            <a:r>
              <a:rPr lang="en-US" sz="2400" i="1" dirty="0">
                <a:latin typeface="Times New Roman" panose="02020603050405020304" pitchFamily="18" charset="0"/>
                <a:cs typeface="Times New Roman" panose="02020603050405020304" pitchFamily="18" charset="0"/>
              </a:rPr>
              <a:t>core </a:t>
            </a:r>
            <a:r>
              <a:rPr lang="en-US" sz="2400" dirty="0">
                <a:latin typeface="Times New Roman" panose="02020603050405020304" pitchFamily="18" charset="0"/>
                <a:cs typeface="Times New Roman" panose="02020603050405020304" pitchFamily="18" charset="0"/>
              </a:rPr>
              <a:t>is used for each of these processors. The term processor is then used </a:t>
            </a:r>
            <a:r>
              <a:rPr lang="en-US" sz="2400" dirty="0" smtClean="0">
                <a:latin typeface="Times New Roman" panose="02020603050405020304" pitchFamily="18" charset="0"/>
                <a:cs typeface="Times New Roman" panose="02020603050405020304" pitchFamily="18" charset="0"/>
              </a:rPr>
              <a:t>for the </a:t>
            </a:r>
            <a:r>
              <a:rPr lang="en-US" sz="2400" dirty="0">
                <a:latin typeface="Times New Roman" panose="02020603050405020304" pitchFamily="18" charset="0"/>
                <a:cs typeface="Times New Roman" panose="02020603050405020304" pitchFamily="18" charset="0"/>
              </a:rPr>
              <a:t>complete chip</a:t>
            </a:r>
            <a:r>
              <a:rPr lang="en-US" sz="24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Hence, we have the terminology </a:t>
            </a:r>
            <a:r>
              <a:rPr lang="en-US" sz="2400" i="1" dirty="0">
                <a:latin typeface="Times New Roman" panose="02020603050405020304" pitchFamily="18" charset="0"/>
                <a:cs typeface="Times New Roman" panose="02020603050405020304" pitchFamily="18" charset="0"/>
              </a:rPr>
              <a:t>dual-core</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quad-core</a:t>
            </a:r>
            <a:r>
              <a:rPr lang="en-US" sz="2400" dirty="0">
                <a:latin typeface="Times New Roman" panose="02020603050405020304" pitchFamily="18" charset="0"/>
                <a:cs typeface="Times New Roman" panose="02020603050405020304" pitchFamily="18" charset="0"/>
              </a:rPr>
              <a:t>, and </a:t>
            </a:r>
            <a:r>
              <a:rPr lang="en-US" sz="2400" i="1" dirty="0" err="1" smtClean="0">
                <a:latin typeface="Times New Roman" panose="02020603050405020304" pitchFamily="18" charset="0"/>
                <a:cs typeface="Times New Roman" panose="02020603050405020304" pitchFamily="18" charset="0"/>
              </a:rPr>
              <a:t>octo</a:t>
            </a:r>
            <a:r>
              <a:rPr lang="en-US" sz="2400" i="1" dirty="0" smtClean="0">
                <a:latin typeface="Times New Roman" panose="02020603050405020304" pitchFamily="18" charset="0"/>
                <a:cs typeface="Times New Roman" panose="02020603050405020304" pitchFamily="18" charset="0"/>
              </a:rPr>
              <a:t>-core </a:t>
            </a:r>
            <a:r>
              <a:rPr lang="en-US" sz="2400" dirty="0" smtClean="0">
                <a:latin typeface="Times New Roman" panose="02020603050405020304" pitchFamily="18" charset="0"/>
                <a:cs typeface="Times New Roman" panose="02020603050405020304" pitchFamily="18" charset="0"/>
              </a:rPr>
              <a:t>processors </a:t>
            </a:r>
            <a:r>
              <a:rPr lang="en-US" sz="2400" dirty="0">
                <a:latin typeface="Times New Roman" panose="02020603050405020304" pitchFamily="18" charset="0"/>
                <a:cs typeface="Times New Roman" panose="02020603050405020304" pitchFamily="18" charset="0"/>
              </a:rPr>
              <a:t>for chips that have two, four, and eight cores, respectively</a:t>
            </a:r>
            <a:endParaRPr lang="en-US" sz="2400" dirty="0" smtClean="0">
              <a:latin typeface="Times New Roman" panose="02020603050405020304" pitchFamily="18" charset="0"/>
              <a:cs typeface="Times New Roman" panose="02020603050405020304" pitchFamily="18" charset="0"/>
            </a:endParaRPr>
          </a:p>
          <a:p>
            <a:pPr lvl="2" algn="just"/>
            <a:endParaRPr lang="en-US" sz="2400" dirty="0">
              <a:solidFill>
                <a:srgbClr val="C00000"/>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398356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16632"/>
            <a:ext cx="8389440" cy="5786199"/>
          </a:xfrm>
          <a:prstGeom prst="rect">
            <a:avLst/>
          </a:prstGeom>
        </p:spPr>
        <p:txBody>
          <a:bodyPr wrap="square">
            <a:spAutoFit/>
          </a:bodyPr>
          <a:lstStyle/>
          <a:p>
            <a:pPr lvl="2" algn="just"/>
            <a:r>
              <a:rPr lang="en-US" sz="2400" dirty="0" smtClean="0">
                <a:solidFill>
                  <a:srgbClr val="C00000"/>
                </a:solidFill>
                <a:latin typeface="Times New Roman" panose="02020603050405020304" pitchFamily="18" charset="0"/>
                <a:cs typeface="Times New Roman" panose="02020603050405020304" pitchFamily="18" charset="0"/>
              </a:rPr>
              <a:t>Multiprocessors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Computer systems may contain many processors, each possibly containing multiple</a:t>
            </a:r>
          </a:p>
          <a:p>
            <a:r>
              <a:rPr lang="en-US" sz="2000" dirty="0">
                <a:latin typeface="Times New Roman" panose="02020603050405020304" pitchFamily="18" charset="0"/>
                <a:cs typeface="Times New Roman" panose="02020603050405020304" pitchFamily="18" charset="0"/>
              </a:rPr>
              <a:t>cores. Such systems are called </a:t>
            </a:r>
            <a:r>
              <a:rPr lang="en-US" sz="2000" i="1" dirty="0" smtClean="0">
                <a:latin typeface="Times New Roman" panose="02020603050405020304" pitchFamily="18" charset="0"/>
                <a:cs typeface="Times New Roman" panose="02020603050405020304" pitchFamily="18" charset="0"/>
              </a:rPr>
              <a:t>multiprocessors.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systems either execute a </a:t>
            </a:r>
            <a:r>
              <a:rPr lang="en-US" sz="2000" dirty="0" smtClean="0">
                <a:latin typeface="Times New Roman" panose="02020603050405020304" pitchFamily="18" charset="0"/>
                <a:cs typeface="Times New Roman" panose="02020603050405020304" pitchFamily="18" charset="0"/>
              </a:rPr>
              <a:t>number of </a:t>
            </a:r>
            <a:r>
              <a:rPr lang="en-US" sz="2000" dirty="0">
                <a:latin typeface="Times New Roman" panose="02020603050405020304" pitchFamily="18" charset="0"/>
                <a:cs typeface="Times New Roman" panose="02020603050405020304" pitchFamily="18" charset="0"/>
              </a:rPr>
              <a:t>different application tasks in parallel, or they execute subtasks of a single large </a:t>
            </a:r>
            <a:r>
              <a:rPr lang="en-US" sz="2000" dirty="0" smtClean="0">
                <a:latin typeface="Times New Roman" panose="02020603050405020304" pitchFamily="18" charset="0"/>
                <a:cs typeface="Times New Roman" panose="02020603050405020304" pitchFamily="18" charset="0"/>
              </a:rPr>
              <a:t>task in </a:t>
            </a:r>
            <a:r>
              <a:rPr lang="en-US" sz="2000" dirty="0">
                <a:latin typeface="Times New Roman" panose="02020603050405020304" pitchFamily="18" charset="0"/>
                <a:cs typeface="Times New Roman" panose="02020603050405020304" pitchFamily="18" charset="0"/>
              </a:rPr>
              <a:t>parallel. </a:t>
            </a:r>
            <a:endParaRPr lang="en-US" sz="20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All </a:t>
            </a:r>
            <a:r>
              <a:rPr lang="en-US" sz="2000" dirty="0">
                <a:latin typeface="Times New Roman" panose="02020603050405020304" pitchFamily="18" charset="0"/>
                <a:cs typeface="Times New Roman" panose="02020603050405020304" pitchFamily="18" charset="0"/>
              </a:rPr>
              <a:t>processors usually have access to all of the memory in such systems</a:t>
            </a:r>
            <a:r>
              <a:rPr lang="en-US" sz="2000" dirty="0" smtClean="0">
                <a:latin typeface="Times New Roman" panose="02020603050405020304" pitchFamily="18" charset="0"/>
                <a:cs typeface="Times New Roman" panose="02020603050405020304" pitchFamily="18" charset="0"/>
              </a:rPr>
              <a:t>, and </a:t>
            </a:r>
            <a:r>
              <a:rPr lang="en-US" sz="2000" dirty="0">
                <a:latin typeface="Times New Roman" panose="02020603050405020304" pitchFamily="18" charset="0"/>
                <a:cs typeface="Times New Roman" panose="02020603050405020304" pitchFamily="18" charset="0"/>
              </a:rPr>
              <a:t>the term </a:t>
            </a:r>
            <a:r>
              <a:rPr lang="en-US" sz="2000" i="1" dirty="0">
                <a:latin typeface="Times New Roman" panose="02020603050405020304" pitchFamily="18" charset="0"/>
                <a:cs typeface="Times New Roman" panose="02020603050405020304" pitchFamily="18" charset="0"/>
              </a:rPr>
              <a:t>shared-memory multiprocessor </a:t>
            </a:r>
            <a:r>
              <a:rPr lang="en-US" sz="2000" dirty="0">
                <a:latin typeface="Times New Roman" panose="02020603050405020304" pitchFamily="18" charset="0"/>
                <a:cs typeface="Times New Roman" panose="02020603050405020304" pitchFamily="18" charset="0"/>
              </a:rPr>
              <a:t>is often used to make this clear. </a:t>
            </a:r>
            <a:endParaRPr lang="en-US" sz="20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The high performance </a:t>
            </a:r>
            <a:r>
              <a:rPr lang="en-US" sz="2000" dirty="0">
                <a:latin typeface="Times New Roman" panose="02020603050405020304" pitchFamily="18" charset="0"/>
                <a:cs typeface="Times New Roman" panose="02020603050405020304" pitchFamily="18" charset="0"/>
              </a:rPr>
              <a:t>of these systems comes with much higher complexity and </a:t>
            </a:r>
            <a:r>
              <a:rPr lang="en-US" sz="2000" dirty="0" smtClean="0">
                <a:latin typeface="Times New Roman" panose="02020603050405020304" pitchFamily="18" charset="0"/>
                <a:cs typeface="Times New Roman" panose="02020603050405020304" pitchFamily="18" charset="0"/>
              </a:rPr>
              <a:t>cost.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computers </a:t>
            </a:r>
            <a:r>
              <a:rPr lang="en-US" sz="2000" dirty="0" smtClean="0">
                <a:latin typeface="Times New Roman" panose="02020603050405020304" pitchFamily="18" charset="0"/>
                <a:cs typeface="Times New Roman" panose="02020603050405020304" pitchFamily="18" charset="0"/>
              </a:rPr>
              <a:t>normally have </a:t>
            </a:r>
            <a:r>
              <a:rPr lang="en-US" sz="2000" dirty="0">
                <a:latin typeface="Times New Roman" panose="02020603050405020304" pitchFamily="18" charset="0"/>
                <a:cs typeface="Times New Roman" panose="02020603050405020304" pitchFamily="18" charset="0"/>
              </a:rPr>
              <a:t>access only to their own memory units</a:t>
            </a:r>
            <a:r>
              <a:rPr lang="en-US" sz="20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When the tasks they are executing need to </a:t>
            </a:r>
            <a:r>
              <a:rPr lang="en-US" sz="2000" dirty="0" smtClean="0">
                <a:latin typeface="Times New Roman" panose="02020603050405020304" pitchFamily="18" charset="0"/>
                <a:cs typeface="Times New Roman" panose="02020603050405020304" pitchFamily="18" charset="0"/>
              </a:rPr>
              <a:t>share data</a:t>
            </a:r>
            <a:r>
              <a:rPr lang="en-US" sz="2000" dirty="0">
                <a:latin typeface="Times New Roman" panose="02020603050405020304" pitchFamily="18" charset="0"/>
                <a:cs typeface="Times New Roman" panose="02020603050405020304" pitchFamily="18" charset="0"/>
              </a:rPr>
              <a:t>, they do so by exchanging </a:t>
            </a:r>
            <a:r>
              <a:rPr lang="en-US" sz="2000" i="1" dirty="0">
                <a:latin typeface="Times New Roman" panose="02020603050405020304" pitchFamily="18" charset="0"/>
                <a:cs typeface="Times New Roman" panose="02020603050405020304" pitchFamily="18" charset="0"/>
              </a:rPr>
              <a:t>messages </a:t>
            </a:r>
            <a:r>
              <a:rPr lang="en-US" sz="2000" dirty="0">
                <a:latin typeface="Times New Roman" panose="02020603050405020304" pitchFamily="18" charset="0"/>
                <a:cs typeface="Times New Roman" panose="02020603050405020304" pitchFamily="18" charset="0"/>
              </a:rPr>
              <a:t>over a communication network</a:t>
            </a:r>
            <a:r>
              <a:rPr lang="en-US" sz="20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This </a:t>
            </a:r>
            <a:r>
              <a:rPr lang="en-US" sz="2000" dirty="0" smtClean="0">
                <a:latin typeface="Times New Roman" panose="02020603050405020304" pitchFamily="18" charset="0"/>
                <a:cs typeface="Times New Roman" panose="02020603050405020304" pitchFamily="18" charset="0"/>
              </a:rPr>
              <a:t>property distinguishes </a:t>
            </a:r>
            <a:r>
              <a:rPr lang="en-US" sz="2000" dirty="0">
                <a:latin typeface="Times New Roman" panose="02020603050405020304" pitchFamily="18" charset="0"/>
                <a:cs typeface="Times New Roman" panose="02020603050405020304" pitchFamily="18" charset="0"/>
              </a:rPr>
              <a:t>them from shared-memory multiprocessors, leading to the name </a:t>
            </a:r>
            <a:r>
              <a:rPr lang="en-US" sz="2000" i="1" dirty="0" smtClean="0">
                <a:latin typeface="Times New Roman" panose="02020603050405020304" pitchFamily="18" charset="0"/>
                <a:cs typeface="Times New Roman" panose="02020603050405020304" pitchFamily="18" charset="0"/>
              </a:rPr>
              <a:t>message-passing </a:t>
            </a:r>
            <a:r>
              <a:rPr lang="en-US" sz="2000" i="1" dirty="0" err="1" smtClean="0">
                <a:latin typeface="Times New Roman" panose="02020603050405020304" pitchFamily="18" charset="0"/>
                <a:cs typeface="Times New Roman" panose="02020603050405020304" pitchFamily="18" charset="0"/>
              </a:rPr>
              <a:t>multicomputers</a:t>
            </a:r>
            <a:r>
              <a:rPr lang="en-US" sz="2000" dirty="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endParaRPr lang="en-US" i="1" dirty="0" smtClean="0"/>
          </a:p>
          <a:p>
            <a:endParaRPr lang="en-US" sz="48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35490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24744"/>
            <a:ext cx="8229600" cy="4706112"/>
          </a:xfrm>
        </p:spPr>
        <p:txBody>
          <a:bodyPr/>
          <a:lstStyle/>
          <a:p>
            <a:r>
              <a:rPr lang="en-US" dirty="0" smtClean="0">
                <a:solidFill>
                  <a:srgbClr val="FF0000"/>
                </a:solidFill>
                <a:latin typeface="Times New Roman" panose="02020603050405020304" pitchFamily="18" charset="0"/>
                <a:cs typeface="Times New Roman" panose="02020603050405020304" pitchFamily="18" charset="0"/>
              </a:rPr>
              <a:t>Chapter 2</a:t>
            </a:r>
            <a:br>
              <a:rPr lang="en-US" dirty="0" smtClean="0">
                <a:solidFill>
                  <a:srgbClr val="FF0000"/>
                </a:solidFill>
                <a:latin typeface="Times New Roman" panose="02020603050405020304" pitchFamily="18" charset="0"/>
                <a:cs typeface="Times New Roman" panose="02020603050405020304" pitchFamily="18" charset="0"/>
              </a:rPr>
            </a:br>
            <a:r>
              <a:rPr lang="en-US" dirty="0" smtClean="0">
                <a:solidFill>
                  <a:srgbClr val="FF0000"/>
                </a:solidFill>
                <a:latin typeface="Times New Roman" panose="02020603050405020304" pitchFamily="18" charset="0"/>
                <a:cs typeface="Times New Roman" panose="02020603050405020304" pitchFamily="18" charset="0"/>
              </a:rPr>
              <a:t>Instruction Set Architecture</a:t>
            </a:r>
            <a:endParaRPr lang="en-IN"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type="body" idx="4294967295"/>
          </p:nvPr>
        </p:nvSpPr>
        <p:spPr>
          <a:xfrm>
            <a:off x="0" y="1719263"/>
            <a:ext cx="3276600" cy="4411662"/>
          </a:xfrm>
        </p:spPr>
        <p:txBody>
          <a:bodyPr/>
          <a:lstStyle/>
          <a:p>
            <a:pPr algn="just" eaLnBrk="1" hangingPunct="1"/>
            <a:r>
              <a:rPr lang="en-US" altLang="zh-CN" sz="2400" dirty="0" smtClean="0">
                <a:latin typeface="Times New Roman" pitchFamily="18" charset="0"/>
                <a:ea typeface="SimSun" pitchFamily="2" charset="-122"/>
                <a:cs typeface="Times New Roman" pitchFamily="18" charset="0"/>
              </a:rPr>
              <a:t>Memory consists of many millions of storage cells, each of which can store 1 bit.</a:t>
            </a:r>
          </a:p>
          <a:p>
            <a:pPr algn="just" eaLnBrk="1" hangingPunct="1"/>
            <a:r>
              <a:rPr lang="en-US" altLang="zh-CN" sz="2400" dirty="0" smtClean="0">
                <a:latin typeface="Times New Roman" pitchFamily="18" charset="0"/>
                <a:ea typeface="SimSun" pitchFamily="2" charset="-122"/>
                <a:cs typeface="Times New Roman" pitchFamily="18" charset="0"/>
              </a:rPr>
              <a:t>Data is usually accessed in </a:t>
            </a:r>
            <a:r>
              <a:rPr lang="en-US" altLang="zh-CN" sz="2400" i="1" dirty="0" smtClean="0">
                <a:latin typeface="Times New Roman" pitchFamily="18" charset="0"/>
                <a:ea typeface="SimSun" pitchFamily="2" charset="-122"/>
                <a:cs typeface="Times New Roman" pitchFamily="18" charset="0"/>
              </a:rPr>
              <a:t>n</a:t>
            </a:r>
            <a:r>
              <a:rPr lang="en-US" altLang="zh-CN" sz="2400" dirty="0" smtClean="0">
                <a:latin typeface="Times New Roman" pitchFamily="18" charset="0"/>
                <a:ea typeface="SimSun" pitchFamily="2" charset="-122"/>
                <a:cs typeface="Times New Roman" pitchFamily="18" charset="0"/>
              </a:rPr>
              <a:t>-bit groups. </a:t>
            </a:r>
            <a:r>
              <a:rPr lang="en-US" altLang="zh-CN" sz="2400" i="1" dirty="0" smtClean="0">
                <a:latin typeface="Times New Roman" pitchFamily="18" charset="0"/>
                <a:ea typeface="SimSun" pitchFamily="2" charset="-122"/>
                <a:cs typeface="Times New Roman" pitchFamily="18" charset="0"/>
              </a:rPr>
              <a:t>n</a:t>
            </a:r>
            <a:r>
              <a:rPr lang="en-US" altLang="zh-CN" sz="2400" dirty="0" smtClean="0">
                <a:latin typeface="Times New Roman" pitchFamily="18" charset="0"/>
                <a:ea typeface="SimSun" pitchFamily="2" charset="-122"/>
                <a:cs typeface="Times New Roman" pitchFamily="18" charset="0"/>
              </a:rPr>
              <a:t> is called word length.</a:t>
            </a:r>
          </a:p>
        </p:txBody>
      </p:sp>
      <p:grpSp>
        <p:nvGrpSpPr>
          <p:cNvPr id="2" name="Group 40"/>
          <p:cNvGrpSpPr>
            <a:grpSpLocks/>
          </p:cNvGrpSpPr>
          <p:nvPr/>
        </p:nvGrpSpPr>
        <p:grpSpPr bwMode="auto">
          <a:xfrm>
            <a:off x="3733800" y="1339850"/>
            <a:ext cx="4814888" cy="5518150"/>
            <a:chOff x="697" y="816"/>
            <a:chExt cx="3033" cy="4018"/>
          </a:xfrm>
        </p:grpSpPr>
        <p:sp>
          <p:nvSpPr>
            <p:cNvPr id="61445" name="Rectangle 4"/>
            <p:cNvSpPr>
              <a:spLocks noChangeArrowheads="1"/>
            </p:cNvSpPr>
            <p:nvPr/>
          </p:nvSpPr>
          <p:spPr bwMode="auto">
            <a:xfrm>
              <a:off x="3048" y="1364"/>
              <a:ext cx="682" cy="166"/>
            </a:xfrm>
            <a:prstGeom prst="rect">
              <a:avLst/>
            </a:prstGeom>
            <a:noFill/>
            <a:ln w="9525">
              <a:noFill/>
              <a:miter lim="800000"/>
              <a:headEnd/>
              <a:tailEnd/>
            </a:ln>
          </p:spPr>
          <p:txBody>
            <a:bodyPr wrap="none" lIns="0" tIns="0" rIns="0" bIns="0">
              <a:spAutoFit/>
            </a:bodyPr>
            <a:lstStyle/>
            <a:p>
              <a:r>
                <a:rPr lang="en-CA" altLang="zh-CN" sz="1500">
                  <a:solidFill>
                    <a:srgbClr val="000000"/>
                  </a:solidFill>
                  <a:latin typeface="Nimbus Roman No9 L" charset="0"/>
                  <a:ea typeface="SimSun" pitchFamily="2" charset="-122"/>
                </a:rPr>
                <a:t>second word</a:t>
              </a:r>
              <a:endParaRPr lang="en-CA" altLang="zh-CN" sz="2400">
                <a:latin typeface="Times New Roman" pitchFamily="18" charset="0"/>
                <a:ea typeface="SimSun" pitchFamily="2" charset="-122"/>
              </a:endParaRPr>
            </a:p>
          </p:txBody>
        </p:sp>
        <p:sp>
          <p:nvSpPr>
            <p:cNvPr id="61446" name="Line 5"/>
            <p:cNvSpPr>
              <a:spLocks noChangeShapeType="1"/>
            </p:cNvSpPr>
            <p:nvPr/>
          </p:nvSpPr>
          <p:spPr bwMode="auto">
            <a:xfrm flipH="1">
              <a:off x="697" y="3011"/>
              <a:ext cx="1881" cy="1"/>
            </a:xfrm>
            <a:prstGeom prst="line">
              <a:avLst/>
            </a:prstGeom>
            <a:noFill/>
            <a:ln w="20638">
              <a:solidFill>
                <a:srgbClr val="00FFFF"/>
              </a:solidFill>
              <a:round/>
              <a:headEnd/>
              <a:tailEnd/>
            </a:ln>
          </p:spPr>
          <p:txBody>
            <a:bodyPr/>
            <a:lstStyle/>
            <a:p>
              <a:endParaRPr lang="en-IN"/>
            </a:p>
          </p:txBody>
        </p:sp>
        <p:sp>
          <p:nvSpPr>
            <p:cNvPr id="61447" name="Line 6"/>
            <p:cNvSpPr>
              <a:spLocks noChangeShapeType="1"/>
            </p:cNvSpPr>
            <p:nvPr/>
          </p:nvSpPr>
          <p:spPr bwMode="auto">
            <a:xfrm flipH="1">
              <a:off x="697" y="1600"/>
              <a:ext cx="1881" cy="1"/>
            </a:xfrm>
            <a:prstGeom prst="line">
              <a:avLst/>
            </a:prstGeom>
            <a:noFill/>
            <a:ln w="20638">
              <a:solidFill>
                <a:srgbClr val="00FFFF"/>
              </a:solidFill>
              <a:round/>
              <a:headEnd/>
              <a:tailEnd/>
            </a:ln>
          </p:spPr>
          <p:txBody>
            <a:bodyPr/>
            <a:lstStyle/>
            <a:p>
              <a:endParaRPr lang="en-IN"/>
            </a:p>
          </p:txBody>
        </p:sp>
        <p:sp>
          <p:nvSpPr>
            <p:cNvPr id="61448" name="Freeform 7"/>
            <p:cNvSpPr>
              <a:spLocks/>
            </p:cNvSpPr>
            <p:nvPr/>
          </p:nvSpPr>
          <p:spPr bwMode="auto">
            <a:xfrm>
              <a:off x="710" y="881"/>
              <a:ext cx="78" cy="40"/>
            </a:xfrm>
            <a:custGeom>
              <a:avLst/>
              <a:gdLst>
                <a:gd name="T0" fmla="*/ 2147483647 w 6"/>
                <a:gd name="T1" fmla="*/ 0 h 3"/>
                <a:gd name="T2" fmla="*/ 0 w 6"/>
                <a:gd name="T3" fmla="*/ 2147483647 h 3"/>
                <a:gd name="T4" fmla="*/ 2147483647 w 6"/>
                <a:gd name="T5" fmla="*/ 2147483647 h 3"/>
                <a:gd name="T6" fmla="*/ 2147483647 w 6"/>
                <a:gd name="T7" fmla="*/ 2147483647 h 3"/>
                <a:gd name="T8" fmla="*/ 2147483647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1"/>
                  </a:lnTo>
                  <a:lnTo>
                    <a:pt x="6" y="3"/>
                  </a:lnTo>
                  <a:lnTo>
                    <a:pt x="6" y="1"/>
                  </a:lnTo>
                  <a:lnTo>
                    <a:pt x="6" y="0"/>
                  </a:lnTo>
                </a:path>
              </a:pathLst>
            </a:custGeom>
            <a:noFill/>
            <a:ln w="20638">
              <a:solidFill>
                <a:srgbClr val="000000"/>
              </a:solidFill>
              <a:round/>
              <a:headEnd/>
              <a:tailEnd/>
            </a:ln>
          </p:spPr>
          <p:txBody>
            <a:bodyPr/>
            <a:lstStyle/>
            <a:p>
              <a:endParaRPr lang="en-IN"/>
            </a:p>
          </p:txBody>
        </p:sp>
        <p:sp>
          <p:nvSpPr>
            <p:cNvPr id="61449" name="Freeform 8"/>
            <p:cNvSpPr>
              <a:spLocks/>
            </p:cNvSpPr>
            <p:nvPr/>
          </p:nvSpPr>
          <p:spPr bwMode="auto">
            <a:xfrm>
              <a:off x="710" y="881"/>
              <a:ext cx="78" cy="40"/>
            </a:xfrm>
            <a:custGeom>
              <a:avLst/>
              <a:gdLst>
                <a:gd name="T0" fmla="*/ 78 w 78"/>
                <a:gd name="T1" fmla="*/ 0 h 40"/>
                <a:gd name="T2" fmla="*/ 0 w 78"/>
                <a:gd name="T3" fmla="*/ 13 h 40"/>
                <a:gd name="T4" fmla="*/ 78 w 78"/>
                <a:gd name="T5" fmla="*/ 40 h 40"/>
                <a:gd name="T6" fmla="*/ 78 w 78"/>
                <a:gd name="T7" fmla="*/ 13 h 40"/>
                <a:gd name="T8" fmla="*/ 78 w 78"/>
                <a:gd name="T9" fmla="*/ 0 h 40"/>
                <a:gd name="T10" fmla="*/ 0 60000 65536"/>
                <a:gd name="T11" fmla="*/ 0 60000 65536"/>
                <a:gd name="T12" fmla="*/ 0 60000 65536"/>
                <a:gd name="T13" fmla="*/ 0 60000 65536"/>
                <a:gd name="T14" fmla="*/ 0 60000 65536"/>
                <a:gd name="T15" fmla="*/ 0 w 78"/>
                <a:gd name="T16" fmla="*/ 0 h 40"/>
                <a:gd name="T17" fmla="*/ 78 w 78"/>
                <a:gd name="T18" fmla="*/ 40 h 40"/>
              </a:gdLst>
              <a:ahLst/>
              <a:cxnLst>
                <a:cxn ang="T10">
                  <a:pos x="T0" y="T1"/>
                </a:cxn>
                <a:cxn ang="T11">
                  <a:pos x="T2" y="T3"/>
                </a:cxn>
                <a:cxn ang="T12">
                  <a:pos x="T4" y="T5"/>
                </a:cxn>
                <a:cxn ang="T13">
                  <a:pos x="T6" y="T7"/>
                </a:cxn>
                <a:cxn ang="T14">
                  <a:pos x="T8" y="T9"/>
                </a:cxn>
              </a:cxnLst>
              <a:rect l="T15" t="T16" r="T17" b="T18"/>
              <a:pathLst>
                <a:path w="78" h="40">
                  <a:moveTo>
                    <a:pt x="78" y="0"/>
                  </a:moveTo>
                  <a:lnTo>
                    <a:pt x="0" y="13"/>
                  </a:lnTo>
                  <a:lnTo>
                    <a:pt x="78" y="40"/>
                  </a:lnTo>
                  <a:lnTo>
                    <a:pt x="78" y="13"/>
                  </a:lnTo>
                  <a:lnTo>
                    <a:pt x="78" y="0"/>
                  </a:lnTo>
                  <a:close/>
                </a:path>
              </a:pathLst>
            </a:custGeom>
            <a:solidFill>
              <a:srgbClr val="000000"/>
            </a:solidFill>
            <a:ln w="0">
              <a:solidFill>
                <a:srgbClr val="000000"/>
              </a:solidFill>
              <a:round/>
              <a:headEnd/>
              <a:tailEnd/>
            </a:ln>
          </p:spPr>
          <p:txBody>
            <a:bodyPr/>
            <a:lstStyle/>
            <a:p>
              <a:endParaRPr lang="en-IN"/>
            </a:p>
          </p:txBody>
        </p:sp>
        <p:sp>
          <p:nvSpPr>
            <p:cNvPr id="61450" name="Line 9"/>
            <p:cNvSpPr>
              <a:spLocks noChangeShapeType="1"/>
            </p:cNvSpPr>
            <p:nvPr/>
          </p:nvSpPr>
          <p:spPr bwMode="auto">
            <a:xfrm>
              <a:off x="772" y="894"/>
              <a:ext cx="630" cy="1"/>
            </a:xfrm>
            <a:prstGeom prst="line">
              <a:avLst/>
            </a:prstGeom>
            <a:noFill/>
            <a:ln w="20638">
              <a:solidFill>
                <a:srgbClr val="000000"/>
              </a:solidFill>
              <a:round/>
              <a:headEnd/>
              <a:tailEnd/>
            </a:ln>
          </p:spPr>
          <p:txBody>
            <a:bodyPr/>
            <a:lstStyle/>
            <a:p>
              <a:endParaRPr lang="en-IN"/>
            </a:p>
          </p:txBody>
        </p:sp>
        <p:sp>
          <p:nvSpPr>
            <p:cNvPr id="61451" name="Freeform 10"/>
            <p:cNvSpPr>
              <a:spLocks/>
            </p:cNvSpPr>
            <p:nvPr/>
          </p:nvSpPr>
          <p:spPr bwMode="auto">
            <a:xfrm>
              <a:off x="2497" y="881"/>
              <a:ext cx="79" cy="40"/>
            </a:xfrm>
            <a:custGeom>
              <a:avLst/>
              <a:gdLst>
                <a:gd name="T0" fmla="*/ 0 w 6"/>
                <a:gd name="T1" fmla="*/ 2147483647 h 3"/>
                <a:gd name="T2" fmla="*/ 2147483647 w 6"/>
                <a:gd name="T3" fmla="*/ 2147483647 h 3"/>
                <a:gd name="T4" fmla="*/ 0 w 6"/>
                <a:gd name="T5" fmla="*/ 0 h 3"/>
                <a:gd name="T6" fmla="*/ 0 w 6"/>
                <a:gd name="T7" fmla="*/ 2147483647 h 3"/>
                <a:gd name="T8" fmla="*/ 0 w 6"/>
                <a:gd name="T9" fmla="*/ 2147483647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20638">
              <a:solidFill>
                <a:srgbClr val="000000"/>
              </a:solidFill>
              <a:round/>
              <a:headEnd/>
              <a:tailEnd/>
            </a:ln>
          </p:spPr>
          <p:txBody>
            <a:bodyPr/>
            <a:lstStyle/>
            <a:p>
              <a:endParaRPr lang="en-IN"/>
            </a:p>
          </p:txBody>
        </p:sp>
        <p:sp>
          <p:nvSpPr>
            <p:cNvPr id="61452" name="Freeform 11"/>
            <p:cNvSpPr>
              <a:spLocks/>
            </p:cNvSpPr>
            <p:nvPr/>
          </p:nvSpPr>
          <p:spPr bwMode="auto">
            <a:xfrm>
              <a:off x="2497" y="881"/>
              <a:ext cx="79" cy="40"/>
            </a:xfrm>
            <a:custGeom>
              <a:avLst/>
              <a:gdLst>
                <a:gd name="T0" fmla="*/ 0 w 79"/>
                <a:gd name="T1" fmla="*/ 40 h 40"/>
                <a:gd name="T2" fmla="*/ 79 w 79"/>
                <a:gd name="T3" fmla="*/ 13 h 40"/>
                <a:gd name="T4" fmla="*/ 0 w 79"/>
                <a:gd name="T5" fmla="*/ 0 h 40"/>
                <a:gd name="T6" fmla="*/ 0 w 79"/>
                <a:gd name="T7" fmla="*/ 13 h 40"/>
                <a:gd name="T8" fmla="*/ 0 w 79"/>
                <a:gd name="T9" fmla="*/ 40 h 40"/>
                <a:gd name="T10" fmla="*/ 0 60000 65536"/>
                <a:gd name="T11" fmla="*/ 0 60000 65536"/>
                <a:gd name="T12" fmla="*/ 0 60000 65536"/>
                <a:gd name="T13" fmla="*/ 0 60000 65536"/>
                <a:gd name="T14" fmla="*/ 0 60000 65536"/>
                <a:gd name="T15" fmla="*/ 0 w 79"/>
                <a:gd name="T16" fmla="*/ 0 h 40"/>
                <a:gd name="T17" fmla="*/ 79 w 79"/>
                <a:gd name="T18" fmla="*/ 40 h 40"/>
              </a:gdLst>
              <a:ahLst/>
              <a:cxnLst>
                <a:cxn ang="T10">
                  <a:pos x="T0" y="T1"/>
                </a:cxn>
                <a:cxn ang="T11">
                  <a:pos x="T2" y="T3"/>
                </a:cxn>
                <a:cxn ang="T12">
                  <a:pos x="T4" y="T5"/>
                </a:cxn>
                <a:cxn ang="T13">
                  <a:pos x="T6" y="T7"/>
                </a:cxn>
                <a:cxn ang="T14">
                  <a:pos x="T8" y="T9"/>
                </a:cxn>
              </a:cxnLst>
              <a:rect l="T15" t="T16" r="T17" b="T18"/>
              <a:pathLst>
                <a:path w="79" h="40">
                  <a:moveTo>
                    <a:pt x="0" y="40"/>
                  </a:moveTo>
                  <a:lnTo>
                    <a:pt x="79" y="13"/>
                  </a:lnTo>
                  <a:lnTo>
                    <a:pt x="0" y="0"/>
                  </a:lnTo>
                  <a:lnTo>
                    <a:pt x="0" y="13"/>
                  </a:lnTo>
                  <a:lnTo>
                    <a:pt x="0" y="40"/>
                  </a:lnTo>
                  <a:close/>
                </a:path>
              </a:pathLst>
            </a:custGeom>
            <a:solidFill>
              <a:srgbClr val="000000"/>
            </a:solidFill>
            <a:ln w="0">
              <a:solidFill>
                <a:srgbClr val="000000"/>
              </a:solidFill>
              <a:round/>
              <a:headEnd/>
              <a:tailEnd/>
            </a:ln>
          </p:spPr>
          <p:txBody>
            <a:bodyPr/>
            <a:lstStyle/>
            <a:p>
              <a:endParaRPr lang="en-IN"/>
            </a:p>
          </p:txBody>
        </p:sp>
        <p:sp>
          <p:nvSpPr>
            <p:cNvPr id="61453" name="Line 12"/>
            <p:cNvSpPr>
              <a:spLocks noChangeShapeType="1"/>
            </p:cNvSpPr>
            <p:nvPr/>
          </p:nvSpPr>
          <p:spPr bwMode="auto">
            <a:xfrm flipH="1">
              <a:off x="1873" y="894"/>
              <a:ext cx="660" cy="1"/>
            </a:xfrm>
            <a:prstGeom prst="line">
              <a:avLst/>
            </a:prstGeom>
            <a:noFill/>
            <a:ln w="20638">
              <a:solidFill>
                <a:srgbClr val="000000"/>
              </a:solidFill>
              <a:round/>
              <a:headEnd/>
              <a:tailEnd/>
            </a:ln>
          </p:spPr>
          <p:txBody>
            <a:bodyPr/>
            <a:lstStyle/>
            <a:p>
              <a:endParaRPr lang="en-IN"/>
            </a:p>
          </p:txBody>
        </p:sp>
        <p:sp>
          <p:nvSpPr>
            <p:cNvPr id="61454" name="Line 13"/>
            <p:cNvSpPr>
              <a:spLocks noChangeShapeType="1"/>
            </p:cNvSpPr>
            <p:nvPr/>
          </p:nvSpPr>
          <p:spPr bwMode="auto">
            <a:xfrm flipV="1">
              <a:off x="697" y="855"/>
              <a:ext cx="1" cy="92"/>
            </a:xfrm>
            <a:prstGeom prst="line">
              <a:avLst/>
            </a:prstGeom>
            <a:noFill/>
            <a:ln w="20638">
              <a:solidFill>
                <a:srgbClr val="000000"/>
              </a:solidFill>
              <a:round/>
              <a:headEnd/>
              <a:tailEnd/>
            </a:ln>
          </p:spPr>
          <p:txBody>
            <a:bodyPr/>
            <a:lstStyle/>
            <a:p>
              <a:endParaRPr lang="en-IN"/>
            </a:p>
          </p:txBody>
        </p:sp>
        <p:sp>
          <p:nvSpPr>
            <p:cNvPr id="61455" name="Line 14"/>
            <p:cNvSpPr>
              <a:spLocks noChangeShapeType="1"/>
            </p:cNvSpPr>
            <p:nvPr/>
          </p:nvSpPr>
          <p:spPr bwMode="auto">
            <a:xfrm flipV="1">
              <a:off x="2578" y="855"/>
              <a:ext cx="1" cy="92"/>
            </a:xfrm>
            <a:prstGeom prst="line">
              <a:avLst/>
            </a:prstGeom>
            <a:noFill/>
            <a:ln w="20638">
              <a:solidFill>
                <a:srgbClr val="000000"/>
              </a:solidFill>
              <a:round/>
              <a:headEnd/>
              <a:tailEnd/>
            </a:ln>
          </p:spPr>
          <p:txBody>
            <a:bodyPr/>
            <a:lstStyle/>
            <a:p>
              <a:endParaRPr lang="en-IN"/>
            </a:p>
          </p:txBody>
        </p:sp>
        <p:sp>
          <p:nvSpPr>
            <p:cNvPr id="61456" name="Line 15"/>
            <p:cNvSpPr>
              <a:spLocks noChangeShapeType="1"/>
            </p:cNvSpPr>
            <p:nvPr/>
          </p:nvSpPr>
          <p:spPr bwMode="auto">
            <a:xfrm flipH="1">
              <a:off x="697" y="1325"/>
              <a:ext cx="1881" cy="1"/>
            </a:xfrm>
            <a:prstGeom prst="line">
              <a:avLst/>
            </a:prstGeom>
            <a:noFill/>
            <a:ln w="20638">
              <a:solidFill>
                <a:srgbClr val="00FFFF"/>
              </a:solidFill>
              <a:round/>
              <a:headEnd/>
              <a:tailEnd/>
            </a:ln>
          </p:spPr>
          <p:txBody>
            <a:bodyPr/>
            <a:lstStyle/>
            <a:p>
              <a:endParaRPr lang="en-IN"/>
            </a:p>
          </p:txBody>
        </p:sp>
        <p:sp>
          <p:nvSpPr>
            <p:cNvPr id="61457" name="Rectangle 16"/>
            <p:cNvSpPr>
              <a:spLocks noChangeArrowheads="1"/>
            </p:cNvSpPr>
            <p:nvPr/>
          </p:nvSpPr>
          <p:spPr bwMode="auto">
            <a:xfrm>
              <a:off x="3048" y="1090"/>
              <a:ext cx="487" cy="166"/>
            </a:xfrm>
            <a:prstGeom prst="rect">
              <a:avLst/>
            </a:prstGeom>
            <a:noFill/>
            <a:ln w="9525">
              <a:noFill/>
              <a:miter lim="800000"/>
              <a:headEnd/>
              <a:tailEnd/>
            </a:ln>
          </p:spPr>
          <p:txBody>
            <a:bodyPr wrap="none" lIns="0" tIns="0" rIns="0" bIns="0">
              <a:spAutoFit/>
            </a:bodyPr>
            <a:lstStyle/>
            <a:p>
              <a:r>
                <a:rPr lang="en-CA" altLang="zh-CN" sz="1500">
                  <a:solidFill>
                    <a:srgbClr val="000000"/>
                  </a:solidFill>
                  <a:latin typeface="Nimbus Roman No9 L" charset="0"/>
                  <a:ea typeface="SimSun" pitchFamily="2" charset="-122"/>
                </a:rPr>
                <a:t>first word</a:t>
              </a:r>
              <a:endParaRPr lang="en-CA" altLang="zh-CN" sz="2400">
                <a:latin typeface="Times New Roman" pitchFamily="18" charset="0"/>
                <a:ea typeface="SimSun" pitchFamily="2" charset="-122"/>
              </a:endParaRPr>
            </a:p>
          </p:txBody>
        </p:sp>
        <p:sp>
          <p:nvSpPr>
            <p:cNvPr id="61458" name="Line 17"/>
            <p:cNvSpPr>
              <a:spLocks noChangeShapeType="1"/>
            </p:cNvSpPr>
            <p:nvPr/>
          </p:nvSpPr>
          <p:spPr bwMode="auto">
            <a:xfrm flipH="1">
              <a:off x="697" y="2710"/>
              <a:ext cx="1881" cy="1"/>
            </a:xfrm>
            <a:prstGeom prst="line">
              <a:avLst/>
            </a:prstGeom>
            <a:noFill/>
            <a:ln w="20638">
              <a:solidFill>
                <a:srgbClr val="00FFFF"/>
              </a:solidFill>
              <a:round/>
              <a:headEnd/>
              <a:tailEnd/>
            </a:ln>
          </p:spPr>
          <p:txBody>
            <a:bodyPr/>
            <a:lstStyle/>
            <a:p>
              <a:endParaRPr lang="en-IN"/>
            </a:p>
          </p:txBody>
        </p:sp>
        <p:sp>
          <p:nvSpPr>
            <p:cNvPr id="61459" name="Line 18"/>
            <p:cNvSpPr>
              <a:spLocks noChangeShapeType="1"/>
            </p:cNvSpPr>
            <p:nvPr/>
          </p:nvSpPr>
          <p:spPr bwMode="auto">
            <a:xfrm flipH="1">
              <a:off x="697" y="4147"/>
              <a:ext cx="1881" cy="1"/>
            </a:xfrm>
            <a:prstGeom prst="line">
              <a:avLst/>
            </a:prstGeom>
            <a:noFill/>
            <a:ln w="20638">
              <a:solidFill>
                <a:srgbClr val="00FFFF"/>
              </a:solidFill>
              <a:round/>
              <a:headEnd/>
              <a:tailEnd/>
            </a:ln>
          </p:spPr>
          <p:txBody>
            <a:bodyPr/>
            <a:lstStyle/>
            <a:p>
              <a:endParaRPr lang="en-IN"/>
            </a:p>
          </p:txBody>
        </p:sp>
        <p:sp>
          <p:nvSpPr>
            <p:cNvPr id="61460" name="Rectangle 19"/>
            <p:cNvSpPr>
              <a:spLocks noChangeArrowheads="1"/>
            </p:cNvSpPr>
            <p:nvPr/>
          </p:nvSpPr>
          <p:spPr bwMode="auto">
            <a:xfrm>
              <a:off x="697" y="1038"/>
              <a:ext cx="1881" cy="3383"/>
            </a:xfrm>
            <a:prstGeom prst="rect">
              <a:avLst/>
            </a:prstGeom>
            <a:noFill/>
            <a:ln w="20638">
              <a:solidFill>
                <a:srgbClr val="00FFFF"/>
              </a:solidFill>
              <a:miter lim="800000"/>
              <a:headEnd/>
              <a:tailEnd/>
            </a:ln>
          </p:spPr>
          <p:txBody>
            <a:bodyPr/>
            <a:lstStyle/>
            <a:p>
              <a:endParaRPr lang="en-US"/>
            </a:p>
          </p:txBody>
        </p:sp>
        <p:sp>
          <p:nvSpPr>
            <p:cNvPr id="61461" name="Rectangle 20"/>
            <p:cNvSpPr>
              <a:spLocks noChangeArrowheads="1"/>
            </p:cNvSpPr>
            <p:nvPr/>
          </p:nvSpPr>
          <p:spPr bwMode="auto">
            <a:xfrm>
              <a:off x="1429" y="4656"/>
              <a:ext cx="1596" cy="178"/>
            </a:xfrm>
            <a:prstGeom prst="rect">
              <a:avLst/>
            </a:prstGeom>
            <a:noFill/>
            <a:ln w="9525">
              <a:noFill/>
              <a:miter lim="800000"/>
              <a:headEnd/>
              <a:tailEnd/>
            </a:ln>
          </p:spPr>
          <p:txBody>
            <a:bodyPr wrap="none" lIns="0" tIns="0" rIns="0" bIns="0">
              <a:spAutoFit/>
            </a:bodyPr>
            <a:lstStyle/>
            <a:p>
              <a:r>
                <a:rPr lang="en-CA" altLang="zh-CN" sz="1600">
                  <a:solidFill>
                    <a:srgbClr val="000000"/>
                  </a:solidFill>
                  <a:latin typeface="Nimbus Roman No9 L" charset="0"/>
                  <a:ea typeface="SimSun" pitchFamily="2" charset="-122"/>
                </a:rPr>
                <a:t>Figure 2.5.   Memory words.</a:t>
              </a:r>
              <a:endParaRPr lang="en-CA" altLang="zh-CN" sz="2400">
                <a:latin typeface="Times New Roman" pitchFamily="18" charset="0"/>
                <a:ea typeface="SimSun" pitchFamily="2" charset="-122"/>
              </a:endParaRPr>
            </a:p>
          </p:txBody>
        </p:sp>
        <p:sp>
          <p:nvSpPr>
            <p:cNvPr id="61462" name="Rectangle 21"/>
            <p:cNvSpPr>
              <a:spLocks noChangeArrowheads="1"/>
            </p:cNvSpPr>
            <p:nvPr/>
          </p:nvSpPr>
          <p:spPr bwMode="auto">
            <a:xfrm>
              <a:off x="1494" y="816"/>
              <a:ext cx="67" cy="166"/>
            </a:xfrm>
            <a:prstGeom prst="rect">
              <a:avLst/>
            </a:prstGeom>
            <a:noFill/>
            <a:ln w="9525">
              <a:noFill/>
              <a:miter lim="800000"/>
              <a:headEnd/>
              <a:tailEnd/>
            </a:ln>
          </p:spPr>
          <p:txBody>
            <a:bodyPr wrap="none" lIns="0" tIns="0" rIns="0" bIns="0">
              <a:spAutoFit/>
            </a:bodyPr>
            <a:lstStyle/>
            <a:p>
              <a:r>
                <a:rPr lang="en-CA" altLang="zh-CN" sz="1500" i="1">
                  <a:solidFill>
                    <a:srgbClr val="000000"/>
                  </a:solidFill>
                  <a:latin typeface="Nimbus Roman No9 L" charset="0"/>
                  <a:ea typeface="SimSun" pitchFamily="2" charset="-122"/>
                </a:rPr>
                <a:t>n</a:t>
              </a:r>
              <a:endParaRPr lang="en-CA" altLang="zh-CN" sz="2400">
                <a:latin typeface="Times New Roman" pitchFamily="18" charset="0"/>
                <a:ea typeface="SimSun" pitchFamily="2" charset="-122"/>
              </a:endParaRPr>
            </a:p>
          </p:txBody>
        </p:sp>
        <p:sp>
          <p:nvSpPr>
            <p:cNvPr id="61463" name="Rectangle 22"/>
            <p:cNvSpPr>
              <a:spLocks noChangeArrowheads="1"/>
            </p:cNvSpPr>
            <p:nvPr/>
          </p:nvSpPr>
          <p:spPr bwMode="auto">
            <a:xfrm>
              <a:off x="1546" y="816"/>
              <a:ext cx="220" cy="166"/>
            </a:xfrm>
            <a:prstGeom prst="rect">
              <a:avLst/>
            </a:prstGeom>
            <a:noFill/>
            <a:ln w="9525">
              <a:noFill/>
              <a:miter lim="800000"/>
              <a:headEnd/>
              <a:tailEnd/>
            </a:ln>
          </p:spPr>
          <p:txBody>
            <a:bodyPr wrap="none" lIns="0" tIns="0" rIns="0" bIns="0">
              <a:spAutoFit/>
            </a:bodyPr>
            <a:lstStyle/>
            <a:p>
              <a:r>
                <a:rPr lang="zh-CN" altLang="en-CA" sz="1500">
                  <a:solidFill>
                    <a:srgbClr val="000000"/>
                  </a:solidFill>
                  <a:latin typeface="Nimbus Roman No9 L" charset="0"/>
                  <a:ea typeface="SimSun" pitchFamily="2" charset="-122"/>
                </a:rPr>
                <a:t> </a:t>
              </a:r>
              <a:r>
                <a:rPr lang="en-CA" altLang="zh-CN" sz="1500">
                  <a:solidFill>
                    <a:srgbClr val="000000"/>
                  </a:solidFill>
                  <a:latin typeface="Nimbus Roman No9 L" charset="0"/>
                  <a:ea typeface="SimSun" pitchFamily="2" charset="-122"/>
                </a:rPr>
                <a:t>bits</a:t>
              </a:r>
              <a:endParaRPr lang="en-CA" altLang="zh-CN" sz="2400">
                <a:latin typeface="Times New Roman" pitchFamily="18" charset="0"/>
                <a:ea typeface="SimSun" pitchFamily="2" charset="-122"/>
              </a:endParaRPr>
            </a:p>
          </p:txBody>
        </p:sp>
        <p:sp>
          <p:nvSpPr>
            <p:cNvPr id="61464" name="Rectangle 23"/>
            <p:cNvSpPr>
              <a:spLocks noChangeArrowheads="1"/>
            </p:cNvSpPr>
            <p:nvPr/>
          </p:nvSpPr>
          <p:spPr bwMode="auto">
            <a:xfrm>
              <a:off x="3035" y="4186"/>
              <a:ext cx="481" cy="166"/>
            </a:xfrm>
            <a:prstGeom prst="rect">
              <a:avLst/>
            </a:prstGeom>
            <a:noFill/>
            <a:ln w="9525">
              <a:noFill/>
              <a:miter lim="800000"/>
              <a:headEnd/>
              <a:tailEnd/>
            </a:ln>
          </p:spPr>
          <p:txBody>
            <a:bodyPr wrap="none" lIns="0" tIns="0" rIns="0" bIns="0">
              <a:spAutoFit/>
            </a:bodyPr>
            <a:lstStyle/>
            <a:p>
              <a:r>
                <a:rPr lang="en-CA" altLang="zh-CN" sz="1500">
                  <a:solidFill>
                    <a:srgbClr val="000000"/>
                  </a:solidFill>
                  <a:latin typeface="Nimbus Roman No9 L" charset="0"/>
                  <a:ea typeface="SimSun" pitchFamily="2" charset="-122"/>
                </a:rPr>
                <a:t>last word</a:t>
              </a:r>
              <a:endParaRPr lang="en-CA" altLang="zh-CN" sz="2400">
                <a:latin typeface="Times New Roman" pitchFamily="18" charset="0"/>
                <a:ea typeface="SimSun" pitchFamily="2" charset="-122"/>
              </a:endParaRPr>
            </a:p>
          </p:txBody>
        </p:sp>
        <p:sp>
          <p:nvSpPr>
            <p:cNvPr id="61465" name="Rectangle 24"/>
            <p:cNvSpPr>
              <a:spLocks noChangeArrowheads="1"/>
            </p:cNvSpPr>
            <p:nvPr/>
          </p:nvSpPr>
          <p:spPr bwMode="auto">
            <a:xfrm>
              <a:off x="3035" y="2788"/>
              <a:ext cx="27" cy="167"/>
            </a:xfrm>
            <a:prstGeom prst="rect">
              <a:avLst/>
            </a:prstGeom>
            <a:noFill/>
            <a:ln w="9525">
              <a:noFill/>
              <a:miter lim="800000"/>
              <a:headEnd/>
              <a:tailEnd/>
            </a:ln>
          </p:spPr>
          <p:txBody>
            <a:bodyPr wrap="none" lIns="0" tIns="0" rIns="0" bIns="0">
              <a:spAutoFit/>
            </a:bodyPr>
            <a:lstStyle/>
            <a:p>
              <a:r>
                <a:rPr lang="en-CA" altLang="zh-CN" sz="1500" i="1">
                  <a:solidFill>
                    <a:srgbClr val="000000"/>
                  </a:solidFill>
                  <a:latin typeface="Nimbus Roman No9 L" charset="0"/>
                  <a:ea typeface="SimSun" pitchFamily="2" charset="-122"/>
                </a:rPr>
                <a:t>i</a:t>
              </a:r>
              <a:endParaRPr lang="en-CA" altLang="zh-CN" sz="2400">
                <a:latin typeface="Times New Roman" pitchFamily="18" charset="0"/>
                <a:ea typeface="SimSun" pitchFamily="2" charset="-122"/>
              </a:endParaRPr>
            </a:p>
          </p:txBody>
        </p:sp>
        <p:sp>
          <p:nvSpPr>
            <p:cNvPr id="61466" name="Rectangle 25"/>
            <p:cNvSpPr>
              <a:spLocks noChangeArrowheads="1"/>
            </p:cNvSpPr>
            <p:nvPr/>
          </p:nvSpPr>
          <p:spPr bwMode="auto">
            <a:xfrm>
              <a:off x="3061" y="2788"/>
              <a:ext cx="427" cy="167"/>
            </a:xfrm>
            <a:prstGeom prst="rect">
              <a:avLst/>
            </a:prstGeom>
            <a:noFill/>
            <a:ln w="9525">
              <a:noFill/>
              <a:miter lim="800000"/>
              <a:headEnd/>
              <a:tailEnd/>
            </a:ln>
          </p:spPr>
          <p:txBody>
            <a:bodyPr wrap="none" lIns="0" tIns="0" rIns="0" bIns="0">
              <a:spAutoFit/>
            </a:bodyPr>
            <a:lstStyle/>
            <a:p>
              <a:r>
                <a:rPr lang="zh-CN" altLang="en-CA" sz="1500">
                  <a:solidFill>
                    <a:srgbClr val="000000"/>
                  </a:solidFill>
                  <a:latin typeface="Nimbus Roman No9 L" charset="0"/>
                  <a:ea typeface="SimSun" pitchFamily="2" charset="-122"/>
                </a:rPr>
                <a:t> </a:t>
              </a:r>
              <a:r>
                <a:rPr lang="en-CA" altLang="zh-CN" sz="1500">
                  <a:solidFill>
                    <a:srgbClr val="000000"/>
                  </a:solidFill>
                  <a:latin typeface="Nimbus Roman No9 L" charset="0"/>
                  <a:ea typeface="SimSun" pitchFamily="2" charset="-122"/>
                </a:rPr>
                <a:t>th word</a:t>
              </a:r>
              <a:endParaRPr lang="en-CA" altLang="zh-CN" sz="2400">
                <a:latin typeface="Times New Roman" pitchFamily="18" charset="0"/>
                <a:ea typeface="SimSun" pitchFamily="2" charset="-122"/>
              </a:endParaRPr>
            </a:p>
          </p:txBody>
        </p:sp>
        <p:sp>
          <p:nvSpPr>
            <p:cNvPr id="61467" name="Freeform 26"/>
            <p:cNvSpPr>
              <a:spLocks/>
            </p:cNvSpPr>
            <p:nvPr/>
          </p:nvSpPr>
          <p:spPr bwMode="auto">
            <a:xfrm>
              <a:off x="2852" y="2854"/>
              <a:ext cx="79" cy="26"/>
            </a:xfrm>
            <a:custGeom>
              <a:avLst/>
              <a:gdLst>
                <a:gd name="T0" fmla="*/ 0 w 6"/>
                <a:gd name="T1" fmla="*/ 2147483647 h 2"/>
                <a:gd name="T2" fmla="*/ 2147483647 w 6"/>
                <a:gd name="T3" fmla="*/ 2147483647 h 2"/>
                <a:gd name="T4" fmla="*/ 0 w 6"/>
                <a:gd name="T5" fmla="*/ 0 h 2"/>
                <a:gd name="T6" fmla="*/ 0 w 6"/>
                <a:gd name="T7" fmla="*/ 2147483647 h 2"/>
                <a:gd name="T8" fmla="*/ 0 w 6"/>
                <a:gd name="T9" fmla="*/ 2147483647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0638">
              <a:solidFill>
                <a:srgbClr val="000000"/>
              </a:solidFill>
              <a:round/>
              <a:headEnd/>
              <a:tailEnd/>
            </a:ln>
          </p:spPr>
          <p:txBody>
            <a:bodyPr/>
            <a:lstStyle/>
            <a:p>
              <a:endParaRPr lang="en-IN"/>
            </a:p>
          </p:txBody>
        </p:sp>
        <p:sp>
          <p:nvSpPr>
            <p:cNvPr id="61468" name="Freeform 27"/>
            <p:cNvSpPr>
              <a:spLocks/>
            </p:cNvSpPr>
            <p:nvPr/>
          </p:nvSpPr>
          <p:spPr bwMode="auto">
            <a:xfrm>
              <a:off x="2852" y="2854"/>
              <a:ext cx="79" cy="26"/>
            </a:xfrm>
            <a:custGeom>
              <a:avLst/>
              <a:gdLst>
                <a:gd name="T0" fmla="*/ 0 w 79"/>
                <a:gd name="T1" fmla="*/ 26 h 26"/>
                <a:gd name="T2" fmla="*/ 79 w 79"/>
                <a:gd name="T3" fmla="*/ 13 h 26"/>
                <a:gd name="T4" fmla="*/ 0 w 79"/>
                <a:gd name="T5" fmla="*/ 0 h 26"/>
                <a:gd name="T6" fmla="*/ 0 w 79"/>
                <a:gd name="T7" fmla="*/ 13 h 26"/>
                <a:gd name="T8" fmla="*/ 0 w 79"/>
                <a:gd name="T9" fmla="*/ 26 h 26"/>
                <a:gd name="T10" fmla="*/ 0 60000 65536"/>
                <a:gd name="T11" fmla="*/ 0 60000 65536"/>
                <a:gd name="T12" fmla="*/ 0 60000 65536"/>
                <a:gd name="T13" fmla="*/ 0 60000 65536"/>
                <a:gd name="T14" fmla="*/ 0 60000 65536"/>
                <a:gd name="T15" fmla="*/ 0 w 79"/>
                <a:gd name="T16" fmla="*/ 0 h 26"/>
                <a:gd name="T17" fmla="*/ 79 w 79"/>
                <a:gd name="T18" fmla="*/ 26 h 26"/>
              </a:gdLst>
              <a:ahLst/>
              <a:cxnLst>
                <a:cxn ang="T10">
                  <a:pos x="T0" y="T1"/>
                </a:cxn>
                <a:cxn ang="T11">
                  <a:pos x="T2" y="T3"/>
                </a:cxn>
                <a:cxn ang="T12">
                  <a:pos x="T4" y="T5"/>
                </a:cxn>
                <a:cxn ang="T13">
                  <a:pos x="T6" y="T7"/>
                </a:cxn>
                <a:cxn ang="T14">
                  <a:pos x="T8" y="T9"/>
                </a:cxn>
              </a:cxnLst>
              <a:rect l="T15" t="T16" r="T17" b="T18"/>
              <a:pathLst>
                <a:path w="79" h="26">
                  <a:moveTo>
                    <a:pt x="0" y="26"/>
                  </a:moveTo>
                  <a:lnTo>
                    <a:pt x="79" y="13"/>
                  </a:lnTo>
                  <a:lnTo>
                    <a:pt x="0" y="0"/>
                  </a:lnTo>
                  <a:lnTo>
                    <a:pt x="0" y="13"/>
                  </a:lnTo>
                  <a:lnTo>
                    <a:pt x="0" y="26"/>
                  </a:lnTo>
                  <a:close/>
                </a:path>
              </a:pathLst>
            </a:custGeom>
            <a:solidFill>
              <a:srgbClr val="000000"/>
            </a:solidFill>
            <a:ln w="0">
              <a:solidFill>
                <a:srgbClr val="000000"/>
              </a:solidFill>
              <a:round/>
              <a:headEnd/>
              <a:tailEnd/>
            </a:ln>
          </p:spPr>
          <p:txBody>
            <a:bodyPr/>
            <a:lstStyle/>
            <a:p>
              <a:endParaRPr lang="en-IN"/>
            </a:p>
          </p:txBody>
        </p:sp>
        <p:sp>
          <p:nvSpPr>
            <p:cNvPr id="61469" name="Line 28"/>
            <p:cNvSpPr>
              <a:spLocks noChangeShapeType="1"/>
            </p:cNvSpPr>
            <p:nvPr/>
          </p:nvSpPr>
          <p:spPr bwMode="auto">
            <a:xfrm flipH="1">
              <a:off x="2473" y="2867"/>
              <a:ext cx="379" cy="1"/>
            </a:xfrm>
            <a:prstGeom prst="line">
              <a:avLst/>
            </a:prstGeom>
            <a:noFill/>
            <a:ln w="20638">
              <a:solidFill>
                <a:srgbClr val="000000"/>
              </a:solidFill>
              <a:round/>
              <a:headEnd/>
              <a:tailEnd/>
            </a:ln>
          </p:spPr>
          <p:txBody>
            <a:bodyPr/>
            <a:lstStyle/>
            <a:p>
              <a:endParaRPr lang="en-IN"/>
            </a:p>
          </p:txBody>
        </p:sp>
        <p:sp>
          <p:nvSpPr>
            <p:cNvPr id="61470" name="Freeform 29"/>
            <p:cNvSpPr>
              <a:spLocks/>
            </p:cNvSpPr>
            <p:nvPr/>
          </p:nvSpPr>
          <p:spPr bwMode="auto">
            <a:xfrm>
              <a:off x="2852" y="1443"/>
              <a:ext cx="79" cy="39"/>
            </a:xfrm>
            <a:custGeom>
              <a:avLst/>
              <a:gdLst>
                <a:gd name="T0" fmla="*/ 0 w 6"/>
                <a:gd name="T1" fmla="*/ 2147483647 h 3"/>
                <a:gd name="T2" fmla="*/ 2147483647 w 6"/>
                <a:gd name="T3" fmla="*/ 2147483647 h 3"/>
                <a:gd name="T4" fmla="*/ 0 w 6"/>
                <a:gd name="T5" fmla="*/ 0 h 3"/>
                <a:gd name="T6" fmla="*/ 0 w 6"/>
                <a:gd name="T7" fmla="*/ 2147483647 h 3"/>
                <a:gd name="T8" fmla="*/ 0 w 6"/>
                <a:gd name="T9" fmla="*/ 2147483647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20638">
              <a:solidFill>
                <a:srgbClr val="000000"/>
              </a:solidFill>
              <a:round/>
              <a:headEnd/>
              <a:tailEnd/>
            </a:ln>
          </p:spPr>
          <p:txBody>
            <a:bodyPr/>
            <a:lstStyle/>
            <a:p>
              <a:endParaRPr lang="en-IN"/>
            </a:p>
          </p:txBody>
        </p:sp>
        <p:sp>
          <p:nvSpPr>
            <p:cNvPr id="61471" name="Freeform 30"/>
            <p:cNvSpPr>
              <a:spLocks/>
            </p:cNvSpPr>
            <p:nvPr/>
          </p:nvSpPr>
          <p:spPr bwMode="auto">
            <a:xfrm>
              <a:off x="2852" y="1443"/>
              <a:ext cx="79" cy="39"/>
            </a:xfrm>
            <a:custGeom>
              <a:avLst/>
              <a:gdLst>
                <a:gd name="T0" fmla="*/ 0 w 79"/>
                <a:gd name="T1" fmla="*/ 39 h 39"/>
                <a:gd name="T2" fmla="*/ 79 w 79"/>
                <a:gd name="T3" fmla="*/ 13 h 39"/>
                <a:gd name="T4" fmla="*/ 0 w 79"/>
                <a:gd name="T5" fmla="*/ 0 h 39"/>
                <a:gd name="T6" fmla="*/ 0 w 79"/>
                <a:gd name="T7" fmla="*/ 13 h 39"/>
                <a:gd name="T8" fmla="*/ 0 w 79"/>
                <a:gd name="T9" fmla="*/ 39 h 39"/>
                <a:gd name="T10" fmla="*/ 0 60000 65536"/>
                <a:gd name="T11" fmla="*/ 0 60000 65536"/>
                <a:gd name="T12" fmla="*/ 0 60000 65536"/>
                <a:gd name="T13" fmla="*/ 0 60000 65536"/>
                <a:gd name="T14" fmla="*/ 0 60000 65536"/>
                <a:gd name="T15" fmla="*/ 0 w 79"/>
                <a:gd name="T16" fmla="*/ 0 h 39"/>
                <a:gd name="T17" fmla="*/ 79 w 79"/>
                <a:gd name="T18" fmla="*/ 39 h 39"/>
              </a:gdLst>
              <a:ahLst/>
              <a:cxnLst>
                <a:cxn ang="T10">
                  <a:pos x="T0" y="T1"/>
                </a:cxn>
                <a:cxn ang="T11">
                  <a:pos x="T2" y="T3"/>
                </a:cxn>
                <a:cxn ang="T12">
                  <a:pos x="T4" y="T5"/>
                </a:cxn>
                <a:cxn ang="T13">
                  <a:pos x="T6" y="T7"/>
                </a:cxn>
                <a:cxn ang="T14">
                  <a:pos x="T8" y="T9"/>
                </a:cxn>
              </a:cxnLst>
              <a:rect l="T15" t="T16" r="T17" b="T18"/>
              <a:pathLst>
                <a:path w="79" h="39">
                  <a:moveTo>
                    <a:pt x="0" y="39"/>
                  </a:moveTo>
                  <a:lnTo>
                    <a:pt x="79" y="13"/>
                  </a:lnTo>
                  <a:lnTo>
                    <a:pt x="0" y="0"/>
                  </a:lnTo>
                  <a:lnTo>
                    <a:pt x="0" y="13"/>
                  </a:lnTo>
                  <a:lnTo>
                    <a:pt x="0" y="39"/>
                  </a:lnTo>
                  <a:close/>
                </a:path>
              </a:pathLst>
            </a:custGeom>
            <a:solidFill>
              <a:srgbClr val="000000"/>
            </a:solidFill>
            <a:ln w="0">
              <a:solidFill>
                <a:srgbClr val="000000"/>
              </a:solidFill>
              <a:round/>
              <a:headEnd/>
              <a:tailEnd/>
            </a:ln>
          </p:spPr>
          <p:txBody>
            <a:bodyPr/>
            <a:lstStyle/>
            <a:p>
              <a:endParaRPr lang="en-IN"/>
            </a:p>
          </p:txBody>
        </p:sp>
        <p:sp>
          <p:nvSpPr>
            <p:cNvPr id="61472" name="Line 31"/>
            <p:cNvSpPr>
              <a:spLocks noChangeShapeType="1"/>
            </p:cNvSpPr>
            <p:nvPr/>
          </p:nvSpPr>
          <p:spPr bwMode="auto">
            <a:xfrm flipH="1">
              <a:off x="2473" y="1456"/>
              <a:ext cx="379" cy="1"/>
            </a:xfrm>
            <a:prstGeom prst="line">
              <a:avLst/>
            </a:prstGeom>
            <a:noFill/>
            <a:ln w="20638">
              <a:solidFill>
                <a:srgbClr val="000000"/>
              </a:solidFill>
              <a:round/>
              <a:headEnd/>
              <a:tailEnd/>
            </a:ln>
          </p:spPr>
          <p:txBody>
            <a:bodyPr/>
            <a:lstStyle/>
            <a:p>
              <a:endParaRPr lang="en-IN"/>
            </a:p>
          </p:txBody>
        </p:sp>
        <p:sp>
          <p:nvSpPr>
            <p:cNvPr id="61473" name="Freeform 32"/>
            <p:cNvSpPr>
              <a:spLocks/>
            </p:cNvSpPr>
            <p:nvPr/>
          </p:nvSpPr>
          <p:spPr bwMode="auto">
            <a:xfrm>
              <a:off x="2852" y="1169"/>
              <a:ext cx="79" cy="26"/>
            </a:xfrm>
            <a:custGeom>
              <a:avLst/>
              <a:gdLst>
                <a:gd name="T0" fmla="*/ 0 w 6"/>
                <a:gd name="T1" fmla="*/ 2147483647 h 2"/>
                <a:gd name="T2" fmla="*/ 2147483647 w 6"/>
                <a:gd name="T3" fmla="*/ 2147483647 h 2"/>
                <a:gd name="T4" fmla="*/ 0 w 6"/>
                <a:gd name="T5" fmla="*/ 0 h 2"/>
                <a:gd name="T6" fmla="*/ 0 w 6"/>
                <a:gd name="T7" fmla="*/ 2147483647 h 2"/>
                <a:gd name="T8" fmla="*/ 0 w 6"/>
                <a:gd name="T9" fmla="*/ 2147483647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0638">
              <a:solidFill>
                <a:srgbClr val="000000"/>
              </a:solidFill>
              <a:round/>
              <a:headEnd/>
              <a:tailEnd/>
            </a:ln>
          </p:spPr>
          <p:txBody>
            <a:bodyPr/>
            <a:lstStyle/>
            <a:p>
              <a:endParaRPr lang="en-IN"/>
            </a:p>
          </p:txBody>
        </p:sp>
        <p:sp>
          <p:nvSpPr>
            <p:cNvPr id="61474" name="Freeform 33"/>
            <p:cNvSpPr>
              <a:spLocks/>
            </p:cNvSpPr>
            <p:nvPr/>
          </p:nvSpPr>
          <p:spPr bwMode="auto">
            <a:xfrm>
              <a:off x="2852" y="1169"/>
              <a:ext cx="79" cy="26"/>
            </a:xfrm>
            <a:custGeom>
              <a:avLst/>
              <a:gdLst>
                <a:gd name="T0" fmla="*/ 0 w 79"/>
                <a:gd name="T1" fmla="*/ 26 h 26"/>
                <a:gd name="T2" fmla="*/ 79 w 79"/>
                <a:gd name="T3" fmla="*/ 13 h 26"/>
                <a:gd name="T4" fmla="*/ 0 w 79"/>
                <a:gd name="T5" fmla="*/ 0 h 26"/>
                <a:gd name="T6" fmla="*/ 0 w 79"/>
                <a:gd name="T7" fmla="*/ 13 h 26"/>
                <a:gd name="T8" fmla="*/ 0 w 79"/>
                <a:gd name="T9" fmla="*/ 26 h 26"/>
                <a:gd name="T10" fmla="*/ 0 60000 65536"/>
                <a:gd name="T11" fmla="*/ 0 60000 65536"/>
                <a:gd name="T12" fmla="*/ 0 60000 65536"/>
                <a:gd name="T13" fmla="*/ 0 60000 65536"/>
                <a:gd name="T14" fmla="*/ 0 60000 65536"/>
                <a:gd name="T15" fmla="*/ 0 w 79"/>
                <a:gd name="T16" fmla="*/ 0 h 26"/>
                <a:gd name="T17" fmla="*/ 79 w 79"/>
                <a:gd name="T18" fmla="*/ 26 h 26"/>
              </a:gdLst>
              <a:ahLst/>
              <a:cxnLst>
                <a:cxn ang="T10">
                  <a:pos x="T0" y="T1"/>
                </a:cxn>
                <a:cxn ang="T11">
                  <a:pos x="T2" y="T3"/>
                </a:cxn>
                <a:cxn ang="T12">
                  <a:pos x="T4" y="T5"/>
                </a:cxn>
                <a:cxn ang="T13">
                  <a:pos x="T6" y="T7"/>
                </a:cxn>
                <a:cxn ang="T14">
                  <a:pos x="T8" y="T9"/>
                </a:cxn>
              </a:cxnLst>
              <a:rect l="T15" t="T16" r="T17" b="T18"/>
              <a:pathLst>
                <a:path w="79" h="26">
                  <a:moveTo>
                    <a:pt x="0" y="26"/>
                  </a:moveTo>
                  <a:lnTo>
                    <a:pt x="79" y="13"/>
                  </a:lnTo>
                  <a:lnTo>
                    <a:pt x="0" y="0"/>
                  </a:lnTo>
                  <a:lnTo>
                    <a:pt x="0" y="13"/>
                  </a:lnTo>
                  <a:lnTo>
                    <a:pt x="0" y="26"/>
                  </a:lnTo>
                  <a:close/>
                </a:path>
              </a:pathLst>
            </a:custGeom>
            <a:solidFill>
              <a:srgbClr val="000000"/>
            </a:solidFill>
            <a:ln w="0">
              <a:solidFill>
                <a:srgbClr val="000000"/>
              </a:solidFill>
              <a:round/>
              <a:headEnd/>
              <a:tailEnd/>
            </a:ln>
          </p:spPr>
          <p:txBody>
            <a:bodyPr/>
            <a:lstStyle/>
            <a:p>
              <a:endParaRPr lang="en-IN"/>
            </a:p>
          </p:txBody>
        </p:sp>
        <p:sp>
          <p:nvSpPr>
            <p:cNvPr id="61475" name="Line 34"/>
            <p:cNvSpPr>
              <a:spLocks noChangeShapeType="1"/>
            </p:cNvSpPr>
            <p:nvPr/>
          </p:nvSpPr>
          <p:spPr bwMode="auto">
            <a:xfrm flipH="1">
              <a:off x="2473" y="1182"/>
              <a:ext cx="379" cy="1"/>
            </a:xfrm>
            <a:prstGeom prst="line">
              <a:avLst/>
            </a:prstGeom>
            <a:noFill/>
            <a:ln w="20638">
              <a:solidFill>
                <a:srgbClr val="000000"/>
              </a:solidFill>
              <a:round/>
              <a:headEnd/>
              <a:tailEnd/>
            </a:ln>
          </p:spPr>
          <p:txBody>
            <a:bodyPr/>
            <a:lstStyle/>
            <a:p>
              <a:endParaRPr lang="en-IN"/>
            </a:p>
          </p:txBody>
        </p:sp>
        <p:sp>
          <p:nvSpPr>
            <p:cNvPr id="61476" name="Freeform 35"/>
            <p:cNvSpPr>
              <a:spLocks/>
            </p:cNvSpPr>
            <p:nvPr/>
          </p:nvSpPr>
          <p:spPr bwMode="auto">
            <a:xfrm>
              <a:off x="2852" y="4265"/>
              <a:ext cx="79" cy="39"/>
            </a:xfrm>
            <a:custGeom>
              <a:avLst/>
              <a:gdLst>
                <a:gd name="T0" fmla="*/ 0 w 6"/>
                <a:gd name="T1" fmla="*/ 2147483647 h 3"/>
                <a:gd name="T2" fmla="*/ 2147483647 w 6"/>
                <a:gd name="T3" fmla="*/ 2147483647 h 3"/>
                <a:gd name="T4" fmla="*/ 0 w 6"/>
                <a:gd name="T5" fmla="*/ 0 h 3"/>
                <a:gd name="T6" fmla="*/ 0 w 6"/>
                <a:gd name="T7" fmla="*/ 2147483647 h 3"/>
                <a:gd name="T8" fmla="*/ 0 w 6"/>
                <a:gd name="T9" fmla="*/ 2147483647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20638">
              <a:solidFill>
                <a:srgbClr val="000000"/>
              </a:solidFill>
              <a:round/>
              <a:headEnd/>
              <a:tailEnd/>
            </a:ln>
          </p:spPr>
          <p:txBody>
            <a:bodyPr/>
            <a:lstStyle/>
            <a:p>
              <a:endParaRPr lang="en-IN"/>
            </a:p>
          </p:txBody>
        </p:sp>
        <p:sp>
          <p:nvSpPr>
            <p:cNvPr id="61477" name="Freeform 36"/>
            <p:cNvSpPr>
              <a:spLocks/>
            </p:cNvSpPr>
            <p:nvPr/>
          </p:nvSpPr>
          <p:spPr bwMode="auto">
            <a:xfrm>
              <a:off x="2852" y="4265"/>
              <a:ext cx="79" cy="39"/>
            </a:xfrm>
            <a:custGeom>
              <a:avLst/>
              <a:gdLst>
                <a:gd name="T0" fmla="*/ 0 w 79"/>
                <a:gd name="T1" fmla="*/ 39 h 39"/>
                <a:gd name="T2" fmla="*/ 79 w 79"/>
                <a:gd name="T3" fmla="*/ 13 h 39"/>
                <a:gd name="T4" fmla="*/ 0 w 79"/>
                <a:gd name="T5" fmla="*/ 0 h 39"/>
                <a:gd name="T6" fmla="*/ 0 w 79"/>
                <a:gd name="T7" fmla="*/ 13 h 39"/>
                <a:gd name="T8" fmla="*/ 0 w 79"/>
                <a:gd name="T9" fmla="*/ 39 h 39"/>
                <a:gd name="T10" fmla="*/ 0 60000 65536"/>
                <a:gd name="T11" fmla="*/ 0 60000 65536"/>
                <a:gd name="T12" fmla="*/ 0 60000 65536"/>
                <a:gd name="T13" fmla="*/ 0 60000 65536"/>
                <a:gd name="T14" fmla="*/ 0 60000 65536"/>
                <a:gd name="T15" fmla="*/ 0 w 79"/>
                <a:gd name="T16" fmla="*/ 0 h 39"/>
                <a:gd name="T17" fmla="*/ 79 w 79"/>
                <a:gd name="T18" fmla="*/ 39 h 39"/>
              </a:gdLst>
              <a:ahLst/>
              <a:cxnLst>
                <a:cxn ang="T10">
                  <a:pos x="T0" y="T1"/>
                </a:cxn>
                <a:cxn ang="T11">
                  <a:pos x="T2" y="T3"/>
                </a:cxn>
                <a:cxn ang="T12">
                  <a:pos x="T4" y="T5"/>
                </a:cxn>
                <a:cxn ang="T13">
                  <a:pos x="T6" y="T7"/>
                </a:cxn>
                <a:cxn ang="T14">
                  <a:pos x="T8" y="T9"/>
                </a:cxn>
              </a:cxnLst>
              <a:rect l="T15" t="T16" r="T17" b="T18"/>
              <a:pathLst>
                <a:path w="79" h="39">
                  <a:moveTo>
                    <a:pt x="0" y="39"/>
                  </a:moveTo>
                  <a:lnTo>
                    <a:pt x="79" y="13"/>
                  </a:lnTo>
                  <a:lnTo>
                    <a:pt x="0" y="0"/>
                  </a:lnTo>
                  <a:lnTo>
                    <a:pt x="0" y="13"/>
                  </a:lnTo>
                  <a:lnTo>
                    <a:pt x="0" y="39"/>
                  </a:lnTo>
                  <a:close/>
                </a:path>
              </a:pathLst>
            </a:custGeom>
            <a:solidFill>
              <a:srgbClr val="000000"/>
            </a:solidFill>
            <a:ln w="0">
              <a:solidFill>
                <a:srgbClr val="000000"/>
              </a:solidFill>
              <a:round/>
              <a:headEnd/>
              <a:tailEnd/>
            </a:ln>
          </p:spPr>
          <p:txBody>
            <a:bodyPr/>
            <a:lstStyle/>
            <a:p>
              <a:endParaRPr lang="en-IN"/>
            </a:p>
          </p:txBody>
        </p:sp>
        <p:sp>
          <p:nvSpPr>
            <p:cNvPr id="61478" name="Line 37"/>
            <p:cNvSpPr>
              <a:spLocks noChangeShapeType="1"/>
            </p:cNvSpPr>
            <p:nvPr/>
          </p:nvSpPr>
          <p:spPr bwMode="auto">
            <a:xfrm flipH="1">
              <a:off x="2473" y="4278"/>
              <a:ext cx="379" cy="1"/>
            </a:xfrm>
            <a:prstGeom prst="line">
              <a:avLst/>
            </a:prstGeom>
            <a:noFill/>
            <a:ln w="20638">
              <a:solidFill>
                <a:srgbClr val="000000"/>
              </a:solidFill>
              <a:round/>
              <a:headEnd/>
              <a:tailEnd/>
            </a:ln>
          </p:spPr>
          <p:txBody>
            <a:bodyPr/>
            <a:lstStyle/>
            <a:p>
              <a:endParaRPr lang="en-IN"/>
            </a:p>
          </p:txBody>
        </p:sp>
        <p:sp>
          <p:nvSpPr>
            <p:cNvPr id="61479" name="Text Box 38"/>
            <p:cNvSpPr txBox="1">
              <a:spLocks noChangeArrowheads="1"/>
            </p:cNvSpPr>
            <p:nvPr/>
          </p:nvSpPr>
          <p:spPr bwMode="auto">
            <a:xfrm>
              <a:off x="1536" y="1884"/>
              <a:ext cx="168" cy="731"/>
            </a:xfrm>
            <a:prstGeom prst="rect">
              <a:avLst/>
            </a:prstGeom>
            <a:noFill/>
            <a:ln w="9525">
              <a:noFill/>
              <a:miter lim="800000"/>
              <a:headEnd/>
              <a:tailEnd/>
            </a:ln>
          </p:spPr>
          <p:txBody>
            <a:bodyPr>
              <a:spAutoFit/>
            </a:bodyPr>
            <a:lstStyle/>
            <a:p>
              <a:pPr>
                <a:lnSpc>
                  <a:spcPct val="20000"/>
                </a:lnSpc>
                <a:spcBef>
                  <a:spcPct val="50000"/>
                </a:spcBef>
              </a:pPr>
              <a:endParaRPr lang="zh-CN" altLang="en-US"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p>
            <a:p>
              <a:pPr>
                <a:lnSpc>
                  <a:spcPct val="20000"/>
                </a:lnSpc>
                <a:spcBef>
                  <a:spcPct val="50000"/>
                </a:spcBef>
              </a:pPr>
              <a:endParaRPr lang="zh-CN" altLang="en-CA" sz="2000">
                <a:latin typeface="Nimbus Roman No9 L" charset="0"/>
                <a:ea typeface="SimSun" pitchFamily="2" charset="-122"/>
              </a:endParaRPr>
            </a:p>
          </p:txBody>
        </p:sp>
        <p:sp>
          <p:nvSpPr>
            <p:cNvPr id="61480" name="Text Box 39"/>
            <p:cNvSpPr txBox="1">
              <a:spLocks noChangeArrowheads="1"/>
            </p:cNvSpPr>
            <p:nvPr/>
          </p:nvSpPr>
          <p:spPr bwMode="auto">
            <a:xfrm>
              <a:off x="1548" y="3306"/>
              <a:ext cx="168" cy="731"/>
            </a:xfrm>
            <a:prstGeom prst="rect">
              <a:avLst/>
            </a:prstGeom>
            <a:noFill/>
            <a:ln w="9525">
              <a:noFill/>
              <a:miter lim="800000"/>
              <a:headEnd/>
              <a:tailEnd/>
            </a:ln>
          </p:spPr>
          <p:txBody>
            <a:bodyPr>
              <a:spAutoFit/>
            </a:bodyPr>
            <a:lstStyle/>
            <a:p>
              <a:pPr>
                <a:lnSpc>
                  <a:spcPct val="20000"/>
                </a:lnSpc>
                <a:spcBef>
                  <a:spcPct val="50000"/>
                </a:spcBef>
              </a:pPr>
              <a:endParaRPr lang="zh-CN" altLang="en-US"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p>
            <a:p>
              <a:pPr>
                <a:lnSpc>
                  <a:spcPct val="20000"/>
                </a:lnSpc>
                <a:spcBef>
                  <a:spcPct val="50000"/>
                </a:spcBef>
              </a:pPr>
              <a:endParaRPr lang="zh-CN" altLang="en-CA" sz="2000">
                <a:latin typeface="Nimbus Roman No9 L" charset="0"/>
                <a:ea typeface="SimSun" pitchFamily="2" charset="-122"/>
              </a:endParaRPr>
            </a:p>
          </p:txBody>
        </p:sp>
      </p:grpSp>
      <p:sp>
        <p:nvSpPr>
          <p:cNvPr id="41" name="Title 1"/>
          <p:cNvSpPr txBox="1">
            <a:spLocks/>
          </p:cNvSpPr>
          <p:nvPr/>
        </p:nvSpPr>
        <p:spPr>
          <a:xfrm>
            <a:off x="457200" y="304800"/>
            <a:ext cx="8229600" cy="11430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Memory Locations,</a:t>
            </a:r>
            <a:r>
              <a:rPr kumimoji="0" lang="en-US" altLang="zh-CN" sz="3200" b="1" i="0" u="none" strike="noStrike" kern="1200" cap="none" spc="0" normalizeH="0" noProof="0" dirty="0" smtClean="0">
                <a:ln>
                  <a:noFill/>
                </a:ln>
                <a:solidFill>
                  <a:srgbClr val="C00000"/>
                </a:solidFill>
                <a:effectLst/>
                <a:uLnTx/>
                <a:uFillTx/>
                <a:latin typeface="Times New Roman" pitchFamily="18" charset="0"/>
                <a:ea typeface="SimSun" pitchFamily="2" charset="-122"/>
                <a:cs typeface="Times New Roman" pitchFamily="18" charset="0"/>
              </a:rPr>
              <a:t> And </a:t>
            </a: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Addresses</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body" idx="4294967295"/>
          </p:nvPr>
        </p:nvSpPr>
        <p:spPr>
          <a:xfrm>
            <a:off x="38100" y="1281986"/>
            <a:ext cx="8229600" cy="762000"/>
          </a:xfrm>
        </p:spPr>
        <p:txBody>
          <a:bodyPr>
            <a:noAutofit/>
          </a:bodyPr>
          <a:lstStyle/>
          <a:p>
            <a:pPr eaLnBrk="1" hangingPunct="1"/>
            <a:r>
              <a:rPr lang="en-US" altLang="zh-CN" sz="2400" dirty="0" smtClean="0">
                <a:latin typeface="Times New Roman" pitchFamily="18" charset="0"/>
                <a:ea typeface="SimSun" pitchFamily="2" charset="-122"/>
                <a:cs typeface="Times New Roman" pitchFamily="18" charset="0"/>
              </a:rPr>
              <a:t>Modern computers word length 16 to 64 bits</a:t>
            </a:r>
          </a:p>
          <a:p>
            <a:pPr eaLnBrk="1" hangingPunct="1"/>
            <a:r>
              <a:rPr lang="en-US" altLang="zh-CN" sz="2400" dirty="0" smtClean="0">
                <a:latin typeface="Times New Roman" pitchFamily="18" charset="0"/>
                <a:ea typeface="SimSun" pitchFamily="2" charset="-122"/>
                <a:cs typeface="Times New Roman" pitchFamily="18" charset="0"/>
              </a:rPr>
              <a:t>32-bit word length example</a:t>
            </a:r>
          </a:p>
        </p:txBody>
      </p:sp>
      <p:sp>
        <p:nvSpPr>
          <p:cNvPr id="62468" name="Rectangle 5"/>
          <p:cNvSpPr>
            <a:spLocks noChangeArrowheads="1"/>
          </p:cNvSpPr>
          <p:nvPr/>
        </p:nvSpPr>
        <p:spPr bwMode="auto">
          <a:xfrm>
            <a:off x="3575050" y="6577013"/>
            <a:ext cx="1838325" cy="258762"/>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Sans L" charset="0"/>
                <a:ea typeface="SimSun" pitchFamily="2" charset="-122"/>
              </a:rPr>
              <a:t>(b) Four characters</a:t>
            </a:r>
            <a:endParaRPr lang="en-CA" altLang="zh-CN" sz="2400">
              <a:latin typeface="Times New Roman" pitchFamily="18" charset="0"/>
              <a:ea typeface="SimSun" pitchFamily="2" charset="-122"/>
            </a:endParaRPr>
          </a:p>
        </p:txBody>
      </p:sp>
      <p:sp>
        <p:nvSpPr>
          <p:cNvPr id="62469" name="Rectangle 6"/>
          <p:cNvSpPr>
            <a:spLocks noChangeArrowheads="1"/>
          </p:cNvSpPr>
          <p:nvPr/>
        </p:nvSpPr>
        <p:spPr bwMode="auto">
          <a:xfrm>
            <a:off x="6502400" y="6126163"/>
            <a:ext cx="901700" cy="258762"/>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character</a:t>
            </a:r>
            <a:endParaRPr lang="en-CA" altLang="zh-CN" sz="2400">
              <a:latin typeface="Times New Roman" pitchFamily="18" charset="0"/>
              <a:ea typeface="SimSun" pitchFamily="2" charset="-122"/>
            </a:endParaRPr>
          </a:p>
        </p:txBody>
      </p:sp>
      <p:sp>
        <p:nvSpPr>
          <p:cNvPr id="62470" name="Rectangle 7"/>
          <p:cNvSpPr>
            <a:spLocks noChangeArrowheads="1"/>
          </p:cNvSpPr>
          <p:nvPr/>
        </p:nvSpPr>
        <p:spPr bwMode="auto">
          <a:xfrm>
            <a:off x="4954588" y="6126163"/>
            <a:ext cx="901700" cy="258762"/>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character</a:t>
            </a:r>
            <a:endParaRPr lang="en-CA" altLang="zh-CN" sz="2400">
              <a:latin typeface="Times New Roman" pitchFamily="18" charset="0"/>
              <a:ea typeface="SimSun" pitchFamily="2" charset="-122"/>
            </a:endParaRPr>
          </a:p>
        </p:txBody>
      </p:sp>
      <p:sp>
        <p:nvSpPr>
          <p:cNvPr id="62471" name="Rectangle 8"/>
          <p:cNvSpPr>
            <a:spLocks noChangeArrowheads="1"/>
          </p:cNvSpPr>
          <p:nvPr/>
        </p:nvSpPr>
        <p:spPr bwMode="auto">
          <a:xfrm>
            <a:off x="1885950" y="6126163"/>
            <a:ext cx="901700" cy="258762"/>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character</a:t>
            </a:r>
            <a:endParaRPr lang="en-CA" altLang="zh-CN" sz="2400">
              <a:latin typeface="Times New Roman" pitchFamily="18" charset="0"/>
              <a:ea typeface="SimSun" pitchFamily="2" charset="-122"/>
            </a:endParaRPr>
          </a:p>
        </p:txBody>
      </p:sp>
      <p:sp>
        <p:nvSpPr>
          <p:cNvPr id="62472" name="Rectangle 9"/>
          <p:cNvSpPr>
            <a:spLocks noChangeArrowheads="1"/>
          </p:cNvSpPr>
          <p:nvPr/>
        </p:nvSpPr>
        <p:spPr bwMode="auto">
          <a:xfrm>
            <a:off x="3408363" y="6126163"/>
            <a:ext cx="901700" cy="258762"/>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character</a:t>
            </a:r>
            <a:endParaRPr lang="en-CA" altLang="zh-CN" sz="2400">
              <a:latin typeface="Times New Roman" pitchFamily="18" charset="0"/>
              <a:ea typeface="SimSun" pitchFamily="2" charset="-122"/>
            </a:endParaRPr>
          </a:p>
        </p:txBody>
      </p:sp>
      <p:sp>
        <p:nvSpPr>
          <p:cNvPr id="62473" name="Rectangle 10"/>
          <p:cNvSpPr>
            <a:spLocks noChangeArrowheads="1"/>
          </p:cNvSpPr>
          <p:nvPr/>
        </p:nvSpPr>
        <p:spPr bwMode="auto">
          <a:xfrm>
            <a:off x="3551238" y="4173538"/>
            <a:ext cx="1889125" cy="258762"/>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Sans L" charset="0"/>
                <a:ea typeface="SimSun" pitchFamily="2" charset="-122"/>
              </a:rPr>
              <a:t>(a) A signed integer</a:t>
            </a:r>
            <a:endParaRPr lang="en-CA" altLang="zh-CN" sz="2400">
              <a:latin typeface="Times New Roman" pitchFamily="18" charset="0"/>
              <a:ea typeface="SimSun" pitchFamily="2" charset="-122"/>
            </a:endParaRPr>
          </a:p>
        </p:txBody>
      </p:sp>
      <p:sp>
        <p:nvSpPr>
          <p:cNvPr id="62474" name="Rectangle 11"/>
          <p:cNvSpPr>
            <a:spLocks noChangeArrowheads="1"/>
          </p:cNvSpPr>
          <p:nvPr/>
        </p:nvSpPr>
        <p:spPr bwMode="auto">
          <a:xfrm>
            <a:off x="2266950" y="3365500"/>
            <a:ext cx="782638" cy="258763"/>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Sign bit:</a:t>
            </a:r>
            <a:endParaRPr lang="en-CA" altLang="zh-CN" sz="2400">
              <a:latin typeface="Times New Roman" pitchFamily="18" charset="0"/>
              <a:ea typeface="SimSun" pitchFamily="2" charset="-122"/>
            </a:endParaRPr>
          </a:p>
        </p:txBody>
      </p:sp>
      <p:sp>
        <p:nvSpPr>
          <p:cNvPr id="62475" name="Rectangle 12"/>
          <p:cNvSpPr>
            <a:spLocks noChangeArrowheads="1"/>
          </p:cNvSpPr>
          <p:nvPr/>
        </p:nvSpPr>
        <p:spPr bwMode="auto">
          <a:xfrm>
            <a:off x="3813175" y="3360738"/>
            <a:ext cx="2246313" cy="288925"/>
          </a:xfrm>
          <a:prstGeom prst="rect">
            <a:avLst/>
          </a:prstGeom>
          <a:noFill/>
          <a:ln w="9525">
            <a:noFill/>
            <a:miter lim="800000"/>
            <a:headEnd/>
            <a:tailEnd/>
          </a:ln>
        </p:spPr>
        <p:txBody>
          <a:bodyPr wrap="none" lIns="0" tIns="0" rIns="0" bIns="0">
            <a:spAutoFit/>
          </a:bodyPr>
          <a:lstStyle/>
          <a:p>
            <a:r>
              <a:rPr lang="zh-CN" altLang="en-CA" sz="1900">
                <a:solidFill>
                  <a:srgbClr val="000000"/>
                </a:solidFill>
                <a:latin typeface="Nimbus Roman No9 L" charset="0"/>
                <a:ea typeface="SimSun" pitchFamily="2" charset="-122"/>
              </a:rPr>
              <a:t> </a:t>
            </a:r>
            <a:r>
              <a:rPr lang="en-CA" altLang="zh-CN" sz="1900">
                <a:solidFill>
                  <a:srgbClr val="000000"/>
                </a:solidFill>
                <a:latin typeface="Nimbus Roman No9 L" charset="0"/>
                <a:ea typeface="SimSun" pitchFamily="2" charset="-122"/>
              </a:rPr>
              <a:t>for positive numbers</a:t>
            </a:r>
            <a:endParaRPr lang="en-CA" altLang="zh-CN" sz="2400">
              <a:latin typeface="Times New Roman" pitchFamily="18" charset="0"/>
              <a:ea typeface="SimSun" pitchFamily="2" charset="-122"/>
            </a:endParaRPr>
          </a:p>
        </p:txBody>
      </p:sp>
      <p:sp>
        <p:nvSpPr>
          <p:cNvPr id="62476" name="Rectangle 13"/>
          <p:cNvSpPr>
            <a:spLocks noChangeArrowheads="1"/>
          </p:cNvSpPr>
          <p:nvPr/>
        </p:nvSpPr>
        <p:spPr bwMode="auto">
          <a:xfrm>
            <a:off x="3813175" y="3668713"/>
            <a:ext cx="2341563" cy="288925"/>
          </a:xfrm>
          <a:prstGeom prst="rect">
            <a:avLst/>
          </a:prstGeom>
          <a:noFill/>
          <a:ln w="9525">
            <a:noFill/>
            <a:miter lim="800000"/>
            <a:headEnd/>
            <a:tailEnd/>
          </a:ln>
        </p:spPr>
        <p:txBody>
          <a:bodyPr wrap="none" lIns="0" tIns="0" rIns="0" bIns="0">
            <a:spAutoFit/>
          </a:bodyPr>
          <a:lstStyle/>
          <a:p>
            <a:r>
              <a:rPr lang="zh-CN" altLang="en-CA" sz="1900">
                <a:solidFill>
                  <a:srgbClr val="000000"/>
                </a:solidFill>
                <a:latin typeface="Nimbus Roman No9 L" charset="0"/>
                <a:ea typeface="SimSun" pitchFamily="2" charset="-122"/>
              </a:rPr>
              <a:t> </a:t>
            </a:r>
            <a:r>
              <a:rPr lang="en-CA" altLang="zh-CN" sz="1900">
                <a:solidFill>
                  <a:srgbClr val="000000"/>
                </a:solidFill>
                <a:latin typeface="Nimbus Roman No9 L" charset="0"/>
                <a:ea typeface="SimSun" pitchFamily="2" charset="-122"/>
              </a:rPr>
              <a:t>for negative numbers</a:t>
            </a:r>
            <a:endParaRPr lang="en-CA" altLang="zh-CN" sz="2400">
              <a:latin typeface="Times New Roman" pitchFamily="18" charset="0"/>
              <a:ea typeface="SimSun" pitchFamily="2" charset="-122"/>
            </a:endParaRPr>
          </a:p>
        </p:txBody>
      </p:sp>
      <p:sp>
        <p:nvSpPr>
          <p:cNvPr id="62477" name="Rectangle 14"/>
          <p:cNvSpPr>
            <a:spLocks noChangeArrowheads="1"/>
          </p:cNvSpPr>
          <p:nvPr/>
        </p:nvSpPr>
        <p:spPr bwMode="auto">
          <a:xfrm>
            <a:off x="6597650" y="5911850"/>
            <a:ext cx="565150" cy="258763"/>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ASCII</a:t>
            </a:r>
            <a:endParaRPr lang="en-CA" altLang="zh-CN" sz="2400">
              <a:latin typeface="Times New Roman" pitchFamily="18" charset="0"/>
              <a:ea typeface="SimSun" pitchFamily="2" charset="-122"/>
            </a:endParaRPr>
          </a:p>
        </p:txBody>
      </p:sp>
      <p:sp>
        <p:nvSpPr>
          <p:cNvPr id="62478" name="Rectangle 15"/>
          <p:cNvSpPr>
            <a:spLocks noChangeArrowheads="1"/>
          </p:cNvSpPr>
          <p:nvPr/>
        </p:nvSpPr>
        <p:spPr bwMode="auto">
          <a:xfrm>
            <a:off x="5073650" y="5911850"/>
            <a:ext cx="565150" cy="258763"/>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ASCII</a:t>
            </a:r>
            <a:endParaRPr lang="en-CA" altLang="zh-CN" sz="2400">
              <a:latin typeface="Times New Roman" pitchFamily="18" charset="0"/>
              <a:ea typeface="SimSun" pitchFamily="2" charset="-122"/>
            </a:endParaRPr>
          </a:p>
        </p:txBody>
      </p:sp>
      <p:sp>
        <p:nvSpPr>
          <p:cNvPr id="62479" name="Rectangle 16"/>
          <p:cNvSpPr>
            <a:spLocks noChangeArrowheads="1"/>
          </p:cNvSpPr>
          <p:nvPr/>
        </p:nvSpPr>
        <p:spPr bwMode="auto">
          <a:xfrm>
            <a:off x="3527425" y="5911850"/>
            <a:ext cx="565150" cy="258763"/>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ASCII</a:t>
            </a:r>
            <a:endParaRPr lang="en-CA" altLang="zh-CN" sz="2400">
              <a:latin typeface="Times New Roman" pitchFamily="18" charset="0"/>
              <a:ea typeface="SimSun" pitchFamily="2" charset="-122"/>
            </a:endParaRPr>
          </a:p>
        </p:txBody>
      </p:sp>
      <p:sp>
        <p:nvSpPr>
          <p:cNvPr id="62480" name="Rectangle 17"/>
          <p:cNvSpPr>
            <a:spLocks noChangeArrowheads="1"/>
          </p:cNvSpPr>
          <p:nvPr/>
        </p:nvSpPr>
        <p:spPr bwMode="auto">
          <a:xfrm>
            <a:off x="1981200" y="5911850"/>
            <a:ext cx="565150" cy="258763"/>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ASCII</a:t>
            </a:r>
            <a:endParaRPr lang="en-CA" altLang="zh-CN" sz="2400">
              <a:latin typeface="Times New Roman" pitchFamily="18" charset="0"/>
              <a:ea typeface="SimSun" pitchFamily="2" charset="-122"/>
            </a:endParaRPr>
          </a:p>
        </p:txBody>
      </p:sp>
      <p:sp>
        <p:nvSpPr>
          <p:cNvPr id="62481" name="Line 18"/>
          <p:cNvSpPr>
            <a:spLocks noChangeShapeType="1"/>
          </p:cNvSpPr>
          <p:nvPr/>
        </p:nvSpPr>
        <p:spPr bwMode="auto">
          <a:xfrm flipV="1">
            <a:off x="1957388" y="2651125"/>
            <a:ext cx="1587" cy="452438"/>
          </a:xfrm>
          <a:prstGeom prst="line">
            <a:avLst/>
          </a:prstGeom>
          <a:noFill/>
          <a:ln w="23813">
            <a:solidFill>
              <a:srgbClr val="00FFFF"/>
            </a:solidFill>
            <a:round/>
            <a:headEnd/>
            <a:tailEnd/>
          </a:ln>
        </p:spPr>
        <p:txBody>
          <a:bodyPr/>
          <a:lstStyle/>
          <a:p>
            <a:endParaRPr lang="en-IN"/>
          </a:p>
        </p:txBody>
      </p:sp>
      <p:sp>
        <p:nvSpPr>
          <p:cNvPr id="62482" name="Line 19"/>
          <p:cNvSpPr>
            <a:spLocks noChangeShapeType="1"/>
          </p:cNvSpPr>
          <p:nvPr/>
        </p:nvSpPr>
        <p:spPr bwMode="auto">
          <a:xfrm flipV="1">
            <a:off x="2409825" y="2651125"/>
            <a:ext cx="1588" cy="452438"/>
          </a:xfrm>
          <a:prstGeom prst="line">
            <a:avLst/>
          </a:prstGeom>
          <a:noFill/>
          <a:ln w="23813">
            <a:solidFill>
              <a:srgbClr val="00FFFF"/>
            </a:solidFill>
            <a:round/>
            <a:headEnd/>
            <a:tailEnd/>
          </a:ln>
        </p:spPr>
        <p:txBody>
          <a:bodyPr/>
          <a:lstStyle/>
          <a:p>
            <a:endParaRPr lang="en-IN"/>
          </a:p>
        </p:txBody>
      </p:sp>
      <p:sp>
        <p:nvSpPr>
          <p:cNvPr id="62483" name="Line 20"/>
          <p:cNvSpPr>
            <a:spLocks noChangeShapeType="1"/>
          </p:cNvSpPr>
          <p:nvPr/>
        </p:nvSpPr>
        <p:spPr bwMode="auto">
          <a:xfrm flipV="1">
            <a:off x="6740525" y="2651125"/>
            <a:ext cx="1588" cy="452438"/>
          </a:xfrm>
          <a:prstGeom prst="line">
            <a:avLst/>
          </a:prstGeom>
          <a:noFill/>
          <a:ln w="23813">
            <a:solidFill>
              <a:srgbClr val="00FFFF"/>
            </a:solidFill>
            <a:round/>
            <a:headEnd/>
            <a:tailEnd/>
          </a:ln>
        </p:spPr>
        <p:txBody>
          <a:bodyPr/>
          <a:lstStyle/>
          <a:p>
            <a:endParaRPr lang="en-IN"/>
          </a:p>
        </p:txBody>
      </p:sp>
      <p:sp>
        <p:nvSpPr>
          <p:cNvPr id="62484" name="Line 21"/>
          <p:cNvSpPr>
            <a:spLocks noChangeShapeType="1"/>
          </p:cNvSpPr>
          <p:nvPr/>
        </p:nvSpPr>
        <p:spPr bwMode="auto">
          <a:xfrm flipV="1">
            <a:off x="7191375" y="2651125"/>
            <a:ext cx="1588" cy="452438"/>
          </a:xfrm>
          <a:prstGeom prst="line">
            <a:avLst/>
          </a:prstGeom>
          <a:noFill/>
          <a:ln w="23813">
            <a:solidFill>
              <a:srgbClr val="00FFFF"/>
            </a:solidFill>
            <a:round/>
            <a:headEnd/>
            <a:tailEnd/>
          </a:ln>
        </p:spPr>
        <p:txBody>
          <a:bodyPr/>
          <a:lstStyle/>
          <a:p>
            <a:endParaRPr lang="en-IN"/>
          </a:p>
        </p:txBody>
      </p:sp>
      <p:sp>
        <p:nvSpPr>
          <p:cNvPr id="62485" name="Line 22"/>
          <p:cNvSpPr>
            <a:spLocks noChangeShapeType="1"/>
          </p:cNvSpPr>
          <p:nvPr/>
        </p:nvSpPr>
        <p:spPr bwMode="auto">
          <a:xfrm>
            <a:off x="1481138" y="3103563"/>
            <a:ext cx="6186487" cy="1587"/>
          </a:xfrm>
          <a:prstGeom prst="line">
            <a:avLst/>
          </a:prstGeom>
          <a:noFill/>
          <a:ln w="23813">
            <a:solidFill>
              <a:srgbClr val="00FFFF"/>
            </a:solidFill>
            <a:round/>
            <a:headEnd/>
            <a:tailEnd/>
          </a:ln>
        </p:spPr>
        <p:txBody>
          <a:bodyPr/>
          <a:lstStyle/>
          <a:p>
            <a:endParaRPr lang="en-IN"/>
          </a:p>
        </p:txBody>
      </p:sp>
      <p:sp>
        <p:nvSpPr>
          <p:cNvPr id="62486" name="Line 23"/>
          <p:cNvSpPr>
            <a:spLocks noChangeShapeType="1"/>
          </p:cNvSpPr>
          <p:nvPr/>
        </p:nvSpPr>
        <p:spPr bwMode="auto">
          <a:xfrm>
            <a:off x="1481138" y="2651125"/>
            <a:ext cx="1587" cy="452438"/>
          </a:xfrm>
          <a:prstGeom prst="line">
            <a:avLst/>
          </a:prstGeom>
          <a:noFill/>
          <a:ln w="23813">
            <a:solidFill>
              <a:srgbClr val="00FFFF"/>
            </a:solidFill>
            <a:round/>
            <a:headEnd/>
            <a:tailEnd/>
          </a:ln>
        </p:spPr>
        <p:txBody>
          <a:bodyPr/>
          <a:lstStyle/>
          <a:p>
            <a:endParaRPr lang="en-IN"/>
          </a:p>
        </p:txBody>
      </p:sp>
      <p:sp>
        <p:nvSpPr>
          <p:cNvPr id="62487" name="Line 24"/>
          <p:cNvSpPr>
            <a:spLocks noChangeShapeType="1"/>
          </p:cNvSpPr>
          <p:nvPr/>
        </p:nvSpPr>
        <p:spPr bwMode="auto">
          <a:xfrm flipH="1">
            <a:off x="1481138" y="2651125"/>
            <a:ext cx="6186487" cy="1588"/>
          </a:xfrm>
          <a:prstGeom prst="line">
            <a:avLst/>
          </a:prstGeom>
          <a:noFill/>
          <a:ln w="71438">
            <a:solidFill>
              <a:srgbClr val="00FFFF"/>
            </a:solidFill>
            <a:round/>
            <a:headEnd/>
            <a:tailEnd/>
          </a:ln>
        </p:spPr>
        <p:txBody>
          <a:bodyPr/>
          <a:lstStyle/>
          <a:p>
            <a:endParaRPr lang="en-IN"/>
          </a:p>
        </p:txBody>
      </p:sp>
      <p:sp>
        <p:nvSpPr>
          <p:cNvPr id="62488" name="Line 25"/>
          <p:cNvSpPr>
            <a:spLocks noChangeShapeType="1"/>
          </p:cNvSpPr>
          <p:nvPr/>
        </p:nvSpPr>
        <p:spPr bwMode="auto">
          <a:xfrm>
            <a:off x="1481138" y="2198688"/>
            <a:ext cx="1587" cy="309562"/>
          </a:xfrm>
          <a:prstGeom prst="line">
            <a:avLst/>
          </a:prstGeom>
          <a:noFill/>
          <a:ln w="23813">
            <a:solidFill>
              <a:srgbClr val="000000"/>
            </a:solidFill>
            <a:round/>
            <a:headEnd/>
            <a:tailEnd/>
          </a:ln>
        </p:spPr>
        <p:txBody>
          <a:bodyPr/>
          <a:lstStyle/>
          <a:p>
            <a:endParaRPr lang="en-IN"/>
          </a:p>
        </p:txBody>
      </p:sp>
      <p:sp>
        <p:nvSpPr>
          <p:cNvPr id="62489" name="Line 26"/>
          <p:cNvSpPr>
            <a:spLocks noChangeShapeType="1"/>
          </p:cNvSpPr>
          <p:nvPr/>
        </p:nvSpPr>
        <p:spPr bwMode="auto">
          <a:xfrm flipH="1" flipV="1">
            <a:off x="7669213" y="2198688"/>
            <a:ext cx="20637" cy="309562"/>
          </a:xfrm>
          <a:prstGeom prst="line">
            <a:avLst/>
          </a:prstGeom>
          <a:noFill/>
          <a:ln w="23813">
            <a:solidFill>
              <a:srgbClr val="000000"/>
            </a:solidFill>
            <a:round/>
            <a:headEnd/>
            <a:tailEnd/>
          </a:ln>
        </p:spPr>
        <p:txBody>
          <a:bodyPr/>
          <a:lstStyle/>
          <a:p>
            <a:endParaRPr lang="en-IN"/>
          </a:p>
        </p:txBody>
      </p:sp>
      <p:sp>
        <p:nvSpPr>
          <p:cNvPr id="62490" name="Freeform 27"/>
          <p:cNvSpPr>
            <a:spLocks/>
          </p:cNvSpPr>
          <p:nvPr/>
        </p:nvSpPr>
        <p:spPr bwMode="auto">
          <a:xfrm>
            <a:off x="7477125" y="2317750"/>
            <a:ext cx="142875" cy="47625"/>
          </a:xfrm>
          <a:custGeom>
            <a:avLst/>
            <a:gdLst>
              <a:gd name="T0" fmla="*/ 0 w 6"/>
              <a:gd name="T1" fmla="*/ 2147483647 h 2"/>
              <a:gd name="T2" fmla="*/ 2147483647 w 6"/>
              <a:gd name="T3" fmla="*/ 2147483647 h 2"/>
              <a:gd name="T4" fmla="*/ 0 w 6"/>
              <a:gd name="T5" fmla="*/ 0 h 2"/>
              <a:gd name="T6" fmla="*/ 0 w 6"/>
              <a:gd name="T7" fmla="*/ 2147483647 h 2"/>
              <a:gd name="T8" fmla="*/ 0 w 6"/>
              <a:gd name="T9" fmla="*/ 2147483647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3813">
            <a:solidFill>
              <a:srgbClr val="000000"/>
            </a:solidFill>
            <a:round/>
            <a:headEnd/>
            <a:tailEnd/>
          </a:ln>
        </p:spPr>
        <p:txBody>
          <a:bodyPr/>
          <a:lstStyle/>
          <a:p>
            <a:endParaRPr lang="en-IN"/>
          </a:p>
        </p:txBody>
      </p:sp>
      <p:sp>
        <p:nvSpPr>
          <p:cNvPr id="62491" name="Freeform 28"/>
          <p:cNvSpPr>
            <a:spLocks/>
          </p:cNvSpPr>
          <p:nvPr/>
        </p:nvSpPr>
        <p:spPr bwMode="auto">
          <a:xfrm>
            <a:off x="7477125" y="2317750"/>
            <a:ext cx="142875" cy="47625"/>
          </a:xfrm>
          <a:custGeom>
            <a:avLst/>
            <a:gdLst>
              <a:gd name="T0" fmla="*/ 0 w 90"/>
              <a:gd name="T1" fmla="*/ 2147483647 h 30"/>
              <a:gd name="T2" fmla="*/ 2147483647 w 90"/>
              <a:gd name="T3" fmla="*/ 2147483647 h 30"/>
              <a:gd name="T4" fmla="*/ 0 w 90"/>
              <a:gd name="T5" fmla="*/ 0 h 30"/>
              <a:gd name="T6" fmla="*/ 0 w 90"/>
              <a:gd name="T7" fmla="*/ 2147483647 h 30"/>
              <a:gd name="T8" fmla="*/ 0 w 90"/>
              <a:gd name="T9" fmla="*/ 2147483647 h 30"/>
              <a:gd name="T10" fmla="*/ 0 60000 65536"/>
              <a:gd name="T11" fmla="*/ 0 60000 65536"/>
              <a:gd name="T12" fmla="*/ 0 60000 65536"/>
              <a:gd name="T13" fmla="*/ 0 60000 65536"/>
              <a:gd name="T14" fmla="*/ 0 60000 65536"/>
              <a:gd name="T15" fmla="*/ 0 w 90"/>
              <a:gd name="T16" fmla="*/ 0 h 30"/>
              <a:gd name="T17" fmla="*/ 90 w 90"/>
              <a:gd name="T18" fmla="*/ 30 h 30"/>
            </a:gdLst>
            <a:ahLst/>
            <a:cxnLst>
              <a:cxn ang="T10">
                <a:pos x="T0" y="T1"/>
              </a:cxn>
              <a:cxn ang="T11">
                <a:pos x="T2" y="T3"/>
              </a:cxn>
              <a:cxn ang="T12">
                <a:pos x="T4" y="T5"/>
              </a:cxn>
              <a:cxn ang="T13">
                <a:pos x="T6" y="T7"/>
              </a:cxn>
              <a:cxn ang="T14">
                <a:pos x="T8" y="T9"/>
              </a:cxn>
            </a:cxnLst>
            <a:rect l="T15" t="T16" r="T17" b="T18"/>
            <a:pathLst>
              <a:path w="90" h="30">
                <a:moveTo>
                  <a:pt x="0" y="30"/>
                </a:moveTo>
                <a:lnTo>
                  <a:pt x="90" y="15"/>
                </a:lnTo>
                <a:lnTo>
                  <a:pt x="0" y="0"/>
                </a:lnTo>
                <a:lnTo>
                  <a:pt x="0" y="15"/>
                </a:lnTo>
                <a:lnTo>
                  <a:pt x="0" y="30"/>
                </a:lnTo>
                <a:close/>
              </a:path>
            </a:pathLst>
          </a:custGeom>
          <a:solidFill>
            <a:srgbClr val="000000"/>
          </a:solidFill>
          <a:ln w="0">
            <a:solidFill>
              <a:srgbClr val="000000"/>
            </a:solidFill>
            <a:round/>
            <a:headEnd/>
            <a:tailEnd/>
          </a:ln>
        </p:spPr>
        <p:txBody>
          <a:bodyPr/>
          <a:lstStyle/>
          <a:p>
            <a:endParaRPr lang="en-IN"/>
          </a:p>
        </p:txBody>
      </p:sp>
      <p:sp>
        <p:nvSpPr>
          <p:cNvPr id="62492" name="Line 29"/>
          <p:cNvSpPr>
            <a:spLocks noChangeShapeType="1"/>
          </p:cNvSpPr>
          <p:nvPr/>
        </p:nvSpPr>
        <p:spPr bwMode="auto">
          <a:xfrm flipH="1">
            <a:off x="5026025" y="2341563"/>
            <a:ext cx="2451100" cy="1587"/>
          </a:xfrm>
          <a:prstGeom prst="line">
            <a:avLst/>
          </a:prstGeom>
          <a:noFill/>
          <a:ln w="23813">
            <a:solidFill>
              <a:srgbClr val="000000"/>
            </a:solidFill>
            <a:round/>
            <a:headEnd/>
            <a:tailEnd/>
          </a:ln>
        </p:spPr>
        <p:txBody>
          <a:bodyPr/>
          <a:lstStyle/>
          <a:p>
            <a:endParaRPr lang="en-IN"/>
          </a:p>
        </p:txBody>
      </p:sp>
      <p:sp>
        <p:nvSpPr>
          <p:cNvPr id="62493" name="Freeform 30"/>
          <p:cNvSpPr>
            <a:spLocks/>
          </p:cNvSpPr>
          <p:nvPr/>
        </p:nvSpPr>
        <p:spPr bwMode="auto">
          <a:xfrm>
            <a:off x="1528763" y="2317750"/>
            <a:ext cx="142875" cy="47625"/>
          </a:xfrm>
          <a:custGeom>
            <a:avLst/>
            <a:gdLst>
              <a:gd name="T0" fmla="*/ 2147483647 w 6"/>
              <a:gd name="T1" fmla="*/ 0 h 2"/>
              <a:gd name="T2" fmla="*/ 0 w 6"/>
              <a:gd name="T3" fmla="*/ 2147483647 h 2"/>
              <a:gd name="T4" fmla="*/ 2147483647 w 6"/>
              <a:gd name="T5" fmla="*/ 2147483647 h 2"/>
              <a:gd name="T6" fmla="*/ 2147483647 w 6"/>
              <a:gd name="T7" fmla="*/ 2147483647 h 2"/>
              <a:gd name="T8" fmla="*/ 2147483647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0" y="1"/>
                </a:lnTo>
                <a:lnTo>
                  <a:pt x="6" y="2"/>
                </a:lnTo>
                <a:lnTo>
                  <a:pt x="6" y="1"/>
                </a:lnTo>
                <a:lnTo>
                  <a:pt x="6" y="0"/>
                </a:lnTo>
              </a:path>
            </a:pathLst>
          </a:custGeom>
          <a:noFill/>
          <a:ln w="23813">
            <a:solidFill>
              <a:srgbClr val="000000"/>
            </a:solidFill>
            <a:round/>
            <a:headEnd/>
            <a:tailEnd/>
          </a:ln>
        </p:spPr>
        <p:txBody>
          <a:bodyPr/>
          <a:lstStyle/>
          <a:p>
            <a:endParaRPr lang="en-IN"/>
          </a:p>
        </p:txBody>
      </p:sp>
      <p:sp>
        <p:nvSpPr>
          <p:cNvPr id="62494" name="Freeform 31"/>
          <p:cNvSpPr>
            <a:spLocks/>
          </p:cNvSpPr>
          <p:nvPr/>
        </p:nvSpPr>
        <p:spPr bwMode="auto">
          <a:xfrm>
            <a:off x="1528763" y="2317750"/>
            <a:ext cx="142875" cy="47625"/>
          </a:xfrm>
          <a:custGeom>
            <a:avLst/>
            <a:gdLst>
              <a:gd name="T0" fmla="*/ 2147483647 w 90"/>
              <a:gd name="T1" fmla="*/ 0 h 30"/>
              <a:gd name="T2" fmla="*/ 0 w 90"/>
              <a:gd name="T3" fmla="*/ 2147483647 h 30"/>
              <a:gd name="T4" fmla="*/ 2147483647 w 90"/>
              <a:gd name="T5" fmla="*/ 2147483647 h 30"/>
              <a:gd name="T6" fmla="*/ 2147483647 w 90"/>
              <a:gd name="T7" fmla="*/ 2147483647 h 30"/>
              <a:gd name="T8" fmla="*/ 2147483647 w 90"/>
              <a:gd name="T9" fmla="*/ 0 h 30"/>
              <a:gd name="T10" fmla="*/ 0 60000 65536"/>
              <a:gd name="T11" fmla="*/ 0 60000 65536"/>
              <a:gd name="T12" fmla="*/ 0 60000 65536"/>
              <a:gd name="T13" fmla="*/ 0 60000 65536"/>
              <a:gd name="T14" fmla="*/ 0 60000 65536"/>
              <a:gd name="T15" fmla="*/ 0 w 90"/>
              <a:gd name="T16" fmla="*/ 0 h 30"/>
              <a:gd name="T17" fmla="*/ 90 w 90"/>
              <a:gd name="T18" fmla="*/ 30 h 30"/>
            </a:gdLst>
            <a:ahLst/>
            <a:cxnLst>
              <a:cxn ang="T10">
                <a:pos x="T0" y="T1"/>
              </a:cxn>
              <a:cxn ang="T11">
                <a:pos x="T2" y="T3"/>
              </a:cxn>
              <a:cxn ang="T12">
                <a:pos x="T4" y="T5"/>
              </a:cxn>
              <a:cxn ang="T13">
                <a:pos x="T6" y="T7"/>
              </a:cxn>
              <a:cxn ang="T14">
                <a:pos x="T8" y="T9"/>
              </a:cxn>
            </a:cxnLst>
            <a:rect l="T15" t="T16" r="T17" b="T18"/>
            <a:pathLst>
              <a:path w="90" h="30">
                <a:moveTo>
                  <a:pt x="90" y="0"/>
                </a:moveTo>
                <a:lnTo>
                  <a:pt x="0" y="15"/>
                </a:lnTo>
                <a:lnTo>
                  <a:pt x="90" y="30"/>
                </a:lnTo>
                <a:lnTo>
                  <a:pt x="90" y="15"/>
                </a:lnTo>
                <a:lnTo>
                  <a:pt x="90" y="0"/>
                </a:lnTo>
                <a:close/>
              </a:path>
            </a:pathLst>
          </a:custGeom>
          <a:solidFill>
            <a:srgbClr val="000000"/>
          </a:solidFill>
          <a:ln w="0">
            <a:solidFill>
              <a:srgbClr val="000000"/>
            </a:solidFill>
            <a:round/>
            <a:headEnd/>
            <a:tailEnd/>
          </a:ln>
        </p:spPr>
        <p:txBody>
          <a:bodyPr/>
          <a:lstStyle/>
          <a:p>
            <a:endParaRPr lang="en-IN"/>
          </a:p>
        </p:txBody>
      </p:sp>
      <p:sp>
        <p:nvSpPr>
          <p:cNvPr id="62495" name="Line 32"/>
          <p:cNvSpPr>
            <a:spLocks noChangeShapeType="1"/>
          </p:cNvSpPr>
          <p:nvPr/>
        </p:nvSpPr>
        <p:spPr bwMode="auto">
          <a:xfrm>
            <a:off x="1671638" y="2341563"/>
            <a:ext cx="2451100" cy="1587"/>
          </a:xfrm>
          <a:prstGeom prst="line">
            <a:avLst/>
          </a:prstGeom>
          <a:noFill/>
          <a:ln w="23813">
            <a:solidFill>
              <a:srgbClr val="000000"/>
            </a:solidFill>
            <a:round/>
            <a:headEnd/>
            <a:tailEnd/>
          </a:ln>
        </p:spPr>
        <p:txBody>
          <a:bodyPr/>
          <a:lstStyle/>
          <a:p>
            <a:endParaRPr lang="en-IN"/>
          </a:p>
        </p:txBody>
      </p:sp>
      <p:sp>
        <p:nvSpPr>
          <p:cNvPr id="62496" name="Rectangle 33"/>
          <p:cNvSpPr>
            <a:spLocks noChangeArrowheads="1"/>
          </p:cNvSpPr>
          <p:nvPr/>
        </p:nvSpPr>
        <p:spPr bwMode="auto">
          <a:xfrm>
            <a:off x="4289425" y="2198688"/>
            <a:ext cx="638175" cy="258762"/>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32 bits</a:t>
            </a:r>
            <a:endParaRPr lang="en-CA" altLang="zh-CN" sz="2400">
              <a:latin typeface="Times New Roman" pitchFamily="18" charset="0"/>
              <a:ea typeface="SimSun" pitchFamily="2" charset="-122"/>
            </a:endParaRPr>
          </a:p>
        </p:txBody>
      </p:sp>
      <p:sp>
        <p:nvSpPr>
          <p:cNvPr id="62497" name="Line 34"/>
          <p:cNvSpPr>
            <a:spLocks noChangeShapeType="1"/>
          </p:cNvSpPr>
          <p:nvPr/>
        </p:nvSpPr>
        <p:spPr bwMode="auto">
          <a:xfrm flipV="1">
            <a:off x="3027363" y="5078413"/>
            <a:ext cx="1587" cy="452437"/>
          </a:xfrm>
          <a:prstGeom prst="line">
            <a:avLst/>
          </a:prstGeom>
          <a:noFill/>
          <a:ln w="23813">
            <a:solidFill>
              <a:srgbClr val="00FFFF"/>
            </a:solidFill>
            <a:round/>
            <a:headEnd/>
            <a:tailEnd/>
          </a:ln>
        </p:spPr>
        <p:txBody>
          <a:bodyPr/>
          <a:lstStyle/>
          <a:p>
            <a:endParaRPr lang="en-IN"/>
          </a:p>
        </p:txBody>
      </p:sp>
      <p:sp>
        <p:nvSpPr>
          <p:cNvPr id="62498" name="Line 35"/>
          <p:cNvSpPr>
            <a:spLocks noChangeShapeType="1"/>
          </p:cNvSpPr>
          <p:nvPr/>
        </p:nvSpPr>
        <p:spPr bwMode="auto">
          <a:xfrm flipV="1">
            <a:off x="4575175" y="5078413"/>
            <a:ext cx="1588" cy="452437"/>
          </a:xfrm>
          <a:prstGeom prst="line">
            <a:avLst/>
          </a:prstGeom>
          <a:noFill/>
          <a:ln w="23813">
            <a:solidFill>
              <a:srgbClr val="00FFFF"/>
            </a:solidFill>
            <a:round/>
            <a:headEnd/>
            <a:tailEnd/>
          </a:ln>
        </p:spPr>
        <p:txBody>
          <a:bodyPr/>
          <a:lstStyle/>
          <a:p>
            <a:endParaRPr lang="en-IN"/>
          </a:p>
        </p:txBody>
      </p:sp>
      <p:sp>
        <p:nvSpPr>
          <p:cNvPr id="62499" name="Line 36"/>
          <p:cNvSpPr>
            <a:spLocks noChangeShapeType="1"/>
          </p:cNvSpPr>
          <p:nvPr/>
        </p:nvSpPr>
        <p:spPr bwMode="auto">
          <a:xfrm flipV="1">
            <a:off x="6121400" y="5078413"/>
            <a:ext cx="1588" cy="452437"/>
          </a:xfrm>
          <a:prstGeom prst="line">
            <a:avLst/>
          </a:prstGeom>
          <a:noFill/>
          <a:ln w="23813">
            <a:solidFill>
              <a:srgbClr val="00FFFF"/>
            </a:solidFill>
            <a:round/>
            <a:headEnd/>
            <a:tailEnd/>
          </a:ln>
        </p:spPr>
        <p:txBody>
          <a:bodyPr/>
          <a:lstStyle/>
          <a:p>
            <a:endParaRPr lang="en-IN"/>
          </a:p>
        </p:txBody>
      </p:sp>
      <p:sp>
        <p:nvSpPr>
          <p:cNvPr id="62500" name="Rectangle 37"/>
          <p:cNvSpPr>
            <a:spLocks noChangeArrowheads="1"/>
          </p:cNvSpPr>
          <p:nvPr/>
        </p:nvSpPr>
        <p:spPr bwMode="auto">
          <a:xfrm>
            <a:off x="1481138" y="5078413"/>
            <a:ext cx="6186487" cy="452437"/>
          </a:xfrm>
          <a:prstGeom prst="rect">
            <a:avLst/>
          </a:prstGeom>
          <a:noFill/>
          <a:ln w="23813">
            <a:solidFill>
              <a:srgbClr val="00FFFF"/>
            </a:solidFill>
            <a:miter lim="800000"/>
            <a:headEnd/>
            <a:tailEnd/>
          </a:ln>
        </p:spPr>
        <p:txBody>
          <a:bodyPr/>
          <a:lstStyle/>
          <a:p>
            <a:endParaRPr lang="en-US"/>
          </a:p>
        </p:txBody>
      </p:sp>
      <p:sp>
        <p:nvSpPr>
          <p:cNvPr id="62501" name="Rectangle 38"/>
          <p:cNvSpPr>
            <a:spLocks noChangeArrowheads="1"/>
          </p:cNvSpPr>
          <p:nvPr/>
        </p:nvSpPr>
        <p:spPr bwMode="auto">
          <a:xfrm>
            <a:off x="2028825" y="5126038"/>
            <a:ext cx="517525" cy="258762"/>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8 bits</a:t>
            </a:r>
            <a:endParaRPr lang="en-CA" altLang="zh-CN" sz="2400">
              <a:latin typeface="Times New Roman" pitchFamily="18" charset="0"/>
              <a:ea typeface="SimSun" pitchFamily="2" charset="-122"/>
            </a:endParaRPr>
          </a:p>
        </p:txBody>
      </p:sp>
      <p:sp>
        <p:nvSpPr>
          <p:cNvPr id="62502" name="Rectangle 39"/>
          <p:cNvSpPr>
            <a:spLocks noChangeArrowheads="1"/>
          </p:cNvSpPr>
          <p:nvPr/>
        </p:nvSpPr>
        <p:spPr bwMode="auto">
          <a:xfrm>
            <a:off x="3575050" y="5126038"/>
            <a:ext cx="517525" cy="258762"/>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8 bits</a:t>
            </a:r>
            <a:endParaRPr lang="en-CA" altLang="zh-CN" sz="2400">
              <a:latin typeface="Times New Roman" pitchFamily="18" charset="0"/>
              <a:ea typeface="SimSun" pitchFamily="2" charset="-122"/>
            </a:endParaRPr>
          </a:p>
        </p:txBody>
      </p:sp>
      <p:sp>
        <p:nvSpPr>
          <p:cNvPr id="62503" name="Rectangle 40"/>
          <p:cNvSpPr>
            <a:spLocks noChangeArrowheads="1"/>
          </p:cNvSpPr>
          <p:nvPr/>
        </p:nvSpPr>
        <p:spPr bwMode="auto">
          <a:xfrm>
            <a:off x="5121275" y="5126038"/>
            <a:ext cx="517525" cy="258762"/>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8 bits</a:t>
            </a:r>
            <a:endParaRPr lang="en-CA" altLang="zh-CN" sz="2400">
              <a:latin typeface="Times New Roman" pitchFamily="18" charset="0"/>
              <a:ea typeface="SimSun" pitchFamily="2" charset="-122"/>
            </a:endParaRPr>
          </a:p>
        </p:txBody>
      </p:sp>
      <p:sp>
        <p:nvSpPr>
          <p:cNvPr id="62504" name="Rectangle 41"/>
          <p:cNvSpPr>
            <a:spLocks noChangeArrowheads="1"/>
          </p:cNvSpPr>
          <p:nvPr/>
        </p:nvSpPr>
        <p:spPr bwMode="auto">
          <a:xfrm>
            <a:off x="6645275" y="5126038"/>
            <a:ext cx="517525" cy="258762"/>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8 bits</a:t>
            </a:r>
            <a:endParaRPr lang="en-CA" altLang="zh-CN" sz="2400">
              <a:latin typeface="Times New Roman" pitchFamily="18" charset="0"/>
              <a:ea typeface="SimSun" pitchFamily="2" charset="-122"/>
            </a:endParaRPr>
          </a:p>
        </p:txBody>
      </p:sp>
      <p:sp>
        <p:nvSpPr>
          <p:cNvPr id="62505" name="Line 42"/>
          <p:cNvSpPr>
            <a:spLocks noChangeShapeType="1"/>
          </p:cNvSpPr>
          <p:nvPr/>
        </p:nvSpPr>
        <p:spPr bwMode="auto">
          <a:xfrm flipV="1">
            <a:off x="7667625" y="2651125"/>
            <a:ext cx="1588" cy="452438"/>
          </a:xfrm>
          <a:prstGeom prst="line">
            <a:avLst/>
          </a:prstGeom>
          <a:noFill/>
          <a:ln w="23813">
            <a:solidFill>
              <a:srgbClr val="00FFFF"/>
            </a:solidFill>
            <a:round/>
            <a:headEnd/>
            <a:tailEnd/>
          </a:ln>
        </p:spPr>
        <p:txBody>
          <a:bodyPr/>
          <a:lstStyle/>
          <a:p>
            <a:endParaRPr lang="en-IN"/>
          </a:p>
        </p:txBody>
      </p:sp>
      <p:sp>
        <p:nvSpPr>
          <p:cNvPr id="62506" name="Freeform 43"/>
          <p:cNvSpPr>
            <a:spLocks/>
          </p:cNvSpPr>
          <p:nvPr/>
        </p:nvSpPr>
        <p:spPr bwMode="auto">
          <a:xfrm>
            <a:off x="1695450" y="3222625"/>
            <a:ext cx="47625" cy="142875"/>
          </a:xfrm>
          <a:custGeom>
            <a:avLst/>
            <a:gdLst>
              <a:gd name="T0" fmla="*/ 2147483647 w 2"/>
              <a:gd name="T1" fmla="*/ 2147483647 h 6"/>
              <a:gd name="T2" fmla="*/ 2147483647 w 2"/>
              <a:gd name="T3" fmla="*/ 0 h 6"/>
              <a:gd name="T4" fmla="*/ 0 w 2"/>
              <a:gd name="T5" fmla="*/ 2147483647 h 6"/>
              <a:gd name="T6" fmla="*/ 2147483647 w 2"/>
              <a:gd name="T7" fmla="*/ 2147483647 h 6"/>
              <a:gd name="T8" fmla="*/ 2147483647 w 2"/>
              <a:gd name="T9" fmla="*/ 2147483647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6"/>
                </a:moveTo>
                <a:lnTo>
                  <a:pt x="1" y="0"/>
                </a:lnTo>
                <a:lnTo>
                  <a:pt x="0" y="6"/>
                </a:lnTo>
                <a:lnTo>
                  <a:pt x="1" y="6"/>
                </a:lnTo>
                <a:lnTo>
                  <a:pt x="2" y="6"/>
                </a:lnTo>
              </a:path>
            </a:pathLst>
          </a:custGeom>
          <a:noFill/>
          <a:ln w="23813">
            <a:solidFill>
              <a:srgbClr val="000000"/>
            </a:solidFill>
            <a:round/>
            <a:headEnd/>
            <a:tailEnd/>
          </a:ln>
        </p:spPr>
        <p:txBody>
          <a:bodyPr/>
          <a:lstStyle/>
          <a:p>
            <a:endParaRPr lang="en-IN"/>
          </a:p>
        </p:txBody>
      </p:sp>
      <p:sp>
        <p:nvSpPr>
          <p:cNvPr id="62507" name="Freeform 44"/>
          <p:cNvSpPr>
            <a:spLocks/>
          </p:cNvSpPr>
          <p:nvPr/>
        </p:nvSpPr>
        <p:spPr bwMode="auto">
          <a:xfrm>
            <a:off x="1695450" y="3222625"/>
            <a:ext cx="47625" cy="142875"/>
          </a:xfrm>
          <a:custGeom>
            <a:avLst/>
            <a:gdLst>
              <a:gd name="T0" fmla="*/ 2147483647 w 30"/>
              <a:gd name="T1" fmla="*/ 2147483647 h 90"/>
              <a:gd name="T2" fmla="*/ 2147483647 w 30"/>
              <a:gd name="T3" fmla="*/ 0 h 90"/>
              <a:gd name="T4" fmla="*/ 0 w 30"/>
              <a:gd name="T5" fmla="*/ 2147483647 h 90"/>
              <a:gd name="T6" fmla="*/ 2147483647 w 30"/>
              <a:gd name="T7" fmla="*/ 2147483647 h 90"/>
              <a:gd name="T8" fmla="*/ 2147483647 w 30"/>
              <a:gd name="T9" fmla="*/ 2147483647 h 90"/>
              <a:gd name="T10" fmla="*/ 0 60000 65536"/>
              <a:gd name="T11" fmla="*/ 0 60000 65536"/>
              <a:gd name="T12" fmla="*/ 0 60000 65536"/>
              <a:gd name="T13" fmla="*/ 0 60000 65536"/>
              <a:gd name="T14" fmla="*/ 0 60000 65536"/>
              <a:gd name="T15" fmla="*/ 0 w 30"/>
              <a:gd name="T16" fmla="*/ 0 h 90"/>
              <a:gd name="T17" fmla="*/ 30 w 30"/>
              <a:gd name="T18" fmla="*/ 90 h 90"/>
            </a:gdLst>
            <a:ahLst/>
            <a:cxnLst>
              <a:cxn ang="T10">
                <a:pos x="T0" y="T1"/>
              </a:cxn>
              <a:cxn ang="T11">
                <a:pos x="T2" y="T3"/>
              </a:cxn>
              <a:cxn ang="T12">
                <a:pos x="T4" y="T5"/>
              </a:cxn>
              <a:cxn ang="T13">
                <a:pos x="T6" y="T7"/>
              </a:cxn>
              <a:cxn ang="T14">
                <a:pos x="T8" y="T9"/>
              </a:cxn>
            </a:cxnLst>
            <a:rect l="T15" t="T16" r="T17" b="T18"/>
            <a:pathLst>
              <a:path w="30" h="90">
                <a:moveTo>
                  <a:pt x="30" y="90"/>
                </a:moveTo>
                <a:lnTo>
                  <a:pt x="15" y="0"/>
                </a:lnTo>
                <a:lnTo>
                  <a:pt x="0" y="90"/>
                </a:lnTo>
                <a:lnTo>
                  <a:pt x="15" y="90"/>
                </a:lnTo>
                <a:lnTo>
                  <a:pt x="30" y="90"/>
                </a:lnTo>
                <a:close/>
              </a:path>
            </a:pathLst>
          </a:custGeom>
          <a:solidFill>
            <a:srgbClr val="000000"/>
          </a:solidFill>
          <a:ln w="0">
            <a:solidFill>
              <a:srgbClr val="000000"/>
            </a:solidFill>
            <a:round/>
            <a:headEnd/>
            <a:tailEnd/>
          </a:ln>
        </p:spPr>
        <p:txBody>
          <a:bodyPr/>
          <a:lstStyle/>
          <a:p>
            <a:endParaRPr lang="en-IN"/>
          </a:p>
        </p:txBody>
      </p:sp>
      <p:sp>
        <p:nvSpPr>
          <p:cNvPr id="62508" name="Freeform 45"/>
          <p:cNvSpPr>
            <a:spLocks/>
          </p:cNvSpPr>
          <p:nvPr/>
        </p:nvSpPr>
        <p:spPr bwMode="auto">
          <a:xfrm>
            <a:off x="1719263" y="3365500"/>
            <a:ext cx="381000" cy="166688"/>
          </a:xfrm>
          <a:custGeom>
            <a:avLst/>
            <a:gdLst>
              <a:gd name="T0" fmla="*/ 0 w 16"/>
              <a:gd name="T1" fmla="*/ 0 h 7"/>
              <a:gd name="T2" fmla="*/ 0 w 16"/>
              <a:gd name="T3" fmla="*/ 2147483647 h 7"/>
              <a:gd name="T4" fmla="*/ 0 w 16"/>
              <a:gd name="T5" fmla="*/ 2147483647 h 7"/>
              <a:gd name="T6" fmla="*/ 2147483647 w 16"/>
              <a:gd name="T7" fmla="*/ 2147483647 h 7"/>
              <a:gd name="T8" fmla="*/ 2147483647 w 16"/>
              <a:gd name="T9" fmla="*/ 2147483647 h 7"/>
              <a:gd name="T10" fmla="*/ 0 60000 65536"/>
              <a:gd name="T11" fmla="*/ 0 60000 65536"/>
              <a:gd name="T12" fmla="*/ 0 60000 65536"/>
              <a:gd name="T13" fmla="*/ 0 60000 65536"/>
              <a:gd name="T14" fmla="*/ 0 60000 65536"/>
              <a:gd name="T15" fmla="*/ 0 w 16"/>
              <a:gd name="T16" fmla="*/ 0 h 7"/>
              <a:gd name="T17" fmla="*/ 16 w 16"/>
              <a:gd name="T18" fmla="*/ 7 h 7"/>
            </a:gdLst>
            <a:ahLst/>
            <a:cxnLst>
              <a:cxn ang="T10">
                <a:pos x="T0" y="T1"/>
              </a:cxn>
              <a:cxn ang="T11">
                <a:pos x="T2" y="T3"/>
              </a:cxn>
              <a:cxn ang="T12">
                <a:pos x="T4" y="T5"/>
              </a:cxn>
              <a:cxn ang="T13">
                <a:pos x="T6" y="T7"/>
              </a:cxn>
              <a:cxn ang="T14">
                <a:pos x="T8" y="T9"/>
              </a:cxn>
            </a:cxnLst>
            <a:rect l="T15" t="T16" r="T17" b="T18"/>
            <a:pathLst>
              <a:path w="16" h="7">
                <a:moveTo>
                  <a:pt x="0" y="0"/>
                </a:moveTo>
                <a:lnTo>
                  <a:pt x="0" y="2"/>
                </a:lnTo>
                <a:lnTo>
                  <a:pt x="0" y="7"/>
                </a:lnTo>
                <a:lnTo>
                  <a:pt x="7" y="7"/>
                </a:lnTo>
                <a:lnTo>
                  <a:pt x="16" y="7"/>
                </a:lnTo>
              </a:path>
            </a:pathLst>
          </a:custGeom>
          <a:noFill/>
          <a:ln w="23813">
            <a:solidFill>
              <a:srgbClr val="000000"/>
            </a:solidFill>
            <a:round/>
            <a:headEnd/>
            <a:tailEnd/>
          </a:ln>
        </p:spPr>
        <p:txBody>
          <a:bodyPr/>
          <a:lstStyle/>
          <a:p>
            <a:endParaRPr lang="en-IN"/>
          </a:p>
        </p:txBody>
      </p:sp>
      <p:sp>
        <p:nvSpPr>
          <p:cNvPr id="62509" name="Rectangle 46"/>
          <p:cNvSpPr>
            <a:spLocks noChangeArrowheads="1"/>
          </p:cNvSpPr>
          <p:nvPr/>
        </p:nvSpPr>
        <p:spPr bwMode="auto">
          <a:xfrm>
            <a:off x="1600200" y="2698750"/>
            <a:ext cx="120650" cy="258763"/>
          </a:xfrm>
          <a:prstGeom prst="rect">
            <a:avLst/>
          </a:prstGeom>
          <a:noFill/>
          <a:ln w="9525">
            <a:noFill/>
            <a:miter lim="800000"/>
            <a:headEnd/>
            <a:tailEnd/>
          </a:ln>
        </p:spPr>
        <p:txBody>
          <a:bodyPr wrap="none" lIns="0" tIns="0" rIns="0" bIns="0">
            <a:spAutoFit/>
          </a:bodyPr>
          <a:lstStyle/>
          <a:p>
            <a:r>
              <a:rPr lang="en-CA" altLang="zh-CN" sz="1700" i="1">
                <a:solidFill>
                  <a:srgbClr val="000000"/>
                </a:solidFill>
                <a:latin typeface="Nimbus Roman No9 L" charset="0"/>
                <a:ea typeface="SimSun" pitchFamily="2" charset="-122"/>
              </a:rPr>
              <a:t>b</a:t>
            </a:r>
            <a:endParaRPr lang="en-CA" altLang="zh-CN" sz="2400">
              <a:latin typeface="Times New Roman" pitchFamily="18" charset="0"/>
              <a:ea typeface="SimSun" pitchFamily="2" charset="-122"/>
            </a:endParaRPr>
          </a:p>
        </p:txBody>
      </p:sp>
      <p:sp>
        <p:nvSpPr>
          <p:cNvPr id="62510" name="Rectangle 47"/>
          <p:cNvSpPr>
            <a:spLocks noChangeArrowheads="1"/>
          </p:cNvSpPr>
          <p:nvPr/>
        </p:nvSpPr>
        <p:spPr bwMode="auto">
          <a:xfrm>
            <a:off x="1719263" y="2817813"/>
            <a:ext cx="184150"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31</a:t>
            </a:r>
            <a:endParaRPr lang="en-CA" altLang="zh-CN" sz="2400">
              <a:latin typeface="Times New Roman" pitchFamily="18" charset="0"/>
              <a:ea typeface="SimSun" pitchFamily="2" charset="-122"/>
            </a:endParaRPr>
          </a:p>
        </p:txBody>
      </p:sp>
      <p:sp>
        <p:nvSpPr>
          <p:cNvPr id="62511" name="Rectangle 48"/>
          <p:cNvSpPr>
            <a:spLocks noChangeArrowheads="1"/>
          </p:cNvSpPr>
          <p:nvPr/>
        </p:nvSpPr>
        <p:spPr bwMode="auto">
          <a:xfrm>
            <a:off x="2052638" y="2698750"/>
            <a:ext cx="120650" cy="258763"/>
          </a:xfrm>
          <a:prstGeom prst="rect">
            <a:avLst/>
          </a:prstGeom>
          <a:noFill/>
          <a:ln w="9525">
            <a:noFill/>
            <a:miter lim="800000"/>
            <a:headEnd/>
            <a:tailEnd/>
          </a:ln>
        </p:spPr>
        <p:txBody>
          <a:bodyPr wrap="none" lIns="0" tIns="0" rIns="0" bIns="0">
            <a:spAutoFit/>
          </a:bodyPr>
          <a:lstStyle/>
          <a:p>
            <a:r>
              <a:rPr lang="en-CA" altLang="zh-CN" sz="1700" i="1">
                <a:solidFill>
                  <a:srgbClr val="000000"/>
                </a:solidFill>
                <a:latin typeface="Nimbus Roman No9 L" charset="0"/>
                <a:ea typeface="SimSun" pitchFamily="2" charset="-122"/>
              </a:rPr>
              <a:t>b</a:t>
            </a:r>
            <a:endParaRPr lang="en-CA" altLang="zh-CN" sz="2400">
              <a:latin typeface="Times New Roman" pitchFamily="18" charset="0"/>
              <a:ea typeface="SimSun" pitchFamily="2" charset="-122"/>
            </a:endParaRPr>
          </a:p>
        </p:txBody>
      </p:sp>
      <p:sp>
        <p:nvSpPr>
          <p:cNvPr id="62512" name="Rectangle 49"/>
          <p:cNvSpPr>
            <a:spLocks noChangeArrowheads="1"/>
          </p:cNvSpPr>
          <p:nvPr/>
        </p:nvSpPr>
        <p:spPr bwMode="auto">
          <a:xfrm>
            <a:off x="2171700" y="2817813"/>
            <a:ext cx="184150"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30</a:t>
            </a:r>
            <a:endParaRPr lang="en-CA" altLang="zh-CN" sz="2400">
              <a:latin typeface="Times New Roman" pitchFamily="18" charset="0"/>
              <a:ea typeface="SimSun" pitchFamily="2" charset="-122"/>
            </a:endParaRPr>
          </a:p>
        </p:txBody>
      </p:sp>
      <p:sp>
        <p:nvSpPr>
          <p:cNvPr id="62513" name="Rectangle 50"/>
          <p:cNvSpPr>
            <a:spLocks noChangeArrowheads="1"/>
          </p:cNvSpPr>
          <p:nvPr/>
        </p:nvSpPr>
        <p:spPr bwMode="auto">
          <a:xfrm>
            <a:off x="6881813" y="2698750"/>
            <a:ext cx="120650" cy="258763"/>
          </a:xfrm>
          <a:prstGeom prst="rect">
            <a:avLst/>
          </a:prstGeom>
          <a:noFill/>
          <a:ln w="9525">
            <a:noFill/>
            <a:miter lim="800000"/>
            <a:headEnd/>
            <a:tailEnd/>
          </a:ln>
        </p:spPr>
        <p:txBody>
          <a:bodyPr wrap="none" lIns="0" tIns="0" rIns="0" bIns="0">
            <a:spAutoFit/>
          </a:bodyPr>
          <a:lstStyle/>
          <a:p>
            <a:r>
              <a:rPr lang="en-CA" altLang="zh-CN" sz="1700" i="1">
                <a:solidFill>
                  <a:srgbClr val="000000"/>
                </a:solidFill>
                <a:latin typeface="Nimbus Roman No9 L" charset="0"/>
                <a:ea typeface="SimSun" pitchFamily="2" charset="-122"/>
              </a:rPr>
              <a:t>b</a:t>
            </a:r>
            <a:endParaRPr lang="en-CA" altLang="zh-CN" sz="2400">
              <a:latin typeface="Times New Roman" pitchFamily="18" charset="0"/>
              <a:ea typeface="SimSun" pitchFamily="2" charset="-122"/>
            </a:endParaRPr>
          </a:p>
        </p:txBody>
      </p:sp>
      <p:sp>
        <p:nvSpPr>
          <p:cNvPr id="62514" name="Rectangle 51"/>
          <p:cNvSpPr>
            <a:spLocks noChangeArrowheads="1"/>
          </p:cNvSpPr>
          <p:nvPr/>
        </p:nvSpPr>
        <p:spPr bwMode="auto">
          <a:xfrm>
            <a:off x="7000875" y="281781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1</a:t>
            </a:r>
            <a:endParaRPr lang="en-CA" altLang="zh-CN" sz="2400">
              <a:latin typeface="Times New Roman" pitchFamily="18" charset="0"/>
              <a:ea typeface="SimSun" pitchFamily="2" charset="-122"/>
            </a:endParaRPr>
          </a:p>
        </p:txBody>
      </p:sp>
      <p:sp>
        <p:nvSpPr>
          <p:cNvPr id="62515" name="Rectangle 52"/>
          <p:cNvSpPr>
            <a:spLocks noChangeArrowheads="1"/>
          </p:cNvSpPr>
          <p:nvPr/>
        </p:nvSpPr>
        <p:spPr bwMode="auto">
          <a:xfrm>
            <a:off x="7334250" y="2698750"/>
            <a:ext cx="120650" cy="258763"/>
          </a:xfrm>
          <a:prstGeom prst="rect">
            <a:avLst/>
          </a:prstGeom>
          <a:noFill/>
          <a:ln w="9525">
            <a:noFill/>
            <a:miter lim="800000"/>
            <a:headEnd/>
            <a:tailEnd/>
          </a:ln>
        </p:spPr>
        <p:txBody>
          <a:bodyPr wrap="none" lIns="0" tIns="0" rIns="0" bIns="0">
            <a:spAutoFit/>
          </a:bodyPr>
          <a:lstStyle/>
          <a:p>
            <a:r>
              <a:rPr lang="en-CA" altLang="zh-CN" sz="1700" i="1">
                <a:solidFill>
                  <a:srgbClr val="000000"/>
                </a:solidFill>
                <a:latin typeface="Nimbus Roman No9 L" charset="0"/>
                <a:ea typeface="SimSun" pitchFamily="2" charset="-122"/>
              </a:rPr>
              <a:t>b</a:t>
            </a:r>
            <a:endParaRPr lang="en-CA" altLang="zh-CN" sz="2400">
              <a:latin typeface="Times New Roman" pitchFamily="18" charset="0"/>
              <a:ea typeface="SimSun" pitchFamily="2" charset="-122"/>
            </a:endParaRPr>
          </a:p>
        </p:txBody>
      </p:sp>
      <p:sp>
        <p:nvSpPr>
          <p:cNvPr id="62516" name="Rectangle 53"/>
          <p:cNvSpPr>
            <a:spLocks noChangeArrowheads="1"/>
          </p:cNvSpPr>
          <p:nvPr/>
        </p:nvSpPr>
        <p:spPr bwMode="auto">
          <a:xfrm>
            <a:off x="7453313" y="281781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0</a:t>
            </a:r>
            <a:endParaRPr lang="en-CA" altLang="zh-CN" sz="2400">
              <a:latin typeface="Times New Roman" pitchFamily="18" charset="0"/>
              <a:ea typeface="SimSun" pitchFamily="2" charset="-122"/>
            </a:endParaRPr>
          </a:p>
        </p:txBody>
      </p:sp>
      <p:sp>
        <p:nvSpPr>
          <p:cNvPr id="62517" name="Rectangle 54"/>
          <p:cNvSpPr>
            <a:spLocks noChangeArrowheads="1"/>
          </p:cNvSpPr>
          <p:nvPr/>
        </p:nvSpPr>
        <p:spPr bwMode="auto">
          <a:xfrm>
            <a:off x="3146425" y="3365500"/>
            <a:ext cx="120650" cy="258763"/>
          </a:xfrm>
          <a:prstGeom prst="rect">
            <a:avLst/>
          </a:prstGeom>
          <a:noFill/>
          <a:ln w="9525">
            <a:noFill/>
            <a:miter lim="800000"/>
            <a:headEnd/>
            <a:tailEnd/>
          </a:ln>
        </p:spPr>
        <p:txBody>
          <a:bodyPr wrap="none" lIns="0" tIns="0" rIns="0" bIns="0">
            <a:spAutoFit/>
          </a:bodyPr>
          <a:lstStyle/>
          <a:p>
            <a:r>
              <a:rPr lang="en-CA" altLang="zh-CN" sz="1700" i="1">
                <a:solidFill>
                  <a:srgbClr val="000000"/>
                </a:solidFill>
                <a:latin typeface="Nimbus Roman No9 L" charset="0"/>
                <a:ea typeface="SimSun" pitchFamily="2" charset="-122"/>
              </a:rPr>
              <a:t>b</a:t>
            </a:r>
            <a:endParaRPr lang="en-CA" altLang="zh-CN" sz="2400">
              <a:latin typeface="Times New Roman" pitchFamily="18" charset="0"/>
              <a:ea typeface="SimSun" pitchFamily="2" charset="-122"/>
            </a:endParaRPr>
          </a:p>
        </p:txBody>
      </p:sp>
      <p:sp>
        <p:nvSpPr>
          <p:cNvPr id="62518" name="Rectangle 55"/>
          <p:cNvSpPr>
            <a:spLocks noChangeArrowheads="1"/>
          </p:cNvSpPr>
          <p:nvPr/>
        </p:nvSpPr>
        <p:spPr bwMode="auto">
          <a:xfrm>
            <a:off x="3265488" y="3482975"/>
            <a:ext cx="184150"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31</a:t>
            </a:r>
            <a:endParaRPr lang="en-CA" altLang="zh-CN" sz="2400">
              <a:latin typeface="Times New Roman" pitchFamily="18" charset="0"/>
              <a:ea typeface="SimSun" pitchFamily="2" charset="-122"/>
            </a:endParaRPr>
          </a:p>
        </p:txBody>
      </p:sp>
      <p:sp>
        <p:nvSpPr>
          <p:cNvPr id="62519" name="Rectangle 56"/>
          <p:cNvSpPr>
            <a:spLocks noChangeArrowheads="1"/>
          </p:cNvSpPr>
          <p:nvPr/>
        </p:nvSpPr>
        <p:spPr bwMode="auto">
          <a:xfrm>
            <a:off x="3670300" y="3365500"/>
            <a:ext cx="120650" cy="258763"/>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0</a:t>
            </a:r>
            <a:endParaRPr lang="en-CA" altLang="zh-CN" sz="2400">
              <a:latin typeface="Times New Roman" pitchFamily="18" charset="0"/>
              <a:ea typeface="SimSun" pitchFamily="2" charset="-122"/>
            </a:endParaRPr>
          </a:p>
        </p:txBody>
      </p:sp>
      <p:sp>
        <p:nvSpPr>
          <p:cNvPr id="62520" name="Rectangle 57"/>
          <p:cNvSpPr>
            <a:spLocks noChangeArrowheads="1"/>
          </p:cNvSpPr>
          <p:nvPr/>
        </p:nvSpPr>
        <p:spPr bwMode="auto">
          <a:xfrm>
            <a:off x="3432175" y="3365500"/>
            <a:ext cx="125413" cy="258763"/>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2521" name="Rectangle 58"/>
          <p:cNvSpPr>
            <a:spLocks noChangeArrowheads="1"/>
          </p:cNvSpPr>
          <p:nvPr/>
        </p:nvSpPr>
        <p:spPr bwMode="auto">
          <a:xfrm>
            <a:off x="3146425" y="3673475"/>
            <a:ext cx="120650" cy="258763"/>
          </a:xfrm>
          <a:prstGeom prst="rect">
            <a:avLst/>
          </a:prstGeom>
          <a:noFill/>
          <a:ln w="9525">
            <a:noFill/>
            <a:miter lim="800000"/>
            <a:headEnd/>
            <a:tailEnd/>
          </a:ln>
        </p:spPr>
        <p:txBody>
          <a:bodyPr wrap="none" lIns="0" tIns="0" rIns="0" bIns="0">
            <a:spAutoFit/>
          </a:bodyPr>
          <a:lstStyle/>
          <a:p>
            <a:r>
              <a:rPr lang="en-CA" altLang="zh-CN" sz="1700" i="1">
                <a:solidFill>
                  <a:srgbClr val="000000"/>
                </a:solidFill>
                <a:latin typeface="Nimbus Roman No9 L" charset="0"/>
                <a:ea typeface="SimSun" pitchFamily="2" charset="-122"/>
              </a:rPr>
              <a:t>b</a:t>
            </a:r>
            <a:endParaRPr lang="en-CA" altLang="zh-CN" sz="2400">
              <a:latin typeface="Times New Roman" pitchFamily="18" charset="0"/>
              <a:ea typeface="SimSun" pitchFamily="2" charset="-122"/>
            </a:endParaRPr>
          </a:p>
        </p:txBody>
      </p:sp>
      <p:sp>
        <p:nvSpPr>
          <p:cNvPr id="62522" name="Rectangle 59"/>
          <p:cNvSpPr>
            <a:spLocks noChangeArrowheads="1"/>
          </p:cNvSpPr>
          <p:nvPr/>
        </p:nvSpPr>
        <p:spPr bwMode="auto">
          <a:xfrm>
            <a:off x="3265488" y="3792538"/>
            <a:ext cx="184150"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31</a:t>
            </a:r>
            <a:endParaRPr lang="en-CA" altLang="zh-CN" sz="2400">
              <a:latin typeface="Times New Roman" pitchFamily="18" charset="0"/>
              <a:ea typeface="SimSun" pitchFamily="2" charset="-122"/>
            </a:endParaRPr>
          </a:p>
        </p:txBody>
      </p:sp>
      <p:sp>
        <p:nvSpPr>
          <p:cNvPr id="62523" name="Rectangle 60"/>
          <p:cNvSpPr>
            <a:spLocks noChangeArrowheads="1"/>
          </p:cNvSpPr>
          <p:nvPr/>
        </p:nvSpPr>
        <p:spPr bwMode="auto">
          <a:xfrm>
            <a:off x="3670300" y="3673475"/>
            <a:ext cx="120650" cy="258763"/>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1</a:t>
            </a:r>
            <a:endParaRPr lang="en-CA" altLang="zh-CN" sz="2400">
              <a:latin typeface="Times New Roman" pitchFamily="18" charset="0"/>
              <a:ea typeface="SimSun" pitchFamily="2" charset="-122"/>
            </a:endParaRPr>
          </a:p>
        </p:txBody>
      </p:sp>
      <p:sp>
        <p:nvSpPr>
          <p:cNvPr id="62524" name="Rectangle 61"/>
          <p:cNvSpPr>
            <a:spLocks noChangeArrowheads="1"/>
          </p:cNvSpPr>
          <p:nvPr/>
        </p:nvSpPr>
        <p:spPr bwMode="auto">
          <a:xfrm>
            <a:off x="3432175" y="3673475"/>
            <a:ext cx="125413" cy="258763"/>
          </a:xfrm>
          <a:prstGeom prst="rect">
            <a:avLst/>
          </a:prstGeom>
          <a:noFill/>
          <a:ln w="9525">
            <a:noFill/>
            <a:miter lim="800000"/>
            <a:headEnd/>
            <a:tailEnd/>
          </a:ln>
        </p:spPr>
        <p:txBody>
          <a:bodyPr wrap="none" lIns="0" tIns="0" rIns="0" bIns="0">
            <a:spAutoFit/>
          </a:bodyPr>
          <a:lstStyle/>
          <a:p>
            <a:r>
              <a:rPr lang="en-CA" altLang="zh-CN" sz="17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2525" name="Freeform 62"/>
          <p:cNvSpPr>
            <a:spLocks/>
          </p:cNvSpPr>
          <p:nvPr/>
        </p:nvSpPr>
        <p:spPr bwMode="auto">
          <a:xfrm>
            <a:off x="6881813" y="5697538"/>
            <a:ext cx="690562" cy="119062"/>
          </a:xfrm>
          <a:custGeom>
            <a:avLst/>
            <a:gdLst>
              <a:gd name="T0" fmla="*/ 2147483647 w 29"/>
              <a:gd name="T1" fmla="*/ 0 h 5"/>
              <a:gd name="T2" fmla="*/ 2147483647 w 29"/>
              <a:gd name="T3" fmla="*/ 2147483647 h 5"/>
              <a:gd name="T4" fmla="*/ 2147483647 w 29"/>
              <a:gd name="T5" fmla="*/ 2147483647 h 5"/>
              <a:gd name="T6" fmla="*/ 2147483647 w 29"/>
              <a:gd name="T7" fmla="*/ 2147483647 h 5"/>
              <a:gd name="T8" fmla="*/ 2147483647 w 29"/>
              <a:gd name="T9" fmla="*/ 2147483647 h 5"/>
              <a:gd name="T10" fmla="*/ 2147483647 w 29"/>
              <a:gd name="T11" fmla="*/ 2147483647 h 5"/>
              <a:gd name="T12" fmla="*/ 2147483647 w 29"/>
              <a:gd name="T13" fmla="*/ 2147483647 h 5"/>
              <a:gd name="T14" fmla="*/ 2147483647 w 29"/>
              <a:gd name="T15" fmla="*/ 2147483647 h 5"/>
              <a:gd name="T16" fmla="*/ 2147483647 w 29"/>
              <a:gd name="T17" fmla="*/ 2147483647 h 5"/>
              <a:gd name="T18" fmla="*/ 2147483647 w 29"/>
              <a:gd name="T19" fmla="*/ 2147483647 h 5"/>
              <a:gd name="T20" fmla="*/ 2147483647 w 29"/>
              <a:gd name="T21" fmla="*/ 2147483647 h 5"/>
              <a:gd name="T22" fmla="*/ 2147483647 w 29"/>
              <a:gd name="T23" fmla="*/ 2147483647 h 5"/>
              <a:gd name="T24" fmla="*/ 2147483647 w 29"/>
              <a:gd name="T25" fmla="*/ 2147483647 h 5"/>
              <a:gd name="T26" fmla="*/ 2147483647 w 29"/>
              <a:gd name="T27" fmla="*/ 2147483647 h 5"/>
              <a:gd name="T28" fmla="*/ 0 w 29"/>
              <a:gd name="T29" fmla="*/ 2147483647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29" y="0"/>
                </a:moveTo>
                <a:lnTo>
                  <a:pt x="28" y="1"/>
                </a:lnTo>
                <a:lnTo>
                  <a:pt x="27" y="2"/>
                </a:lnTo>
                <a:lnTo>
                  <a:pt x="26" y="2"/>
                </a:lnTo>
                <a:lnTo>
                  <a:pt x="18" y="2"/>
                </a:lnTo>
                <a:lnTo>
                  <a:pt x="15" y="2"/>
                </a:lnTo>
                <a:lnTo>
                  <a:pt x="11" y="2"/>
                </a:lnTo>
                <a:lnTo>
                  <a:pt x="3" y="2"/>
                </a:lnTo>
                <a:lnTo>
                  <a:pt x="2" y="2"/>
                </a:lnTo>
                <a:lnTo>
                  <a:pt x="1" y="3"/>
                </a:lnTo>
                <a:lnTo>
                  <a:pt x="0" y="5"/>
                </a:lnTo>
              </a:path>
            </a:pathLst>
          </a:custGeom>
          <a:noFill/>
          <a:ln w="23813">
            <a:solidFill>
              <a:srgbClr val="000000"/>
            </a:solidFill>
            <a:round/>
            <a:headEnd/>
            <a:tailEnd/>
          </a:ln>
        </p:spPr>
        <p:txBody>
          <a:bodyPr/>
          <a:lstStyle/>
          <a:p>
            <a:endParaRPr lang="en-IN"/>
          </a:p>
        </p:txBody>
      </p:sp>
      <p:sp>
        <p:nvSpPr>
          <p:cNvPr id="62526" name="Freeform 63"/>
          <p:cNvSpPr>
            <a:spLocks/>
          </p:cNvSpPr>
          <p:nvPr/>
        </p:nvSpPr>
        <p:spPr bwMode="auto">
          <a:xfrm>
            <a:off x="6216650" y="5697538"/>
            <a:ext cx="665163" cy="119062"/>
          </a:xfrm>
          <a:custGeom>
            <a:avLst/>
            <a:gdLst>
              <a:gd name="T0" fmla="*/ 0 w 28"/>
              <a:gd name="T1" fmla="*/ 0 h 5"/>
              <a:gd name="T2" fmla="*/ 0 w 28"/>
              <a:gd name="T3" fmla="*/ 2147483647 h 5"/>
              <a:gd name="T4" fmla="*/ 2147483647 w 28"/>
              <a:gd name="T5" fmla="*/ 2147483647 h 5"/>
              <a:gd name="T6" fmla="*/ 2147483647 w 28"/>
              <a:gd name="T7" fmla="*/ 2147483647 h 5"/>
              <a:gd name="T8" fmla="*/ 2147483647 w 28"/>
              <a:gd name="T9" fmla="*/ 2147483647 h 5"/>
              <a:gd name="T10" fmla="*/ 2147483647 w 28"/>
              <a:gd name="T11" fmla="*/ 2147483647 h 5"/>
              <a:gd name="T12" fmla="*/ 2147483647 w 28"/>
              <a:gd name="T13" fmla="*/ 2147483647 h 5"/>
              <a:gd name="T14" fmla="*/ 2147483647 w 28"/>
              <a:gd name="T15" fmla="*/ 2147483647 h 5"/>
              <a:gd name="T16" fmla="*/ 2147483647 w 28"/>
              <a:gd name="T17" fmla="*/ 2147483647 h 5"/>
              <a:gd name="T18" fmla="*/ 2147483647 w 28"/>
              <a:gd name="T19" fmla="*/ 2147483647 h 5"/>
              <a:gd name="T20" fmla="*/ 2147483647 w 28"/>
              <a:gd name="T21" fmla="*/ 2147483647 h 5"/>
              <a:gd name="T22" fmla="*/ 2147483647 w 28"/>
              <a:gd name="T23" fmla="*/ 2147483647 h 5"/>
              <a:gd name="T24" fmla="*/ 2147483647 w 28"/>
              <a:gd name="T25" fmla="*/ 2147483647 h 5"/>
              <a:gd name="T26" fmla="*/ 2147483647 w 28"/>
              <a:gd name="T27" fmla="*/ 2147483647 h 5"/>
              <a:gd name="T28" fmla="*/ 2147483647 w 28"/>
              <a:gd name="T29" fmla="*/ 2147483647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5"/>
              <a:gd name="T47" fmla="*/ 28 w 28"/>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5">
                <a:moveTo>
                  <a:pt x="0" y="0"/>
                </a:moveTo>
                <a:lnTo>
                  <a:pt x="0" y="1"/>
                </a:lnTo>
                <a:lnTo>
                  <a:pt x="1" y="2"/>
                </a:lnTo>
                <a:lnTo>
                  <a:pt x="2" y="2"/>
                </a:lnTo>
                <a:lnTo>
                  <a:pt x="10" y="2"/>
                </a:lnTo>
                <a:lnTo>
                  <a:pt x="14" y="2"/>
                </a:lnTo>
                <a:lnTo>
                  <a:pt x="18" y="2"/>
                </a:lnTo>
                <a:lnTo>
                  <a:pt x="26" y="2"/>
                </a:lnTo>
                <a:lnTo>
                  <a:pt x="27" y="2"/>
                </a:lnTo>
                <a:lnTo>
                  <a:pt x="27" y="3"/>
                </a:lnTo>
                <a:lnTo>
                  <a:pt x="28" y="5"/>
                </a:lnTo>
              </a:path>
            </a:pathLst>
          </a:custGeom>
          <a:noFill/>
          <a:ln w="23813">
            <a:solidFill>
              <a:srgbClr val="000000"/>
            </a:solidFill>
            <a:round/>
            <a:headEnd/>
            <a:tailEnd/>
          </a:ln>
        </p:spPr>
        <p:txBody>
          <a:bodyPr/>
          <a:lstStyle/>
          <a:p>
            <a:endParaRPr lang="en-IN"/>
          </a:p>
        </p:txBody>
      </p:sp>
      <p:sp>
        <p:nvSpPr>
          <p:cNvPr id="62527" name="Freeform 64"/>
          <p:cNvSpPr>
            <a:spLocks/>
          </p:cNvSpPr>
          <p:nvPr/>
        </p:nvSpPr>
        <p:spPr bwMode="auto">
          <a:xfrm>
            <a:off x="5335588" y="5697538"/>
            <a:ext cx="690562" cy="119062"/>
          </a:xfrm>
          <a:custGeom>
            <a:avLst/>
            <a:gdLst>
              <a:gd name="T0" fmla="*/ 2147483647 w 29"/>
              <a:gd name="T1" fmla="*/ 0 h 5"/>
              <a:gd name="T2" fmla="*/ 2147483647 w 29"/>
              <a:gd name="T3" fmla="*/ 2147483647 h 5"/>
              <a:gd name="T4" fmla="*/ 2147483647 w 29"/>
              <a:gd name="T5" fmla="*/ 2147483647 h 5"/>
              <a:gd name="T6" fmla="*/ 2147483647 w 29"/>
              <a:gd name="T7" fmla="*/ 2147483647 h 5"/>
              <a:gd name="T8" fmla="*/ 2147483647 w 29"/>
              <a:gd name="T9" fmla="*/ 2147483647 h 5"/>
              <a:gd name="T10" fmla="*/ 2147483647 w 29"/>
              <a:gd name="T11" fmla="*/ 2147483647 h 5"/>
              <a:gd name="T12" fmla="*/ 2147483647 w 29"/>
              <a:gd name="T13" fmla="*/ 2147483647 h 5"/>
              <a:gd name="T14" fmla="*/ 2147483647 w 29"/>
              <a:gd name="T15" fmla="*/ 2147483647 h 5"/>
              <a:gd name="T16" fmla="*/ 2147483647 w 29"/>
              <a:gd name="T17" fmla="*/ 2147483647 h 5"/>
              <a:gd name="T18" fmla="*/ 2147483647 w 29"/>
              <a:gd name="T19" fmla="*/ 2147483647 h 5"/>
              <a:gd name="T20" fmla="*/ 2147483647 w 29"/>
              <a:gd name="T21" fmla="*/ 2147483647 h 5"/>
              <a:gd name="T22" fmla="*/ 2147483647 w 29"/>
              <a:gd name="T23" fmla="*/ 2147483647 h 5"/>
              <a:gd name="T24" fmla="*/ 2147483647 w 29"/>
              <a:gd name="T25" fmla="*/ 2147483647 h 5"/>
              <a:gd name="T26" fmla="*/ 2147483647 w 29"/>
              <a:gd name="T27" fmla="*/ 2147483647 h 5"/>
              <a:gd name="T28" fmla="*/ 0 w 29"/>
              <a:gd name="T29" fmla="*/ 2147483647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29" y="0"/>
                </a:moveTo>
                <a:lnTo>
                  <a:pt x="28" y="1"/>
                </a:lnTo>
                <a:lnTo>
                  <a:pt x="28" y="2"/>
                </a:lnTo>
                <a:lnTo>
                  <a:pt x="27" y="2"/>
                </a:lnTo>
                <a:lnTo>
                  <a:pt x="26" y="2"/>
                </a:lnTo>
                <a:lnTo>
                  <a:pt x="18" y="2"/>
                </a:lnTo>
                <a:lnTo>
                  <a:pt x="15" y="2"/>
                </a:lnTo>
                <a:lnTo>
                  <a:pt x="11" y="2"/>
                </a:lnTo>
                <a:lnTo>
                  <a:pt x="3" y="2"/>
                </a:lnTo>
                <a:lnTo>
                  <a:pt x="2" y="2"/>
                </a:lnTo>
                <a:lnTo>
                  <a:pt x="1" y="3"/>
                </a:lnTo>
                <a:lnTo>
                  <a:pt x="0" y="5"/>
                </a:lnTo>
              </a:path>
            </a:pathLst>
          </a:custGeom>
          <a:noFill/>
          <a:ln w="23813">
            <a:solidFill>
              <a:srgbClr val="000000"/>
            </a:solidFill>
            <a:round/>
            <a:headEnd/>
            <a:tailEnd/>
          </a:ln>
        </p:spPr>
        <p:txBody>
          <a:bodyPr/>
          <a:lstStyle/>
          <a:p>
            <a:endParaRPr lang="en-IN"/>
          </a:p>
        </p:txBody>
      </p:sp>
      <p:sp>
        <p:nvSpPr>
          <p:cNvPr id="62528" name="Freeform 65"/>
          <p:cNvSpPr>
            <a:spLocks/>
          </p:cNvSpPr>
          <p:nvPr/>
        </p:nvSpPr>
        <p:spPr bwMode="auto">
          <a:xfrm>
            <a:off x="4668838" y="5697538"/>
            <a:ext cx="666750" cy="119062"/>
          </a:xfrm>
          <a:custGeom>
            <a:avLst/>
            <a:gdLst>
              <a:gd name="T0" fmla="*/ 0 w 28"/>
              <a:gd name="T1" fmla="*/ 0 h 5"/>
              <a:gd name="T2" fmla="*/ 2147483647 w 28"/>
              <a:gd name="T3" fmla="*/ 2147483647 h 5"/>
              <a:gd name="T4" fmla="*/ 2147483647 w 28"/>
              <a:gd name="T5" fmla="*/ 2147483647 h 5"/>
              <a:gd name="T6" fmla="*/ 2147483647 w 28"/>
              <a:gd name="T7" fmla="*/ 2147483647 h 5"/>
              <a:gd name="T8" fmla="*/ 2147483647 w 28"/>
              <a:gd name="T9" fmla="*/ 2147483647 h 5"/>
              <a:gd name="T10" fmla="*/ 2147483647 w 28"/>
              <a:gd name="T11" fmla="*/ 2147483647 h 5"/>
              <a:gd name="T12" fmla="*/ 2147483647 w 28"/>
              <a:gd name="T13" fmla="*/ 2147483647 h 5"/>
              <a:gd name="T14" fmla="*/ 2147483647 w 28"/>
              <a:gd name="T15" fmla="*/ 2147483647 h 5"/>
              <a:gd name="T16" fmla="*/ 2147483647 w 28"/>
              <a:gd name="T17" fmla="*/ 2147483647 h 5"/>
              <a:gd name="T18" fmla="*/ 2147483647 w 28"/>
              <a:gd name="T19" fmla="*/ 2147483647 h 5"/>
              <a:gd name="T20" fmla="*/ 2147483647 w 28"/>
              <a:gd name="T21" fmla="*/ 2147483647 h 5"/>
              <a:gd name="T22" fmla="*/ 2147483647 w 28"/>
              <a:gd name="T23" fmla="*/ 2147483647 h 5"/>
              <a:gd name="T24" fmla="*/ 2147483647 w 28"/>
              <a:gd name="T25" fmla="*/ 2147483647 h 5"/>
              <a:gd name="T26" fmla="*/ 2147483647 w 28"/>
              <a:gd name="T27" fmla="*/ 2147483647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
              <a:gd name="T43" fmla="*/ 0 h 5"/>
              <a:gd name="T44" fmla="*/ 28 w 28"/>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 h="5">
                <a:moveTo>
                  <a:pt x="0" y="0"/>
                </a:moveTo>
                <a:lnTo>
                  <a:pt x="1" y="1"/>
                </a:lnTo>
                <a:lnTo>
                  <a:pt x="1" y="2"/>
                </a:lnTo>
                <a:lnTo>
                  <a:pt x="2" y="2"/>
                </a:lnTo>
                <a:lnTo>
                  <a:pt x="3" y="2"/>
                </a:lnTo>
                <a:lnTo>
                  <a:pt x="10" y="2"/>
                </a:lnTo>
                <a:lnTo>
                  <a:pt x="14" y="2"/>
                </a:lnTo>
                <a:lnTo>
                  <a:pt x="18" y="2"/>
                </a:lnTo>
                <a:lnTo>
                  <a:pt x="26" y="2"/>
                </a:lnTo>
                <a:lnTo>
                  <a:pt x="27" y="2"/>
                </a:lnTo>
                <a:lnTo>
                  <a:pt x="27" y="3"/>
                </a:lnTo>
                <a:lnTo>
                  <a:pt x="28" y="5"/>
                </a:lnTo>
              </a:path>
            </a:pathLst>
          </a:custGeom>
          <a:noFill/>
          <a:ln w="23813">
            <a:solidFill>
              <a:srgbClr val="000000"/>
            </a:solidFill>
            <a:round/>
            <a:headEnd/>
            <a:tailEnd/>
          </a:ln>
        </p:spPr>
        <p:txBody>
          <a:bodyPr/>
          <a:lstStyle/>
          <a:p>
            <a:endParaRPr lang="en-IN"/>
          </a:p>
        </p:txBody>
      </p:sp>
      <p:sp>
        <p:nvSpPr>
          <p:cNvPr id="62529" name="Freeform 66"/>
          <p:cNvSpPr>
            <a:spLocks/>
          </p:cNvSpPr>
          <p:nvPr/>
        </p:nvSpPr>
        <p:spPr bwMode="auto">
          <a:xfrm>
            <a:off x="3813175" y="5697538"/>
            <a:ext cx="666750" cy="119062"/>
          </a:xfrm>
          <a:custGeom>
            <a:avLst/>
            <a:gdLst>
              <a:gd name="T0" fmla="*/ 2147483647 w 28"/>
              <a:gd name="T1" fmla="*/ 0 h 5"/>
              <a:gd name="T2" fmla="*/ 2147483647 w 28"/>
              <a:gd name="T3" fmla="*/ 2147483647 h 5"/>
              <a:gd name="T4" fmla="*/ 2147483647 w 28"/>
              <a:gd name="T5" fmla="*/ 2147483647 h 5"/>
              <a:gd name="T6" fmla="*/ 2147483647 w 28"/>
              <a:gd name="T7" fmla="*/ 2147483647 h 5"/>
              <a:gd name="T8" fmla="*/ 2147483647 w 28"/>
              <a:gd name="T9" fmla="*/ 2147483647 h 5"/>
              <a:gd name="T10" fmla="*/ 2147483647 w 28"/>
              <a:gd name="T11" fmla="*/ 2147483647 h 5"/>
              <a:gd name="T12" fmla="*/ 2147483647 w 28"/>
              <a:gd name="T13" fmla="*/ 2147483647 h 5"/>
              <a:gd name="T14" fmla="*/ 2147483647 w 28"/>
              <a:gd name="T15" fmla="*/ 2147483647 h 5"/>
              <a:gd name="T16" fmla="*/ 2147483647 w 28"/>
              <a:gd name="T17" fmla="*/ 2147483647 h 5"/>
              <a:gd name="T18" fmla="*/ 2147483647 w 28"/>
              <a:gd name="T19" fmla="*/ 2147483647 h 5"/>
              <a:gd name="T20" fmla="*/ 2147483647 w 28"/>
              <a:gd name="T21" fmla="*/ 2147483647 h 5"/>
              <a:gd name="T22" fmla="*/ 2147483647 w 28"/>
              <a:gd name="T23" fmla="*/ 2147483647 h 5"/>
              <a:gd name="T24" fmla="*/ 2147483647 w 28"/>
              <a:gd name="T25" fmla="*/ 2147483647 h 5"/>
              <a:gd name="T26" fmla="*/ 0 w 28"/>
              <a:gd name="T27" fmla="*/ 2147483647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
              <a:gd name="T43" fmla="*/ 0 h 5"/>
              <a:gd name="T44" fmla="*/ 28 w 28"/>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 h="5">
                <a:moveTo>
                  <a:pt x="28" y="0"/>
                </a:moveTo>
                <a:lnTo>
                  <a:pt x="27" y="1"/>
                </a:lnTo>
                <a:lnTo>
                  <a:pt x="27" y="2"/>
                </a:lnTo>
                <a:lnTo>
                  <a:pt x="26" y="2"/>
                </a:lnTo>
                <a:lnTo>
                  <a:pt x="25" y="2"/>
                </a:lnTo>
                <a:lnTo>
                  <a:pt x="18" y="2"/>
                </a:lnTo>
                <a:lnTo>
                  <a:pt x="14" y="2"/>
                </a:lnTo>
                <a:lnTo>
                  <a:pt x="10" y="2"/>
                </a:lnTo>
                <a:lnTo>
                  <a:pt x="2" y="2"/>
                </a:lnTo>
                <a:lnTo>
                  <a:pt x="1" y="2"/>
                </a:lnTo>
                <a:lnTo>
                  <a:pt x="1" y="3"/>
                </a:lnTo>
                <a:lnTo>
                  <a:pt x="0" y="5"/>
                </a:lnTo>
              </a:path>
            </a:pathLst>
          </a:custGeom>
          <a:noFill/>
          <a:ln w="23813">
            <a:solidFill>
              <a:srgbClr val="000000"/>
            </a:solidFill>
            <a:round/>
            <a:headEnd/>
            <a:tailEnd/>
          </a:ln>
        </p:spPr>
        <p:txBody>
          <a:bodyPr/>
          <a:lstStyle/>
          <a:p>
            <a:endParaRPr lang="en-IN"/>
          </a:p>
        </p:txBody>
      </p:sp>
      <p:sp>
        <p:nvSpPr>
          <p:cNvPr id="62530" name="Freeform 67"/>
          <p:cNvSpPr>
            <a:spLocks/>
          </p:cNvSpPr>
          <p:nvPr/>
        </p:nvSpPr>
        <p:spPr bwMode="auto">
          <a:xfrm>
            <a:off x="3122613" y="5697538"/>
            <a:ext cx="690562" cy="119062"/>
          </a:xfrm>
          <a:custGeom>
            <a:avLst/>
            <a:gdLst>
              <a:gd name="T0" fmla="*/ 0 w 29"/>
              <a:gd name="T1" fmla="*/ 0 h 5"/>
              <a:gd name="T2" fmla="*/ 2147483647 w 29"/>
              <a:gd name="T3" fmla="*/ 2147483647 h 5"/>
              <a:gd name="T4" fmla="*/ 2147483647 w 29"/>
              <a:gd name="T5" fmla="*/ 2147483647 h 5"/>
              <a:gd name="T6" fmla="*/ 2147483647 w 29"/>
              <a:gd name="T7" fmla="*/ 2147483647 h 5"/>
              <a:gd name="T8" fmla="*/ 2147483647 w 29"/>
              <a:gd name="T9" fmla="*/ 2147483647 h 5"/>
              <a:gd name="T10" fmla="*/ 2147483647 w 29"/>
              <a:gd name="T11" fmla="*/ 2147483647 h 5"/>
              <a:gd name="T12" fmla="*/ 2147483647 w 29"/>
              <a:gd name="T13" fmla="*/ 2147483647 h 5"/>
              <a:gd name="T14" fmla="*/ 2147483647 w 29"/>
              <a:gd name="T15" fmla="*/ 2147483647 h 5"/>
              <a:gd name="T16" fmla="*/ 2147483647 w 29"/>
              <a:gd name="T17" fmla="*/ 2147483647 h 5"/>
              <a:gd name="T18" fmla="*/ 2147483647 w 29"/>
              <a:gd name="T19" fmla="*/ 2147483647 h 5"/>
              <a:gd name="T20" fmla="*/ 2147483647 w 29"/>
              <a:gd name="T21" fmla="*/ 2147483647 h 5"/>
              <a:gd name="T22" fmla="*/ 2147483647 w 29"/>
              <a:gd name="T23" fmla="*/ 2147483647 h 5"/>
              <a:gd name="T24" fmla="*/ 2147483647 w 29"/>
              <a:gd name="T25" fmla="*/ 2147483647 h 5"/>
              <a:gd name="T26" fmla="*/ 2147483647 w 29"/>
              <a:gd name="T27" fmla="*/ 2147483647 h 5"/>
              <a:gd name="T28" fmla="*/ 2147483647 w 29"/>
              <a:gd name="T29" fmla="*/ 2147483647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0" y="0"/>
                </a:moveTo>
                <a:lnTo>
                  <a:pt x="1" y="1"/>
                </a:lnTo>
                <a:lnTo>
                  <a:pt x="1" y="2"/>
                </a:lnTo>
                <a:lnTo>
                  <a:pt x="2" y="2"/>
                </a:lnTo>
                <a:lnTo>
                  <a:pt x="3" y="2"/>
                </a:lnTo>
                <a:lnTo>
                  <a:pt x="11" y="2"/>
                </a:lnTo>
                <a:lnTo>
                  <a:pt x="14" y="2"/>
                </a:lnTo>
                <a:lnTo>
                  <a:pt x="18" y="2"/>
                </a:lnTo>
                <a:lnTo>
                  <a:pt x="26" y="2"/>
                </a:lnTo>
                <a:lnTo>
                  <a:pt x="27" y="2"/>
                </a:lnTo>
                <a:lnTo>
                  <a:pt x="28" y="3"/>
                </a:lnTo>
                <a:lnTo>
                  <a:pt x="29" y="5"/>
                </a:lnTo>
              </a:path>
            </a:pathLst>
          </a:custGeom>
          <a:noFill/>
          <a:ln w="23813">
            <a:solidFill>
              <a:srgbClr val="000000"/>
            </a:solidFill>
            <a:round/>
            <a:headEnd/>
            <a:tailEnd/>
          </a:ln>
        </p:spPr>
        <p:txBody>
          <a:bodyPr/>
          <a:lstStyle/>
          <a:p>
            <a:endParaRPr lang="en-IN"/>
          </a:p>
        </p:txBody>
      </p:sp>
      <p:sp>
        <p:nvSpPr>
          <p:cNvPr id="62531" name="Freeform 68"/>
          <p:cNvSpPr>
            <a:spLocks/>
          </p:cNvSpPr>
          <p:nvPr/>
        </p:nvSpPr>
        <p:spPr bwMode="auto">
          <a:xfrm>
            <a:off x="2266950" y="5697538"/>
            <a:ext cx="688975" cy="119062"/>
          </a:xfrm>
          <a:custGeom>
            <a:avLst/>
            <a:gdLst>
              <a:gd name="T0" fmla="*/ 2147483647 w 29"/>
              <a:gd name="T1" fmla="*/ 0 h 5"/>
              <a:gd name="T2" fmla="*/ 2147483647 w 29"/>
              <a:gd name="T3" fmla="*/ 2147483647 h 5"/>
              <a:gd name="T4" fmla="*/ 2147483647 w 29"/>
              <a:gd name="T5" fmla="*/ 2147483647 h 5"/>
              <a:gd name="T6" fmla="*/ 2147483647 w 29"/>
              <a:gd name="T7" fmla="*/ 2147483647 h 5"/>
              <a:gd name="T8" fmla="*/ 2147483647 w 29"/>
              <a:gd name="T9" fmla="*/ 2147483647 h 5"/>
              <a:gd name="T10" fmla="*/ 2147483647 w 29"/>
              <a:gd name="T11" fmla="*/ 2147483647 h 5"/>
              <a:gd name="T12" fmla="*/ 2147483647 w 29"/>
              <a:gd name="T13" fmla="*/ 2147483647 h 5"/>
              <a:gd name="T14" fmla="*/ 2147483647 w 29"/>
              <a:gd name="T15" fmla="*/ 2147483647 h 5"/>
              <a:gd name="T16" fmla="*/ 2147483647 w 29"/>
              <a:gd name="T17" fmla="*/ 2147483647 h 5"/>
              <a:gd name="T18" fmla="*/ 2147483647 w 29"/>
              <a:gd name="T19" fmla="*/ 2147483647 h 5"/>
              <a:gd name="T20" fmla="*/ 2147483647 w 29"/>
              <a:gd name="T21" fmla="*/ 2147483647 h 5"/>
              <a:gd name="T22" fmla="*/ 2147483647 w 29"/>
              <a:gd name="T23" fmla="*/ 2147483647 h 5"/>
              <a:gd name="T24" fmla="*/ 2147483647 w 29"/>
              <a:gd name="T25" fmla="*/ 2147483647 h 5"/>
              <a:gd name="T26" fmla="*/ 2147483647 w 29"/>
              <a:gd name="T27" fmla="*/ 2147483647 h 5"/>
              <a:gd name="T28" fmla="*/ 0 w 29"/>
              <a:gd name="T29" fmla="*/ 2147483647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29" y="0"/>
                </a:moveTo>
                <a:lnTo>
                  <a:pt x="28" y="1"/>
                </a:lnTo>
                <a:lnTo>
                  <a:pt x="27" y="2"/>
                </a:lnTo>
                <a:lnTo>
                  <a:pt x="26" y="2"/>
                </a:lnTo>
                <a:lnTo>
                  <a:pt x="18" y="2"/>
                </a:lnTo>
                <a:lnTo>
                  <a:pt x="14" y="2"/>
                </a:lnTo>
                <a:lnTo>
                  <a:pt x="11" y="2"/>
                </a:lnTo>
                <a:lnTo>
                  <a:pt x="3" y="2"/>
                </a:lnTo>
                <a:lnTo>
                  <a:pt x="2" y="2"/>
                </a:lnTo>
                <a:lnTo>
                  <a:pt x="1" y="2"/>
                </a:lnTo>
                <a:lnTo>
                  <a:pt x="1" y="3"/>
                </a:lnTo>
                <a:lnTo>
                  <a:pt x="0" y="5"/>
                </a:lnTo>
              </a:path>
            </a:pathLst>
          </a:custGeom>
          <a:noFill/>
          <a:ln w="23813">
            <a:solidFill>
              <a:srgbClr val="000000"/>
            </a:solidFill>
            <a:round/>
            <a:headEnd/>
            <a:tailEnd/>
          </a:ln>
        </p:spPr>
        <p:txBody>
          <a:bodyPr/>
          <a:lstStyle/>
          <a:p>
            <a:endParaRPr lang="en-IN"/>
          </a:p>
        </p:txBody>
      </p:sp>
      <p:sp>
        <p:nvSpPr>
          <p:cNvPr id="62532" name="Freeform 69"/>
          <p:cNvSpPr>
            <a:spLocks/>
          </p:cNvSpPr>
          <p:nvPr/>
        </p:nvSpPr>
        <p:spPr bwMode="auto">
          <a:xfrm>
            <a:off x="1576388" y="5697538"/>
            <a:ext cx="690562" cy="119062"/>
          </a:xfrm>
          <a:custGeom>
            <a:avLst/>
            <a:gdLst>
              <a:gd name="T0" fmla="*/ 0 w 29"/>
              <a:gd name="T1" fmla="*/ 0 h 5"/>
              <a:gd name="T2" fmla="*/ 2147483647 w 29"/>
              <a:gd name="T3" fmla="*/ 2147483647 h 5"/>
              <a:gd name="T4" fmla="*/ 2147483647 w 29"/>
              <a:gd name="T5" fmla="*/ 2147483647 h 5"/>
              <a:gd name="T6" fmla="*/ 2147483647 w 29"/>
              <a:gd name="T7" fmla="*/ 2147483647 h 5"/>
              <a:gd name="T8" fmla="*/ 2147483647 w 29"/>
              <a:gd name="T9" fmla="*/ 2147483647 h 5"/>
              <a:gd name="T10" fmla="*/ 2147483647 w 29"/>
              <a:gd name="T11" fmla="*/ 2147483647 h 5"/>
              <a:gd name="T12" fmla="*/ 2147483647 w 29"/>
              <a:gd name="T13" fmla="*/ 2147483647 h 5"/>
              <a:gd name="T14" fmla="*/ 2147483647 w 29"/>
              <a:gd name="T15" fmla="*/ 2147483647 h 5"/>
              <a:gd name="T16" fmla="*/ 2147483647 w 29"/>
              <a:gd name="T17" fmla="*/ 2147483647 h 5"/>
              <a:gd name="T18" fmla="*/ 2147483647 w 29"/>
              <a:gd name="T19" fmla="*/ 2147483647 h 5"/>
              <a:gd name="T20" fmla="*/ 2147483647 w 29"/>
              <a:gd name="T21" fmla="*/ 2147483647 h 5"/>
              <a:gd name="T22" fmla="*/ 2147483647 w 29"/>
              <a:gd name="T23" fmla="*/ 2147483647 h 5"/>
              <a:gd name="T24" fmla="*/ 2147483647 w 29"/>
              <a:gd name="T25" fmla="*/ 2147483647 h 5"/>
              <a:gd name="T26" fmla="*/ 2147483647 w 29"/>
              <a:gd name="T27" fmla="*/ 2147483647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
              <a:gd name="T43" fmla="*/ 0 h 5"/>
              <a:gd name="T44" fmla="*/ 29 w 29"/>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 h="5">
                <a:moveTo>
                  <a:pt x="0" y="0"/>
                </a:moveTo>
                <a:lnTo>
                  <a:pt x="1" y="1"/>
                </a:lnTo>
                <a:lnTo>
                  <a:pt x="2" y="2"/>
                </a:lnTo>
                <a:lnTo>
                  <a:pt x="3" y="2"/>
                </a:lnTo>
                <a:lnTo>
                  <a:pt x="11" y="2"/>
                </a:lnTo>
                <a:lnTo>
                  <a:pt x="15" y="2"/>
                </a:lnTo>
                <a:lnTo>
                  <a:pt x="18" y="2"/>
                </a:lnTo>
                <a:lnTo>
                  <a:pt x="26" y="2"/>
                </a:lnTo>
                <a:lnTo>
                  <a:pt x="27" y="2"/>
                </a:lnTo>
                <a:lnTo>
                  <a:pt x="28" y="3"/>
                </a:lnTo>
                <a:lnTo>
                  <a:pt x="29" y="5"/>
                </a:lnTo>
              </a:path>
            </a:pathLst>
          </a:custGeom>
          <a:noFill/>
          <a:ln w="23813">
            <a:solidFill>
              <a:srgbClr val="000000"/>
            </a:solidFill>
            <a:round/>
            <a:headEnd/>
            <a:tailEnd/>
          </a:ln>
        </p:spPr>
        <p:txBody>
          <a:bodyPr/>
          <a:lstStyle/>
          <a:p>
            <a:endParaRPr lang="en-IN"/>
          </a:p>
        </p:txBody>
      </p:sp>
      <p:sp>
        <p:nvSpPr>
          <p:cNvPr id="62533" name="Text Box 70"/>
          <p:cNvSpPr txBox="1">
            <a:spLocks noChangeArrowheads="1"/>
          </p:cNvSpPr>
          <p:nvPr/>
        </p:nvSpPr>
        <p:spPr bwMode="auto">
          <a:xfrm rot="-5400000">
            <a:off x="4521200" y="2352675"/>
            <a:ext cx="266700" cy="1003300"/>
          </a:xfrm>
          <a:prstGeom prst="rect">
            <a:avLst/>
          </a:prstGeom>
          <a:noFill/>
          <a:ln w="9525">
            <a:noFill/>
            <a:miter lim="800000"/>
            <a:headEnd/>
            <a:tailEnd/>
          </a:ln>
        </p:spPr>
        <p:txBody>
          <a:bodyPr>
            <a:spAutoFit/>
          </a:bodyPr>
          <a:lstStyle/>
          <a:p>
            <a:pPr>
              <a:lnSpc>
                <a:spcPct val="20000"/>
              </a:lnSpc>
              <a:spcBef>
                <a:spcPct val="50000"/>
              </a:spcBef>
            </a:pPr>
            <a:endParaRPr lang="zh-CN" altLang="en-US"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p>
          <a:p>
            <a:pPr>
              <a:lnSpc>
                <a:spcPct val="20000"/>
              </a:lnSpc>
              <a:spcBef>
                <a:spcPct val="50000"/>
              </a:spcBef>
            </a:pPr>
            <a:endParaRPr lang="zh-CN" altLang="en-CA" sz="2000">
              <a:latin typeface="Nimbus Roman No9 L" charset="0"/>
              <a:ea typeface="SimSun" pitchFamily="2" charset="-122"/>
            </a:endParaRPr>
          </a:p>
        </p:txBody>
      </p:sp>
      <p:sp>
        <p:nvSpPr>
          <p:cNvPr id="70" name="Title 1"/>
          <p:cNvSpPr txBox="1">
            <a:spLocks/>
          </p:cNvSpPr>
          <p:nvPr/>
        </p:nvSpPr>
        <p:spPr>
          <a:xfrm>
            <a:off x="457200" y="685800"/>
            <a:ext cx="8229600" cy="11430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Memory Locations, Addresses</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type="body" idx="4294967295"/>
          </p:nvPr>
        </p:nvSpPr>
        <p:spPr>
          <a:xfrm>
            <a:off x="228600" y="1556792"/>
            <a:ext cx="8229600" cy="4389437"/>
          </a:xfrm>
        </p:spPr>
        <p:txBody>
          <a:bodyPr/>
          <a:lstStyle/>
          <a:p>
            <a:pPr eaLnBrk="1" hangingPunct="1"/>
            <a:r>
              <a:rPr lang="en-US" altLang="zh-CN" sz="2400" dirty="0" smtClean="0">
                <a:latin typeface="Times New Roman" pitchFamily="18" charset="0"/>
                <a:ea typeface="SimSun" pitchFamily="2" charset="-122"/>
                <a:cs typeface="Times New Roman" pitchFamily="18" charset="0"/>
              </a:rPr>
              <a:t>To retrieve information from memory, either for one word or one byte (8-bit), addresses for each location are needed.</a:t>
            </a:r>
          </a:p>
          <a:p>
            <a:pPr eaLnBrk="1" hangingPunct="1"/>
            <a:r>
              <a:rPr lang="en-US" altLang="zh-CN" sz="2400" dirty="0" smtClean="0">
                <a:latin typeface="Times New Roman" pitchFamily="18" charset="0"/>
                <a:ea typeface="SimSun" pitchFamily="2" charset="-122"/>
                <a:cs typeface="Times New Roman" pitchFamily="18" charset="0"/>
              </a:rPr>
              <a:t>A </a:t>
            </a:r>
            <a:r>
              <a:rPr lang="en-US" altLang="zh-CN" sz="2400" i="1" dirty="0" smtClean="0">
                <a:latin typeface="Times New Roman" pitchFamily="18" charset="0"/>
                <a:ea typeface="SimSun" pitchFamily="2" charset="-122"/>
                <a:cs typeface="Times New Roman" pitchFamily="18" charset="0"/>
              </a:rPr>
              <a:t>k</a:t>
            </a:r>
            <a:r>
              <a:rPr lang="en-US" altLang="zh-CN" sz="2400" dirty="0" smtClean="0">
                <a:latin typeface="Times New Roman" pitchFamily="18" charset="0"/>
                <a:ea typeface="SimSun" pitchFamily="2" charset="-122"/>
                <a:cs typeface="Times New Roman" pitchFamily="18" charset="0"/>
              </a:rPr>
              <a:t>-bit address memory has 2</a:t>
            </a:r>
            <a:r>
              <a:rPr lang="en-US" altLang="zh-CN" sz="2400" baseline="30000" dirty="0" smtClean="0">
                <a:latin typeface="Times New Roman" pitchFamily="18" charset="0"/>
                <a:ea typeface="SimSun" pitchFamily="2" charset="-122"/>
                <a:cs typeface="Times New Roman" pitchFamily="18" charset="0"/>
              </a:rPr>
              <a:t>k</a:t>
            </a:r>
            <a:r>
              <a:rPr lang="en-US" altLang="zh-CN" sz="2400" dirty="0" smtClean="0">
                <a:latin typeface="Times New Roman" pitchFamily="18" charset="0"/>
                <a:ea typeface="SimSun" pitchFamily="2" charset="-122"/>
                <a:cs typeface="Times New Roman" pitchFamily="18" charset="0"/>
              </a:rPr>
              <a:t> memory locations, namely 0 – 2</a:t>
            </a:r>
            <a:r>
              <a:rPr lang="en-US" altLang="zh-CN" sz="2400" baseline="30000" dirty="0" smtClean="0">
                <a:latin typeface="Times New Roman" pitchFamily="18" charset="0"/>
                <a:ea typeface="SimSun" pitchFamily="2" charset="-122"/>
                <a:cs typeface="Times New Roman" pitchFamily="18" charset="0"/>
              </a:rPr>
              <a:t>k</a:t>
            </a:r>
            <a:r>
              <a:rPr lang="en-US" altLang="zh-CN" sz="2400" dirty="0" smtClean="0">
                <a:latin typeface="Times New Roman" pitchFamily="18" charset="0"/>
                <a:ea typeface="SimSun" pitchFamily="2" charset="-122"/>
                <a:cs typeface="Times New Roman" pitchFamily="18" charset="0"/>
              </a:rPr>
              <a:t>-1, called memory space.</a:t>
            </a:r>
          </a:p>
          <a:p>
            <a:pPr eaLnBrk="1" hangingPunct="1"/>
            <a:r>
              <a:rPr lang="en-US" altLang="zh-CN" sz="2400" dirty="0" smtClean="0">
                <a:latin typeface="Times New Roman" pitchFamily="18" charset="0"/>
                <a:ea typeface="SimSun" pitchFamily="2" charset="-122"/>
                <a:cs typeface="Times New Roman" pitchFamily="18" charset="0"/>
              </a:rPr>
              <a:t>24-bit memory: 2</a:t>
            </a:r>
            <a:r>
              <a:rPr lang="en-US" altLang="zh-CN" sz="2400" baseline="30000" dirty="0" smtClean="0">
                <a:latin typeface="Times New Roman" pitchFamily="18" charset="0"/>
                <a:ea typeface="SimSun" pitchFamily="2" charset="-122"/>
                <a:cs typeface="Times New Roman" pitchFamily="18" charset="0"/>
              </a:rPr>
              <a:t>24</a:t>
            </a:r>
            <a:r>
              <a:rPr lang="en-US" altLang="zh-CN" sz="2400" dirty="0" smtClean="0">
                <a:latin typeface="Times New Roman" pitchFamily="18" charset="0"/>
                <a:ea typeface="SimSun" pitchFamily="2" charset="-122"/>
                <a:cs typeface="Times New Roman" pitchFamily="18" charset="0"/>
              </a:rPr>
              <a:t> = 16,777,216 = 16M</a:t>
            </a:r>
          </a:p>
          <a:p>
            <a:pPr eaLnBrk="1" hangingPunct="1"/>
            <a:r>
              <a:rPr lang="en-US" altLang="zh-CN" sz="2400" dirty="0" smtClean="0">
                <a:latin typeface="Times New Roman" pitchFamily="18" charset="0"/>
                <a:ea typeface="SimSun" pitchFamily="2" charset="-122"/>
                <a:cs typeface="Times New Roman" pitchFamily="18" charset="0"/>
              </a:rPr>
              <a:t>32-bit memory: 2</a:t>
            </a:r>
            <a:r>
              <a:rPr lang="en-US" altLang="zh-CN" sz="2400" baseline="30000" dirty="0" smtClean="0">
                <a:latin typeface="Times New Roman" pitchFamily="18" charset="0"/>
                <a:ea typeface="SimSun" pitchFamily="2" charset="-122"/>
                <a:cs typeface="Times New Roman" pitchFamily="18" charset="0"/>
              </a:rPr>
              <a:t>32</a:t>
            </a:r>
            <a:r>
              <a:rPr lang="en-US" altLang="zh-CN" sz="2400" dirty="0" smtClean="0">
                <a:latin typeface="Times New Roman" pitchFamily="18" charset="0"/>
                <a:ea typeface="SimSun" pitchFamily="2" charset="-122"/>
                <a:cs typeface="Times New Roman" pitchFamily="18" charset="0"/>
              </a:rPr>
              <a:t> = 4G</a:t>
            </a:r>
          </a:p>
          <a:p>
            <a:pPr eaLnBrk="1" hangingPunct="1"/>
            <a:r>
              <a:rPr lang="en-US" altLang="zh-CN" sz="2400" dirty="0" smtClean="0">
                <a:latin typeface="Times New Roman" pitchFamily="18" charset="0"/>
                <a:ea typeface="SimSun" pitchFamily="2" charset="-122"/>
                <a:cs typeface="Times New Roman" pitchFamily="18" charset="0"/>
              </a:rPr>
              <a:t>1K(kilo)=2</a:t>
            </a:r>
            <a:r>
              <a:rPr lang="en-US" altLang="zh-CN" sz="2400" baseline="30000" dirty="0" smtClean="0">
                <a:latin typeface="Times New Roman" pitchFamily="18" charset="0"/>
                <a:ea typeface="SimSun" pitchFamily="2" charset="-122"/>
                <a:cs typeface="Times New Roman" pitchFamily="18" charset="0"/>
              </a:rPr>
              <a:t>10</a:t>
            </a:r>
          </a:p>
          <a:p>
            <a:pPr algn="just" eaLnBrk="1" hangingPunct="1"/>
            <a:r>
              <a:rPr lang="en-US" altLang="zh-CN" sz="2400" dirty="0" smtClean="0">
                <a:latin typeface="Times New Roman" pitchFamily="18" charset="0"/>
                <a:ea typeface="SimSun" pitchFamily="2" charset="-122"/>
                <a:cs typeface="Times New Roman" pitchFamily="18" charset="0"/>
              </a:rPr>
              <a:t>1T(</a:t>
            </a:r>
            <a:r>
              <a:rPr lang="en-US" altLang="zh-CN" sz="2400" dirty="0" err="1" smtClean="0">
                <a:latin typeface="Times New Roman" pitchFamily="18" charset="0"/>
                <a:ea typeface="SimSun" pitchFamily="2" charset="-122"/>
                <a:cs typeface="Times New Roman" pitchFamily="18" charset="0"/>
              </a:rPr>
              <a:t>tera</a:t>
            </a:r>
            <a:r>
              <a:rPr lang="en-US" altLang="zh-CN" sz="2400" dirty="0" smtClean="0">
                <a:latin typeface="Times New Roman" pitchFamily="18" charset="0"/>
                <a:ea typeface="SimSun" pitchFamily="2" charset="-122"/>
                <a:cs typeface="Times New Roman" pitchFamily="18" charset="0"/>
              </a:rPr>
              <a:t>)=2</a:t>
            </a:r>
            <a:r>
              <a:rPr lang="en-US" altLang="zh-CN" sz="2400" baseline="30000" dirty="0" smtClean="0">
                <a:latin typeface="Times New Roman" pitchFamily="18" charset="0"/>
                <a:ea typeface="SimSun" pitchFamily="2" charset="-122"/>
                <a:cs typeface="Times New Roman" pitchFamily="18" charset="0"/>
              </a:rPr>
              <a:t>40</a:t>
            </a:r>
          </a:p>
          <a:p>
            <a:pPr algn="just"/>
            <a:r>
              <a:rPr lang="en-US" altLang="zh-CN" sz="2400" dirty="0" smtClean="0">
                <a:latin typeface="Times New Roman" pitchFamily="18" charset="0"/>
                <a:ea typeface="SimSun" pitchFamily="2" charset="-122"/>
                <a:cs typeface="Times New Roman" pitchFamily="18" charset="0"/>
              </a:rPr>
              <a:t>1M=2</a:t>
            </a:r>
            <a:r>
              <a:rPr lang="en-US" altLang="zh-CN" sz="2400" baseline="30000" dirty="0" smtClean="0">
                <a:latin typeface="Times New Roman" pitchFamily="18" charset="0"/>
                <a:ea typeface="SimSun" pitchFamily="2" charset="-122"/>
                <a:cs typeface="Times New Roman" pitchFamily="18" charset="0"/>
              </a:rPr>
              <a:t>20</a:t>
            </a:r>
            <a:endParaRPr lang="en-US" altLang="zh-CN" sz="2400" dirty="0" smtClean="0">
              <a:latin typeface="Times New Roman" pitchFamily="18" charset="0"/>
              <a:ea typeface="SimSun" pitchFamily="2" charset="-122"/>
              <a:cs typeface="Times New Roman" pitchFamily="18" charset="0"/>
            </a:endParaRPr>
          </a:p>
          <a:p>
            <a:pPr algn="just"/>
            <a:r>
              <a:rPr lang="en-US" altLang="zh-CN" sz="2400" dirty="0" smtClean="0">
                <a:latin typeface="Times New Roman" pitchFamily="18" charset="0"/>
                <a:ea typeface="SimSun" pitchFamily="2" charset="-122"/>
                <a:cs typeface="Times New Roman" pitchFamily="18" charset="0"/>
              </a:rPr>
              <a:t>1G=2</a:t>
            </a:r>
            <a:r>
              <a:rPr lang="en-US" altLang="zh-CN" sz="2400" baseline="30000" dirty="0" smtClean="0">
                <a:latin typeface="Times New Roman" pitchFamily="18" charset="0"/>
                <a:ea typeface="SimSun" pitchFamily="2" charset="-122"/>
                <a:cs typeface="Times New Roman" pitchFamily="18" charset="0"/>
              </a:rPr>
              <a:t>30</a:t>
            </a:r>
          </a:p>
        </p:txBody>
      </p:sp>
      <p:sp>
        <p:nvSpPr>
          <p:cNvPr id="4" name="Title 1"/>
          <p:cNvSpPr txBox="1">
            <a:spLocks/>
          </p:cNvSpPr>
          <p:nvPr/>
        </p:nvSpPr>
        <p:spPr>
          <a:xfrm>
            <a:off x="228600" y="685800"/>
            <a:ext cx="8458200" cy="11430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Memory Locations, Addresses cont..</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28600" y="685800"/>
            <a:ext cx="8458200" cy="11430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Memory Locations, Addresses cont..</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
        <p:nvSpPr>
          <p:cNvPr id="7" name="Rectangle 3"/>
          <p:cNvSpPr txBox="1">
            <a:spLocks noChangeArrowheads="1"/>
          </p:cNvSpPr>
          <p:nvPr/>
        </p:nvSpPr>
        <p:spPr>
          <a:xfrm>
            <a:off x="457200" y="1719262"/>
            <a:ext cx="8229600" cy="4950097"/>
          </a:xfrm>
          <a:prstGeom prst="rect">
            <a:avLst/>
          </a:prstGeom>
        </p:spPr>
        <p:txBody>
          <a:bodyPr vert="horz">
            <a:noAutofit/>
          </a:bodyPr>
          <a:lstStyle/>
          <a:p>
            <a:pPr marL="274320" marR="0" lvl="0" indent="-274320" algn="just" defTabSz="914400" rtl="0" eaLnBrk="1" fontAlgn="auto" latinLnBrk="0" hangingPunct="1">
              <a:lnSpc>
                <a:spcPct val="100000"/>
              </a:lnSpc>
              <a:spcBef>
                <a:spcPct val="20000"/>
              </a:spcBef>
              <a:spcAft>
                <a:spcPts val="0"/>
              </a:spcAft>
              <a:buClr>
                <a:schemeClr val="accent3"/>
              </a:buClr>
              <a:buSzPct val="95000"/>
              <a:tabLst/>
              <a:defRPr/>
            </a:pPr>
            <a:r>
              <a:rPr kumimoji="0" lang="en-US" altLang="zh-CN" sz="24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Byte addressability</a:t>
            </a:r>
          </a:p>
          <a:p>
            <a:pPr marL="342900" marR="0" lvl="0" indent="-342900" algn="just" defTabSz="914400" rtl="0" eaLnBrk="1" fontAlgn="auto" latinLnBrk="0" hangingPunct="1">
              <a:lnSpc>
                <a:spcPct val="100000"/>
              </a:lnSpc>
              <a:spcBef>
                <a:spcPct val="20000"/>
              </a:spcBef>
              <a:spcAft>
                <a:spcPts val="0"/>
              </a:spcAft>
              <a:buClr>
                <a:schemeClr val="accent3"/>
              </a:buClr>
              <a:buSzPct val="95000"/>
              <a:buFont typeface="Arial" panose="020B0604020202020204" pitchFamily="34" charset="0"/>
              <a:buChar char="•"/>
              <a:tabLst/>
              <a:defRPr/>
            </a:pPr>
            <a:r>
              <a:rPr lang="en-US" altLang="zh-CN" sz="2400" dirty="0" smtClean="0">
                <a:latin typeface="Times New Roman" pitchFamily="18" charset="0"/>
                <a:ea typeface="SimSun" pitchFamily="2" charset="-122"/>
                <a:cs typeface="Times New Roman" pitchFamily="18" charset="0"/>
              </a:rPr>
              <a:t>Three basic information quantities to deal bit, byte and word.</a:t>
            </a:r>
          </a:p>
          <a:p>
            <a:pPr marL="342900" marR="0" lvl="0" indent="-342900" algn="just" defTabSz="914400" rtl="0" eaLnBrk="1" fontAlgn="auto" latinLnBrk="0" hangingPunct="1">
              <a:lnSpc>
                <a:spcPct val="100000"/>
              </a:lnSpc>
              <a:spcBef>
                <a:spcPct val="20000"/>
              </a:spcBef>
              <a:spcAft>
                <a:spcPts val="0"/>
              </a:spcAft>
              <a:buClr>
                <a:schemeClr val="accent3"/>
              </a:buClr>
              <a:buSzPct val="95000"/>
              <a:buFont typeface="Arial" panose="020B0604020202020204" pitchFamily="34" charset="0"/>
              <a:buChar char="•"/>
              <a:tabLst/>
              <a:defRPr/>
            </a:pPr>
            <a:r>
              <a:rPr kumimoji="0" lang="en-US" altLang="zh-CN" sz="2400" b="0" i="0" u="none" strike="noStrike" kern="1200" cap="none" spc="0" normalizeH="0" baseline="0" noProof="0" dirty="0">
                <a:ln>
                  <a:noFill/>
                </a:ln>
                <a:solidFill>
                  <a:srgbClr val="7030A0"/>
                </a:solidFill>
                <a:effectLst/>
                <a:uLnTx/>
                <a:uFillTx/>
                <a:latin typeface="Times New Roman" pitchFamily="18" charset="0"/>
                <a:ea typeface="SimSun" pitchFamily="2" charset="-122"/>
                <a:cs typeface="Times New Roman" pitchFamily="18" charset="0"/>
              </a:rPr>
              <a:t> </a:t>
            </a: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The most practical assignment is to have successive addresses refer to successive byte locations in the memory – byte-addressable memory.</a:t>
            </a:r>
          </a:p>
          <a:p>
            <a:pPr marL="342900" marR="0" lvl="0" indent="-342900" algn="just" defTabSz="914400" rtl="0" eaLnBrk="1" fontAlgn="auto" latinLnBrk="0" hangingPunct="1">
              <a:lnSpc>
                <a:spcPct val="100000"/>
              </a:lnSpc>
              <a:spcBef>
                <a:spcPct val="20000"/>
              </a:spcBef>
              <a:spcAft>
                <a:spcPts val="0"/>
              </a:spcAft>
              <a:buClr>
                <a:schemeClr val="accent3"/>
              </a:buClr>
              <a:buSzPct val="95000"/>
              <a:buFont typeface="Arial" panose="020B0604020202020204" pitchFamily="34" charset="0"/>
              <a:buChar char="•"/>
              <a:tabLst/>
              <a:defRPr/>
            </a:pPr>
            <a:r>
              <a:rPr lang="en-US" altLang="zh-CN" sz="2400" dirty="0">
                <a:latin typeface="Times New Roman" pitchFamily="18" charset="0"/>
                <a:ea typeface="SimSun" pitchFamily="2" charset="-122"/>
                <a:cs typeface="Times New Roman" pitchFamily="18" charset="0"/>
              </a:rPr>
              <a:t> </a:t>
            </a: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Byte locations have addresses 0, 1, 2, … If word length is 32 bits, they successive words are located at addresses 0, 4, 8,…</a:t>
            </a:r>
          </a:p>
          <a:p>
            <a:pPr marL="342900" marR="0" lvl="0" indent="-342900" algn="just" defTabSz="914400" rtl="0" eaLnBrk="1" fontAlgn="auto" latinLnBrk="0" hangingPunct="1">
              <a:lnSpc>
                <a:spcPct val="100000"/>
              </a:lnSpc>
              <a:spcBef>
                <a:spcPct val="20000"/>
              </a:spcBef>
              <a:spcAft>
                <a:spcPts val="0"/>
              </a:spcAft>
              <a:buClr>
                <a:schemeClr val="accent3"/>
              </a:buClr>
              <a:buSzPct val="95000"/>
              <a:buFont typeface="Arial" panose="020B0604020202020204" pitchFamily="34" charset="0"/>
              <a:buChar char="•"/>
              <a:tabLst/>
              <a:defRPr/>
            </a:pPr>
            <a:r>
              <a:rPr lang="en-US" altLang="zh-CN" sz="2400" dirty="0">
                <a:latin typeface="Times New Roman" pitchFamily="18" charset="0"/>
                <a:ea typeface="SimSun" pitchFamily="2" charset="-122"/>
                <a:cs typeface="Times New Roman" pitchFamily="18" charset="0"/>
              </a:rPr>
              <a:t> </a:t>
            </a:r>
            <a:r>
              <a:rPr lang="en-US" altLang="zh-CN" sz="2400" dirty="0" smtClean="0">
                <a:latin typeface="Times New Roman" pitchFamily="18" charset="0"/>
                <a:ea typeface="SimSun" pitchFamily="2" charset="-122"/>
                <a:cs typeface="Times New Roman" pitchFamily="18" charset="0"/>
              </a:rPr>
              <a:t>There are two ways that byte addresses can be assigned across word:-</a:t>
            </a:r>
          </a:p>
          <a:p>
            <a:pPr algn="just">
              <a:spcBef>
                <a:spcPct val="20000"/>
              </a:spcBef>
              <a:buClr>
                <a:schemeClr val="accent3"/>
              </a:buClr>
              <a:buSzPct val="95000"/>
              <a:defRPr/>
            </a:pPr>
            <a:r>
              <a:rPr lang="en-US" altLang="zh-CN" sz="2400" b="1" dirty="0" smtClean="0">
                <a:solidFill>
                  <a:srgbClr val="00B0F0"/>
                </a:solidFill>
                <a:latin typeface="Times New Roman" pitchFamily="18" charset="0"/>
                <a:ea typeface="SimSun" pitchFamily="2" charset="-122"/>
                <a:cs typeface="Times New Roman" pitchFamily="18" charset="0"/>
              </a:rPr>
              <a:t>	Big-Endian Assignments</a:t>
            </a:r>
            <a:endParaRPr lang="en-US" altLang="zh-CN" sz="2400" b="1" dirty="0">
              <a:solidFill>
                <a:srgbClr val="00B0F0"/>
              </a:solidFill>
              <a:latin typeface="Times New Roman" pitchFamily="18" charset="0"/>
              <a:ea typeface="SimSun" pitchFamily="2" charset="-122"/>
              <a:cs typeface="Times New Roman" pitchFamily="18" charset="0"/>
            </a:endParaRPr>
          </a:p>
          <a:p>
            <a:pPr marR="0" lvl="0" algn="just" defTabSz="914400" rtl="0" eaLnBrk="1" fontAlgn="auto" latinLnBrk="0" hangingPunct="1">
              <a:lnSpc>
                <a:spcPct val="100000"/>
              </a:lnSpc>
              <a:spcBef>
                <a:spcPct val="20000"/>
              </a:spcBef>
              <a:spcAft>
                <a:spcPts val="0"/>
              </a:spcAft>
              <a:buClr>
                <a:schemeClr val="accent3"/>
              </a:buClr>
              <a:buSzPct val="95000"/>
              <a:tabLst/>
              <a:defRPr/>
            </a:pPr>
            <a:r>
              <a:rPr lang="en-US" altLang="zh-CN" sz="2400" b="1" dirty="0" smtClean="0">
                <a:solidFill>
                  <a:srgbClr val="00B0F0"/>
                </a:solidFill>
                <a:latin typeface="Times New Roman" pitchFamily="18" charset="0"/>
                <a:ea typeface="SimSun" pitchFamily="2" charset="-122"/>
                <a:cs typeface="Times New Roman" pitchFamily="18" charset="0"/>
              </a:rPr>
              <a:t>	Little-Endian Assignments</a:t>
            </a:r>
            <a:endPar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0" y="122238"/>
            <a:ext cx="7543800" cy="639762"/>
          </a:xfrm>
        </p:spPr>
        <p:txBody>
          <a:bodyPr>
            <a:normAutofit/>
          </a:bodyPr>
          <a:lstStyle/>
          <a:p>
            <a:pPr algn="ctr" eaLnBrk="1" hangingPunct="1"/>
            <a:r>
              <a:rPr lang="en-US" altLang="zh-CN" sz="2800" b="1" dirty="0" smtClean="0">
                <a:solidFill>
                  <a:srgbClr val="7030A0"/>
                </a:solidFill>
                <a:latin typeface="Times New Roman" pitchFamily="18" charset="0"/>
                <a:ea typeface="SimSun" pitchFamily="2" charset="-122"/>
                <a:cs typeface="Times New Roman" pitchFamily="18" charset="0"/>
              </a:rPr>
              <a:t>Big-</a:t>
            </a:r>
            <a:r>
              <a:rPr lang="en-US" altLang="zh-CN" sz="2800" b="1" dirty="0" err="1" smtClean="0">
                <a:solidFill>
                  <a:srgbClr val="7030A0"/>
                </a:solidFill>
                <a:latin typeface="Times New Roman" pitchFamily="18" charset="0"/>
                <a:ea typeface="SimSun" pitchFamily="2" charset="-122"/>
                <a:cs typeface="Times New Roman" pitchFamily="18" charset="0"/>
              </a:rPr>
              <a:t>Endian</a:t>
            </a:r>
            <a:r>
              <a:rPr lang="en-US" altLang="zh-CN" sz="2800" b="1" dirty="0" smtClean="0">
                <a:solidFill>
                  <a:srgbClr val="7030A0"/>
                </a:solidFill>
                <a:latin typeface="Times New Roman" pitchFamily="18" charset="0"/>
                <a:ea typeface="SimSun" pitchFamily="2" charset="-122"/>
                <a:cs typeface="Times New Roman" pitchFamily="18" charset="0"/>
              </a:rPr>
              <a:t> and Little-</a:t>
            </a:r>
            <a:r>
              <a:rPr lang="en-US" altLang="zh-CN" sz="2800" b="1" dirty="0" err="1" smtClean="0">
                <a:solidFill>
                  <a:srgbClr val="7030A0"/>
                </a:solidFill>
                <a:latin typeface="Times New Roman" pitchFamily="18" charset="0"/>
                <a:ea typeface="SimSun" pitchFamily="2" charset="-122"/>
                <a:cs typeface="Times New Roman" pitchFamily="18" charset="0"/>
              </a:rPr>
              <a:t>Endian</a:t>
            </a:r>
            <a:r>
              <a:rPr lang="en-US" altLang="zh-CN" sz="2800" b="1" dirty="0" smtClean="0">
                <a:solidFill>
                  <a:srgbClr val="7030A0"/>
                </a:solidFill>
                <a:latin typeface="Times New Roman" pitchFamily="18" charset="0"/>
                <a:ea typeface="SimSun" pitchFamily="2" charset="-122"/>
                <a:cs typeface="Times New Roman" pitchFamily="18" charset="0"/>
              </a:rPr>
              <a:t> Assignments</a:t>
            </a:r>
          </a:p>
        </p:txBody>
      </p:sp>
      <p:sp>
        <p:nvSpPr>
          <p:cNvPr id="65539" name="Rectangle 4"/>
          <p:cNvSpPr>
            <a:spLocks noChangeArrowheads="1"/>
          </p:cNvSpPr>
          <p:nvPr/>
        </p:nvSpPr>
        <p:spPr bwMode="auto">
          <a:xfrm>
            <a:off x="1747838" y="2671763"/>
            <a:ext cx="2397125" cy="3116262"/>
          </a:xfrm>
          <a:prstGeom prst="rect">
            <a:avLst/>
          </a:prstGeom>
          <a:noFill/>
          <a:ln w="19050">
            <a:solidFill>
              <a:srgbClr val="00FFFF"/>
            </a:solidFill>
            <a:miter lim="800000"/>
            <a:headEnd/>
            <a:tailEnd/>
          </a:ln>
        </p:spPr>
        <p:txBody>
          <a:bodyPr/>
          <a:lstStyle/>
          <a:p>
            <a:endParaRPr lang="en-US"/>
          </a:p>
        </p:txBody>
      </p:sp>
      <p:sp>
        <p:nvSpPr>
          <p:cNvPr id="65540" name="Line 5"/>
          <p:cNvSpPr>
            <a:spLocks noChangeShapeType="1"/>
          </p:cNvSpPr>
          <p:nvPr/>
        </p:nvSpPr>
        <p:spPr bwMode="auto">
          <a:xfrm flipH="1">
            <a:off x="1747838" y="3143250"/>
            <a:ext cx="2397125" cy="1588"/>
          </a:xfrm>
          <a:prstGeom prst="line">
            <a:avLst/>
          </a:prstGeom>
          <a:noFill/>
          <a:ln w="19050">
            <a:solidFill>
              <a:srgbClr val="00FFFF"/>
            </a:solidFill>
            <a:round/>
            <a:headEnd/>
            <a:tailEnd/>
          </a:ln>
        </p:spPr>
        <p:txBody>
          <a:bodyPr/>
          <a:lstStyle/>
          <a:p>
            <a:endParaRPr lang="en-IN"/>
          </a:p>
        </p:txBody>
      </p:sp>
      <p:sp>
        <p:nvSpPr>
          <p:cNvPr id="65541" name="Line 6"/>
          <p:cNvSpPr>
            <a:spLocks noChangeShapeType="1"/>
          </p:cNvSpPr>
          <p:nvPr/>
        </p:nvSpPr>
        <p:spPr bwMode="auto">
          <a:xfrm flipH="1">
            <a:off x="1747838" y="3635375"/>
            <a:ext cx="2397125" cy="1588"/>
          </a:xfrm>
          <a:prstGeom prst="line">
            <a:avLst/>
          </a:prstGeom>
          <a:noFill/>
          <a:ln w="19050">
            <a:solidFill>
              <a:srgbClr val="00FFFF"/>
            </a:solidFill>
            <a:round/>
            <a:headEnd/>
            <a:tailEnd/>
          </a:ln>
        </p:spPr>
        <p:txBody>
          <a:bodyPr/>
          <a:lstStyle/>
          <a:p>
            <a:endParaRPr lang="en-IN"/>
          </a:p>
        </p:txBody>
      </p:sp>
      <p:sp>
        <p:nvSpPr>
          <p:cNvPr id="65542" name="Line 7"/>
          <p:cNvSpPr>
            <a:spLocks noChangeShapeType="1"/>
          </p:cNvSpPr>
          <p:nvPr/>
        </p:nvSpPr>
        <p:spPr bwMode="auto">
          <a:xfrm flipV="1">
            <a:off x="2351088" y="2671763"/>
            <a:ext cx="1587" cy="963612"/>
          </a:xfrm>
          <a:prstGeom prst="line">
            <a:avLst/>
          </a:prstGeom>
          <a:noFill/>
          <a:ln w="19050">
            <a:solidFill>
              <a:srgbClr val="00FFFF"/>
            </a:solidFill>
            <a:round/>
            <a:headEnd/>
            <a:tailEnd/>
          </a:ln>
        </p:spPr>
        <p:txBody>
          <a:bodyPr/>
          <a:lstStyle/>
          <a:p>
            <a:endParaRPr lang="en-IN"/>
          </a:p>
        </p:txBody>
      </p:sp>
      <p:sp>
        <p:nvSpPr>
          <p:cNvPr id="65543" name="Line 8"/>
          <p:cNvSpPr>
            <a:spLocks noChangeShapeType="1"/>
          </p:cNvSpPr>
          <p:nvPr/>
        </p:nvSpPr>
        <p:spPr bwMode="auto">
          <a:xfrm flipV="1">
            <a:off x="2936875" y="2671763"/>
            <a:ext cx="1588" cy="963612"/>
          </a:xfrm>
          <a:prstGeom prst="line">
            <a:avLst/>
          </a:prstGeom>
          <a:noFill/>
          <a:ln w="19050">
            <a:solidFill>
              <a:srgbClr val="00FFFF"/>
            </a:solidFill>
            <a:round/>
            <a:headEnd/>
            <a:tailEnd/>
          </a:ln>
        </p:spPr>
        <p:txBody>
          <a:bodyPr/>
          <a:lstStyle/>
          <a:p>
            <a:endParaRPr lang="en-IN"/>
          </a:p>
        </p:txBody>
      </p:sp>
      <p:sp>
        <p:nvSpPr>
          <p:cNvPr id="65544" name="Line 9"/>
          <p:cNvSpPr>
            <a:spLocks noChangeShapeType="1"/>
          </p:cNvSpPr>
          <p:nvPr/>
        </p:nvSpPr>
        <p:spPr bwMode="auto">
          <a:xfrm flipV="1">
            <a:off x="3541713" y="2671763"/>
            <a:ext cx="1587" cy="963612"/>
          </a:xfrm>
          <a:prstGeom prst="line">
            <a:avLst/>
          </a:prstGeom>
          <a:noFill/>
          <a:ln w="19050">
            <a:solidFill>
              <a:srgbClr val="00FFFF"/>
            </a:solidFill>
            <a:round/>
            <a:headEnd/>
            <a:tailEnd/>
          </a:ln>
        </p:spPr>
        <p:txBody>
          <a:bodyPr/>
          <a:lstStyle/>
          <a:p>
            <a:endParaRPr lang="en-IN"/>
          </a:p>
        </p:txBody>
      </p:sp>
      <p:sp>
        <p:nvSpPr>
          <p:cNvPr id="65545" name="Line 10"/>
          <p:cNvSpPr>
            <a:spLocks noChangeShapeType="1"/>
          </p:cNvSpPr>
          <p:nvPr/>
        </p:nvSpPr>
        <p:spPr bwMode="auto">
          <a:xfrm flipH="1">
            <a:off x="1747838" y="5316538"/>
            <a:ext cx="2397125" cy="1587"/>
          </a:xfrm>
          <a:prstGeom prst="line">
            <a:avLst/>
          </a:prstGeom>
          <a:noFill/>
          <a:ln w="19050">
            <a:solidFill>
              <a:srgbClr val="00FFFF"/>
            </a:solidFill>
            <a:round/>
            <a:headEnd/>
            <a:tailEnd/>
          </a:ln>
        </p:spPr>
        <p:txBody>
          <a:bodyPr/>
          <a:lstStyle/>
          <a:p>
            <a:endParaRPr lang="en-IN"/>
          </a:p>
        </p:txBody>
      </p:sp>
      <p:sp>
        <p:nvSpPr>
          <p:cNvPr id="65546" name="Line 11"/>
          <p:cNvSpPr>
            <a:spLocks noChangeShapeType="1"/>
          </p:cNvSpPr>
          <p:nvPr/>
        </p:nvSpPr>
        <p:spPr bwMode="auto">
          <a:xfrm flipV="1">
            <a:off x="2351088" y="5316538"/>
            <a:ext cx="1587" cy="471487"/>
          </a:xfrm>
          <a:prstGeom prst="line">
            <a:avLst/>
          </a:prstGeom>
          <a:noFill/>
          <a:ln w="19050">
            <a:solidFill>
              <a:srgbClr val="00FFFF"/>
            </a:solidFill>
            <a:round/>
            <a:headEnd/>
            <a:tailEnd/>
          </a:ln>
        </p:spPr>
        <p:txBody>
          <a:bodyPr/>
          <a:lstStyle/>
          <a:p>
            <a:endParaRPr lang="en-IN"/>
          </a:p>
        </p:txBody>
      </p:sp>
      <p:sp>
        <p:nvSpPr>
          <p:cNvPr id="65547" name="Line 12"/>
          <p:cNvSpPr>
            <a:spLocks noChangeShapeType="1"/>
          </p:cNvSpPr>
          <p:nvPr/>
        </p:nvSpPr>
        <p:spPr bwMode="auto">
          <a:xfrm flipV="1">
            <a:off x="2936875" y="5316538"/>
            <a:ext cx="1588" cy="471487"/>
          </a:xfrm>
          <a:prstGeom prst="line">
            <a:avLst/>
          </a:prstGeom>
          <a:noFill/>
          <a:ln w="19050">
            <a:solidFill>
              <a:srgbClr val="00FFFF"/>
            </a:solidFill>
            <a:round/>
            <a:headEnd/>
            <a:tailEnd/>
          </a:ln>
        </p:spPr>
        <p:txBody>
          <a:bodyPr/>
          <a:lstStyle/>
          <a:p>
            <a:endParaRPr lang="en-IN"/>
          </a:p>
        </p:txBody>
      </p:sp>
      <p:sp>
        <p:nvSpPr>
          <p:cNvPr id="65548" name="Line 13"/>
          <p:cNvSpPr>
            <a:spLocks noChangeShapeType="1"/>
          </p:cNvSpPr>
          <p:nvPr/>
        </p:nvSpPr>
        <p:spPr bwMode="auto">
          <a:xfrm flipV="1">
            <a:off x="3541713" y="5316538"/>
            <a:ext cx="1587" cy="471487"/>
          </a:xfrm>
          <a:prstGeom prst="line">
            <a:avLst/>
          </a:prstGeom>
          <a:noFill/>
          <a:ln w="19050">
            <a:solidFill>
              <a:srgbClr val="00FFFF"/>
            </a:solidFill>
            <a:round/>
            <a:headEnd/>
            <a:tailEnd/>
          </a:ln>
        </p:spPr>
        <p:txBody>
          <a:bodyPr/>
          <a:lstStyle/>
          <a:p>
            <a:endParaRPr lang="en-IN"/>
          </a:p>
        </p:txBody>
      </p:sp>
      <p:sp>
        <p:nvSpPr>
          <p:cNvPr id="65549" name="Rectangle 14"/>
          <p:cNvSpPr>
            <a:spLocks noChangeArrowheads="1"/>
          </p:cNvSpPr>
          <p:nvPr/>
        </p:nvSpPr>
        <p:spPr bwMode="auto">
          <a:xfrm>
            <a:off x="1860550"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550" name="Rectangle 15"/>
          <p:cNvSpPr>
            <a:spLocks noChangeArrowheads="1"/>
          </p:cNvSpPr>
          <p:nvPr/>
        </p:nvSpPr>
        <p:spPr bwMode="auto">
          <a:xfrm>
            <a:off x="1954213"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5551" name="Rectangle 16"/>
          <p:cNvSpPr>
            <a:spLocks noChangeArrowheads="1"/>
          </p:cNvSpPr>
          <p:nvPr/>
        </p:nvSpPr>
        <p:spPr bwMode="auto">
          <a:xfrm>
            <a:off x="2143125"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65552" name="Rectangle 17"/>
          <p:cNvSpPr>
            <a:spLocks noChangeArrowheads="1"/>
          </p:cNvSpPr>
          <p:nvPr/>
        </p:nvSpPr>
        <p:spPr bwMode="auto">
          <a:xfrm>
            <a:off x="2030413" y="5467350"/>
            <a:ext cx="5556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5553" name="Rectangle 18"/>
          <p:cNvSpPr>
            <a:spLocks noChangeArrowheads="1"/>
          </p:cNvSpPr>
          <p:nvPr/>
        </p:nvSpPr>
        <p:spPr bwMode="auto">
          <a:xfrm>
            <a:off x="246538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554" name="Rectangle 19"/>
          <p:cNvSpPr>
            <a:spLocks noChangeArrowheads="1"/>
          </p:cNvSpPr>
          <p:nvPr/>
        </p:nvSpPr>
        <p:spPr bwMode="auto">
          <a:xfrm>
            <a:off x="2559050"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5555" name="Rectangle 20"/>
          <p:cNvSpPr>
            <a:spLocks noChangeArrowheads="1"/>
          </p:cNvSpPr>
          <p:nvPr/>
        </p:nvSpPr>
        <p:spPr bwMode="auto">
          <a:xfrm>
            <a:off x="2747963"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a:t>
            </a:r>
            <a:endParaRPr lang="en-CA" altLang="zh-CN" sz="2400">
              <a:latin typeface="Times New Roman" pitchFamily="18" charset="0"/>
              <a:ea typeface="SimSun" pitchFamily="2" charset="-122"/>
            </a:endParaRPr>
          </a:p>
        </p:txBody>
      </p:sp>
      <p:sp>
        <p:nvSpPr>
          <p:cNvPr id="65556" name="Rectangle 21"/>
          <p:cNvSpPr>
            <a:spLocks noChangeArrowheads="1"/>
          </p:cNvSpPr>
          <p:nvPr/>
        </p:nvSpPr>
        <p:spPr bwMode="auto">
          <a:xfrm>
            <a:off x="2635250" y="5467350"/>
            <a:ext cx="55563"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5557" name="Rectangle 22"/>
          <p:cNvSpPr>
            <a:spLocks noChangeArrowheads="1"/>
          </p:cNvSpPr>
          <p:nvPr/>
        </p:nvSpPr>
        <p:spPr bwMode="auto">
          <a:xfrm>
            <a:off x="306863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558" name="Rectangle 23"/>
          <p:cNvSpPr>
            <a:spLocks noChangeArrowheads="1"/>
          </p:cNvSpPr>
          <p:nvPr/>
        </p:nvSpPr>
        <p:spPr bwMode="auto">
          <a:xfrm>
            <a:off x="3144838"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5559" name="Rectangle 24"/>
          <p:cNvSpPr>
            <a:spLocks noChangeArrowheads="1"/>
          </p:cNvSpPr>
          <p:nvPr/>
        </p:nvSpPr>
        <p:spPr bwMode="auto">
          <a:xfrm>
            <a:off x="3352800"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560" name="Rectangle 25"/>
          <p:cNvSpPr>
            <a:spLocks noChangeArrowheads="1"/>
          </p:cNvSpPr>
          <p:nvPr/>
        </p:nvSpPr>
        <p:spPr bwMode="auto">
          <a:xfrm>
            <a:off x="3219450" y="5467350"/>
            <a:ext cx="55563"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5561" name="Rectangle 26"/>
          <p:cNvSpPr>
            <a:spLocks noChangeArrowheads="1"/>
          </p:cNvSpPr>
          <p:nvPr/>
        </p:nvSpPr>
        <p:spPr bwMode="auto">
          <a:xfrm>
            <a:off x="3654425"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562" name="Rectangle 27"/>
          <p:cNvSpPr>
            <a:spLocks noChangeArrowheads="1"/>
          </p:cNvSpPr>
          <p:nvPr/>
        </p:nvSpPr>
        <p:spPr bwMode="auto">
          <a:xfrm>
            <a:off x="3748088"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5563" name="Rectangle 28"/>
          <p:cNvSpPr>
            <a:spLocks noChangeArrowheads="1"/>
          </p:cNvSpPr>
          <p:nvPr/>
        </p:nvSpPr>
        <p:spPr bwMode="auto">
          <a:xfrm>
            <a:off x="3956050"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1</a:t>
            </a:r>
            <a:endParaRPr lang="en-CA" altLang="zh-CN" sz="2400">
              <a:latin typeface="Times New Roman" pitchFamily="18" charset="0"/>
              <a:ea typeface="SimSun" pitchFamily="2" charset="-122"/>
            </a:endParaRPr>
          </a:p>
        </p:txBody>
      </p:sp>
      <p:sp>
        <p:nvSpPr>
          <p:cNvPr id="65564" name="Rectangle 29"/>
          <p:cNvSpPr>
            <a:spLocks noChangeArrowheads="1"/>
          </p:cNvSpPr>
          <p:nvPr/>
        </p:nvSpPr>
        <p:spPr bwMode="auto">
          <a:xfrm>
            <a:off x="3824288" y="5467350"/>
            <a:ext cx="5556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5565" name="Rectangle 30"/>
          <p:cNvSpPr>
            <a:spLocks noChangeArrowheads="1"/>
          </p:cNvSpPr>
          <p:nvPr/>
        </p:nvSpPr>
        <p:spPr bwMode="auto">
          <a:xfrm>
            <a:off x="456088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566" name="Rectangle 31"/>
          <p:cNvSpPr>
            <a:spLocks noChangeArrowheads="1"/>
          </p:cNvSpPr>
          <p:nvPr/>
        </p:nvSpPr>
        <p:spPr bwMode="auto">
          <a:xfrm>
            <a:off x="4654550"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5567" name="Rectangle 32"/>
          <p:cNvSpPr>
            <a:spLocks noChangeArrowheads="1"/>
          </p:cNvSpPr>
          <p:nvPr/>
        </p:nvSpPr>
        <p:spPr bwMode="auto">
          <a:xfrm>
            <a:off x="4862513"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65568" name="Rectangle 33"/>
          <p:cNvSpPr>
            <a:spLocks noChangeArrowheads="1"/>
          </p:cNvSpPr>
          <p:nvPr/>
        </p:nvSpPr>
        <p:spPr bwMode="auto">
          <a:xfrm>
            <a:off x="4730750" y="5467350"/>
            <a:ext cx="55563"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5569" name="Rectangle 34"/>
          <p:cNvSpPr>
            <a:spLocks noChangeArrowheads="1"/>
          </p:cNvSpPr>
          <p:nvPr/>
        </p:nvSpPr>
        <p:spPr bwMode="auto">
          <a:xfrm>
            <a:off x="1200150"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570" name="Rectangle 35"/>
          <p:cNvSpPr>
            <a:spLocks noChangeArrowheads="1"/>
          </p:cNvSpPr>
          <p:nvPr/>
        </p:nvSpPr>
        <p:spPr bwMode="auto">
          <a:xfrm>
            <a:off x="1293813"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5571" name="Rectangle 36"/>
          <p:cNvSpPr>
            <a:spLocks noChangeArrowheads="1"/>
          </p:cNvSpPr>
          <p:nvPr/>
        </p:nvSpPr>
        <p:spPr bwMode="auto">
          <a:xfrm>
            <a:off x="1482725"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65572" name="Rectangle 37"/>
          <p:cNvSpPr>
            <a:spLocks noChangeArrowheads="1"/>
          </p:cNvSpPr>
          <p:nvPr/>
        </p:nvSpPr>
        <p:spPr bwMode="auto">
          <a:xfrm>
            <a:off x="1370013" y="5467350"/>
            <a:ext cx="5556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5573" name="Rectangle 38"/>
          <p:cNvSpPr>
            <a:spLocks noChangeArrowheads="1"/>
          </p:cNvSpPr>
          <p:nvPr/>
        </p:nvSpPr>
        <p:spPr bwMode="auto">
          <a:xfrm>
            <a:off x="1992313"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0</a:t>
            </a:r>
            <a:endParaRPr lang="en-CA" altLang="zh-CN" sz="2400">
              <a:latin typeface="Times New Roman" pitchFamily="18" charset="0"/>
              <a:ea typeface="SimSun" pitchFamily="2" charset="-122"/>
            </a:endParaRPr>
          </a:p>
        </p:txBody>
      </p:sp>
      <p:sp>
        <p:nvSpPr>
          <p:cNvPr id="65574" name="Rectangle 39"/>
          <p:cNvSpPr>
            <a:spLocks noChangeArrowheads="1"/>
          </p:cNvSpPr>
          <p:nvPr/>
        </p:nvSpPr>
        <p:spPr bwMode="auto">
          <a:xfrm>
            <a:off x="2597150"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1</a:t>
            </a:r>
            <a:endParaRPr lang="en-CA" altLang="zh-CN" sz="2400">
              <a:latin typeface="Times New Roman" pitchFamily="18" charset="0"/>
              <a:ea typeface="SimSun" pitchFamily="2" charset="-122"/>
            </a:endParaRPr>
          </a:p>
        </p:txBody>
      </p:sp>
      <p:sp>
        <p:nvSpPr>
          <p:cNvPr id="65575" name="Rectangle 40"/>
          <p:cNvSpPr>
            <a:spLocks noChangeArrowheads="1"/>
          </p:cNvSpPr>
          <p:nvPr/>
        </p:nvSpPr>
        <p:spPr bwMode="auto">
          <a:xfrm>
            <a:off x="3200400"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576" name="Rectangle 41"/>
          <p:cNvSpPr>
            <a:spLocks noChangeArrowheads="1"/>
          </p:cNvSpPr>
          <p:nvPr/>
        </p:nvSpPr>
        <p:spPr bwMode="auto">
          <a:xfrm>
            <a:off x="3805238"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a:t>
            </a:r>
            <a:endParaRPr lang="en-CA" altLang="zh-CN" sz="2400">
              <a:latin typeface="Times New Roman" pitchFamily="18" charset="0"/>
              <a:ea typeface="SimSun" pitchFamily="2" charset="-122"/>
            </a:endParaRPr>
          </a:p>
        </p:txBody>
      </p:sp>
      <p:sp>
        <p:nvSpPr>
          <p:cNvPr id="65577" name="Rectangle 42"/>
          <p:cNvSpPr>
            <a:spLocks noChangeArrowheads="1"/>
          </p:cNvSpPr>
          <p:nvPr/>
        </p:nvSpPr>
        <p:spPr bwMode="auto">
          <a:xfrm>
            <a:off x="1992313"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65578" name="Rectangle 43"/>
          <p:cNvSpPr>
            <a:spLocks noChangeArrowheads="1"/>
          </p:cNvSpPr>
          <p:nvPr/>
        </p:nvSpPr>
        <p:spPr bwMode="auto">
          <a:xfrm>
            <a:off x="2597150"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5</a:t>
            </a:r>
            <a:endParaRPr lang="en-CA" altLang="zh-CN" sz="2400">
              <a:latin typeface="Times New Roman" pitchFamily="18" charset="0"/>
              <a:ea typeface="SimSun" pitchFamily="2" charset="-122"/>
            </a:endParaRPr>
          </a:p>
        </p:txBody>
      </p:sp>
      <p:sp>
        <p:nvSpPr>
          <p:cNvPr id="65579" name="Rectangle 44"/>
          <p:cNvSpPr>
            <a:spLocks noChangeArrowheads="1"/>
          </p:cNvSpPr>
          <p:nvPr/>
        </p:nvSpPr>
        <p:spPr bwMode="auto">
          <a:xfrm>
            <a:off x="3200400"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6</a:t>
            </a:r>
            <a:endParaRPr lang="en-CA" altLang="zh-CN" sz="2400">
              <a:latin typeface="Times New Roman" pitchFamily="18" charset="0"/>
              <a:ea typeface="SimSun" pitchFamily="2" charset="-122"/>
            </a:endParaRPr>
          </a:p>
        </p:txBody>
      </p:sp>
      <p:sp>
        <p:nvSpPr>
          <p:cNvPr id="65580" name="Rectangle 45"/>
          <p:cNvSpPr>
            <a:spLocks noChangeArrowheads="1"/>
          </p:cNvSpPr>
          <p:nvPr/>
        </p:nvSpPr>
        <p:spPr bwMode="auto">
          <a:xfrm>
            <a:off x="3805238"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7</a:t>
            </a:r>
            <a:endParaRPr lang="en-CA" altLang="zh-CN" sz="2400">
              <a:latin typeface="Times New Roman" pitchFamily="18" charset="0"/>
              <a:ea typeface="SimSun" pitchFamily="2" charset="-122"/>
            </a:endParaRPr>
          </a:p>
        </p:txBody>
      </p:sp>
      <p:sp>
        <p:nvSpPr>
          <p:cNvPr id="65581" name="Rectangle 46"/>
          <p:cNvSpPr>
            <a:spLocks noChangeArrowheads="1"/>
          </p:cNvSpPr>
          <p:nvPr/>
        </p:nvSpPr>
        <p:spPr bwMode="auto">
          <a:xfrm>
            <a:off x="4824413"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0</a:t>
            </a:r>
            <a:endParaRPr lang="en-CA" altLang="zh-CN" sz="2400">
              <a:latin typeface="Times New Roman" pitchFamily="18" charset="0"/>
              <a:ea typeface="SimSun" pitchFamily="2" charset="-122"/>
            </a:endParaRPr>
          </a:p>
        </p:txBody>
      </p:sp>
      <p:sp>
        <p:nvSpPr>
          <p:cNvPr id="65582" name="Rectangle 47"/>
          <p:cNvSpPr>
            <a:spLocks noChangeArrowheads="1"/>
          </p:cNvSpPr>
          <p:nvPr/>
        </p:nvSpPr>
        <p:spPr bwMode="auto">
          <a:xfrm>
            <a:off x="1331913" y="2786063"/>
            <a:ext cx="138112" cy="198437"/>
          </a:xfrm>
          <a:prstGeom prst="rect">
            <a:avLst/>
          </a:prstGeom>
          <a:noFill/>
          <a:ln w="9525">
            <a:noFill/>
            <a:miter lim="800000"/>
            <a:headEnd/>
            <a:tailEnd/>
          </a:ln>
        </p:spPr>
        <p:txBody>
          <a:bodyPr wrap="none" lIns="0" tIns="0" rIns="0" bIns="0">
            <a:spAutoFit/>
          </a:bodyPr>
          <a:lstStyle/>
          <a:p>
            <a:r>
              <a:rPr lang="zh-CN" altLang="en-CA" sz="1300">
                <a:solidFill>
                  <a:srgbClr val="000000"/>
                </a:solidFill>
                <a:latin typeface="Nimbus Roman No9 L" charset="0"/>
                <a:ea typeface="SimSun" pitchFamily="2" charset="-122"/>
              </a:rPr>
              <a:t> </a:t>
            </a:r>
            <a:r>
              <a:rPr lang="en-CA" altLang="zh-CN" sz="1300">
                <a:solidFill>
                  <a:srgbClr val="000000"/>
                </a:solidFill>
                <a:latin typeface="Nimbus Roman No9 L" charset="0"/>
                <a:ea typeface="SimSun" pitchFamily="2" charset="-122"/>
              </a:rPr>
              <a:t>0</a:t>
            </a:r>
            <a:endParaRPr lang="en-CA" altLang="zh-CN" sz="2400">
              <a:latin typeface="Times New Roman" pitchFamily="18" charset="0"/>
              <a:ea typeface="SimSun" pitchFamily="2" charset="-122"/>
            </a:endParaRPr>
          </a:p>
        </p:txBody>
      </p:sp>
      <p:sp>
        <p:nvSpPr>
          <p:cNvPr id="65583" name="Rectangle 48"/>
          <p:cNvSpPr>
            <a:spLocks noChangeArrowheads="1"/>
          </p:cNvSpPr>
          <p:nvPr/>
        </p:nvSpPr>
        <p:spPr bwMode="auto">
          <a:xfrm>
            <a:off x="1370013"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65584" name="Rectangle 49"/>
          <p:cNvSpPr>
            <a:spLocks noChangeArrowheads="1"/>
          </p:cNvSpPr>
          <p:nvPr/>
        </p:nvSpPr>
        <p:spPr bwMode="auto">
          <a:xfrm>
            <a:off x="5108575" y="2671763"/>
            <a:ext cx="2416175" cy="3116262"/>
          </a:xfrm>
          <a:prstGeom prst="rect">
            <a:avLst/>
          </a:prstGeom>
          <a:noFill/>
          <a:ln w="19050">
            <a:solidFill>
              <a:srgbClr val="00FFFF"/>
            </a:solidFill>
            <a:miter lim="800000"/>
            <a:headEnd/>
            <a:tailEnd/>
          </a:ln>
        </p:spPr>
        <p:txBody>
          <a:bodyPr/>
          <a:lstStyle/>
          <a:p>
            <a:endParaRPr lang="en-US"/>
          </a:p>
        </p:txBody>
      </p:sp>
      <p:sp>
        <p:nvSpPr>
          <p:cNvPr id="65585" name="Line 50"/>
          <p:cNvSpPr>
            <a:spLocks noChangeShapeType="1"/>
          </p:cNvSpPr>
          <p:nvPr/>
        </p:nvSpPr>
        <p:spPr bwMode="auto">
          <a:xfrm flipH="1">
            <a:off x="5108575" y="3143250"/>
            <a:ext cx="2416175" cy="1588"/>
          </a:xfrm>
          <a:prstGeom prst="line">
            <a:avLst/>
          </a:prstGeom>
          <a:noFill/>
          <a:ln w="19050">
            <a:solidFill>
              <a:srgbClr val="00FFFF"/>
            </a:solidFill>
            <a:round/>
            <a:headEnd/>
            <a:tailEnd/>
          </a:ln>
        </p:spPr>
        <p:txBody>
          <a:bodyPr/>
          <a:lstStyle/>
          <a:p>
            <a:endParaRPr lang="en-IN"/>
          </a:p>
        </p:txBody>
      </p:sp>
      <p:sp>
        <p:nvSpPr>
          <p:cNvPr id="65586" name="Line 51"/>
          <p:cNvSpPr>
            <a:spLocks noChangeShapeType="1"/>
          </p:cNvSpPr>
          <p:nvPr/>
        </p:nvSpPr>
        <p:spPr bwMode="auto">
          <a:xfrm flipH="1">
            <a:off x="5108575" y="3635375"/>
            <a:ext cx="2416175" cy="1588"/>
          </a:xfrm>
          <a:prstGeom prst="line">
            <a:avLst/>
          </a:prstGeom>
          <a:noFill/>
          <a:ln w="19050">
            <a:solidFill>
              <a:srgbClr val="00FFFF"/>
            </a:solidFill>
            <a:round/>
            <a:headEnd/>
            <a:tailEnd/>
          </a:ln>
        </p:spPr>
        <p:txBody>
          <a:bodyPr/>
          <a:lstStyle/>
          <a:p>
            <a:endParaRPr lang="en-IN"/>
          </a:p>
        </p:txBody>
      </p:sp>
      <p:sp>
        <p:nvSpPr>
          <p:cNvPr id="65587" name="Line 52"/>
          <p:cNvSpPr>
            <a:spLocks noChangeShapeType="1"/>
          </p:cNvSpPr>
          <p:nvPr/>
        </p:nvSpPr>
        <p:spPr bwMode="auto">
          <a:xfrm flipV="1">
            <a:off x="5711825" y="2671763"/>
            <a:ext cx="1588" cy="963612"/>
          </a:xfrm>
          <a:prstGeom prst="line">
            <a:avLst/>
          </a:prstGeom>
          <a:noFill/>
          <a:ln w="19050">
            <a:solidFill>
              <a:srgbClr val="00FFFF"/>
            </a:solidFill>
            <a:round/>
            <a:headEnd/>
            <a:tailEnd/>
          </a:ln>
        </p:spPr>
        <p:txBody>
          <a:bodyPr/>
          <a:lstStyle/>
          <a:p>
            <a:endParaRPr lang="en-IN"/>
          </a:p>
        </p:txBody>
      </p:sp>
      <p:sp>
        <p:nvSpPr>
          <p:cNvPr id="65588" name="Line 53"/>
          <p:cNvSpPr>
            <a:spLocks noChangeShapeType="1"/>
          </p:cNvSpPr>
          <p:nvPr/>
        </p:nvSpPr>
        <p:spPr bwMode="auto">
          <a:xfrm flipV="1">
            <a:off x="6316663" y="2671763"/>
            <a:ext cx="1587" cy="963612"/>
          </a:xfrm>
          <a:prstGeom prst="line">
            <a:avLst/>
          </a:prstGeom>
          <a:noFill/>
          <a:ln w="19050">
            <a:solidFill>
              <a:srgbClr val="00FFFF"/>
            </a:solidFill>
            <a:round/>
            <a:headEnd/>
            <a:tailEnd/>
          </a:ln>
        </p:spPr>
        <p:txBody>
          <a:bodyPr/>
          <a:lstStyle/>
          <a:p>
            <a:endParaRPr lang="en-IN"/>
          </a:p>
        </p:txBody>
      </p:sp>
      <p:sp>
        <p:nvSpPr>
          <p:cNvPr id="65589" name="Line 54"/>
          <p:cNvSpPr>
            <a:spLocks noChangeShapeType="1"/>
          </p:cNvSpPr>
          <p:nvPr/>
        </p:nvSpPr>
        <p:spPr bwMode="auto">
          <a:xfrm flipV="1">
            <a:off x="6921500" y="2671763"/>
            <a:ext cx="1588" cy="963612"/>
          </a:xfrm>
          <a:prstGeom prst="line">
            <a:avLst/>
          </a:prstGeom>
          <a:noFill/>
          <a:ln w="19050">
            <a:solidFill>
              <a:srgbClr val="00FFFF"/>
            </a:solidFill>
            <a:round/>
            <a:headEnd/>
            <a:tailEnd/>
          </a:ln>
        </p:spPr>
        <p:txBody>
          <a:bodyPr/>
          <a:lstStyle/>
          <a:p>
            <a:endParaRPr lang="en-IN"/>
          </a:p>
        </p:txBody>
      </p:sp>
      <p:sp>
        <p:nvSpPr>
          <p:cNvPr id="65590" name="Line 55"/>
          <p:cNvSpPr>
            <a:spLocks noChangeShapeType="1"/>
          </p:cNvSpPr>
          <p:nvPr/>
        </p:nvSpPr>
        <p:spPr bwMode="auto">
          <a:xfrm flipH="1">
            <a:off x="5108575" y="5316538"/>
            <a:ext cx="2416175" cy="1587"/>
          </a:xfrm>
          <a:prstGeom prst="line">
            <a:avLst/>
          </a:prstGeom>
          <a:noFill/>
          <a:ln w="19050">
            <a:solidFill>
              <a:srgbClr val="00FFFF"/>
            </a:solidFill>
            <a:round/>
            <a:headEnd/>
            <a:tailEnd/>
          </a:ln>
        </p:spPr>
        <p:txBody>
          <a:bodyPr/>
          <a:lstStyle/>
          <a:p>
            <a:endParaRPr lang="en-IN"/>
          </a:p>
        </p:txBody>
      </p:sp>
      <p:sp>
        <p:nvSpPr>
          <p:cNvPr id="65591" name="Line 56"/>
          <p:cNvSpPr>
            <a:spLocks noChangeShapeType="1"/>
          </p:cNvSpPr>
          <p:nvPr/>
        </p:nvSpPr>
        <p:spPr bwMode="auto">
          <a:xfrm flipV="1">
            <a:off x="5711825" y="5316538"/>
            <a:ext cx="1588" cy="471487"/>
          </a:xfrm>
          <a:prstGeom prst="line">
            <a:avLst/>
          </a:prstGeom>
          <a:noFill/>
          <a:ln w="19050">
            <a:solidFill>
              <a:srgbClr val="00FFFF"/>
            </a:solidFill>
            <a:round/>
            <a:headEnd/>
            <a:tailEnd/>
          </a:ln>
        </p:spPr>
        <p:txBody>
          <a:bodyPr/>
          <a:lstStyle/>
          <a:p>
            <a:endParaRPr lang="en-IN"/>
          </a:p>
        </p:txBody>
      </p:sp>
      <p:sp>
        <p:nvSpPr>
          <p:cNvPr id="65592" name="Line 57"/>
          <p:cNvSpPr>
            <a:spLocks noChangeShapeType="1"/>
          </p:cNvSpPr>
          <p:nvPr/>
        </p:nvSpPr>
        <p:spPr bwMode="auto">
          <a:xfrm flipV="1">
            <a:off x="6316663" y="5316538"/>
            <a:ext cx="1587" cy="471487"/>
          </a:xfrm>
          <a:prstGeom prst="line">
            <a:avLst/>
          </a:prstGeom>
          <a:noFill/>
          <a:ln w="19050">
            <a:solidFill>
              <a:srgbClr val="00FFFF"/>
            </a:solidFill>
            <a:round/>
            <a:headEnd/>
            <a:tailEnd/>
          </a:ln>
        </p:spPr>
        <p:txBody>
          <a:bodyPr/>
          <a:lstStyle/>
          <a:p>
            <a:endParaRPr lang="en-IN"/>
          </a:p>
        </p:txBody>
      </p:sp>
      <p:sp>
        <p:nvSpPr>
          <p:cNvPr id="65593" name="Line 58"/>
          <p:cNvSpPr>
            <a:spLocks noChangeShapeType="1"/>
          </p:cNvSpPr>
          <p:nvPr/>
        </p:nvSpPr>
        <p:spPr bwMode="auto">
          <a:xfrm flipV="1">
            <a:off x="6921500" y="5316538"/>
            <a:ext cx="1588" cy="471487"/>
          </a:xfrm>
          <a:prstGeom prst="line">
            <a:avLst/>
          </a:prstGeom>
          <a:noFill/>
          <a:ln w="19050">
            <a:solidFill>
              <a:srgbClr val="00FFFF"/>
            </a:solidFill>
            <a:round/>
            <a:headEnd/>
            <a:tailEnd/>
          </a:ln>
        </p:spPr>
        <p:txBody>
          <a:bodyPr/>
          <a:lstStyle/>
          <a:p>
            <a:endParaRPr lang="en-IN"/>
          </a:p>
        </p:txBody>
      </p:sp>
      <p:sp>
        <p:nvSpPr>
          <p:cNvPr id="65594" name="Rectangle 59"/>
          <p:cNvSpPr>
            <a:spLocks noChangeArrowheads="1"/>
          </p:cNvSpPr>
          <p:nvPr/>
        </p:nvSpPr>
        <p:spPr bwMode="auto">
          <a:xfrm>
            <a:off x="524033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595" name="Rectangle 60"/>
          <p:cNvSpPr>
            <a:spLocks noChangeArrowheads="1"/>
          </p:cNvSpPr>
          <p:nvPr/>
        </p:nvSpPr>
        <p:spPr bwMode="auto">
          <a:xfrm>
            <a:off x="5316538"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5596" name="Rectangle 61"/>
          <p:cNvSpPr>
            <a:spLocks noChangeArrowheads="1"/>
          </p:cNvSpPr>
          <p:nvPr/>
        </p:nvSpPr>
        <p:spPr bwMode="auto">
          <a:xfrm>
            <a:off x="5522913"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1</a:t>
            </a:r>
            <a:endParaRPr lang="en-CA" altLang="zh-CN" sz="2400">
              <a:latin typeface="Times New Roman" pitchFamily="18" charset="0"/>
              <a:ea typeface="SimSun" pitchFamily="2" charset="-122"/>
            </a:endParaRPr>
          </a:p>
        </p:txBody>
      </p:sp>
      <p:sp>
        <p:nvSpPr>
          <p:cNvPr id="65597" name="Rectangle 62"/>
          <p:cNvSpPr>
            <a:spLocks noChangeArrowheads="1"/>
          </p:cNvSpPr>
          <p:nvPr/>
        </p:nvSpPr>
        <p:spPr bwMode="auto">
          <a:xfrm>
            <a:off x="5391150" y="5467350"/>
            <a:ext cx="55563"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5598" name="Rectangle 63"/>
          <p:cNvSpPr>
            <a:spLocks noChangeArrowheads="1"/>
          </p:cNvSpPr>
          <p:nvPr/>
        </p:nvSpPr>
        <p:spPr bwMode="auto">
          <a:xfrm>
            <a:off x="5826125"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599" name="Rectangle 64"/>
          <p:cNvSpPr>
            <a:spLocks noChangeArrowheads="1"/>
          </p:cNvSpPr>
          <p:nvPr/>
        </p:nvSpPr>
        <p:spPr bwMode="auto">
          <a:xfrm>
            <a:off x="5919788"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5600" name="Rectangle 65"/>
          <p:cNvSpPr>
            <a:spLocks noChangeArrowheads="1"/>
          </p:cNvSpPr>
          <p:nvPr/>
        </p:nvSpPr>
        <p:spPr bwMode="auto">
          <a:xfrm>
            <a:off x="6127750"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601" name="Rectangle 66"/>
          <p:cNvSpPr>
            <a:spLocks noChangeArrowheads="1"/>
          </p:cNvSpPr>
          <p:nvPr/>
        </p:nvSpPr>
        <p:spPr bwMode="auto">
          <a:xfrm>
            <a:off x="5995988" y="5467350"/>
            <a:ext cx="5556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5602" name="Rectangle 67"/>
          <p:cNvSpPr>
            <a:spLocks noChangeArrowheads="1"/>
          </p:cNvSpPr>
          <p:nvPr/>
        </p:nvSpPr>
        <p:spPr bwMode="auto">
          <a:xfrm>
            <a:off x="6429375"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603" name="Rectangle 68"/>
          <p:cNvSpPr>
            <a:spLocks noChangeArrowheads="1"/>
          </p:cNvSpPr>
          <p:nvPr/>
        </p:nvSpPr>
        <p:spPr bwMode="auto">
          <a:xfrm>
            <a:off x="6524625"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5604" name="Rectangle 69"/>
          <p:cNvSpPr>
            <a:spLocks noChangeArrowheads="1"/>
          </p:cNvSpPr>
          <p:nvPr/>
        </p:nvSpPr>
        <p:spPr bwMode="auto">
          <a:xfrm>
            <a:off x="671353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a:t>
            </a:r>
            <a:endParaRPr lang="en-CA" altLang="zh-CN" sz="2400">
              <a:latin typeface="Times New Roman" pitchFamily="18" charset="0"/>
              <a:ea typeface="SimSun" pitchFamily="2" charset="-122"/>
            </a:endParaRPr>
          </a:p>
        </p:txBody>
      </p:sp>
      <p:sp>
        <p:nvSpPr>
          <p:cNvPr id="65605" name="Rectangle 70"/>
          <p:cNvSpPr>
            <a:spLocks noChangeArrowheads="1"/>
          </p:cNvSpPr>
          <p:nvPr/>
        </p:nvSpPr>
        <p:spPr bwMode="auto">
          <a:xfrm>
            <a:off x="6599238" y="5467350"/>
            <a:ext cx="5556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5606" name="Rectangle 71"/>
          <p:cNvSpPr>
            <a:spLocks noChangeArrowheads="1"/>
          </p:cNvSpPr>
          <p:nvPr/>
        </p:nvSpPr>
        <p:spPr bwMode="auto">
          <a:xfrm>
            <a:off x="7034213"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607" name="Rectangle 72"/>
          <p:cNvSpPr>
            <a:spLocks noChangeArrowheads="1"/>
          </p:cNvSpPr>
          <p:nvPr/>
        </p:nvSpPr>
        <p:spPr bwMode="auto">
          <a:xfrm>
            <a:off x="7127875"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5608" name="Rectangle 73"/>
          <p:cNvSpPr>
            <a:spLocks noChangeArrowheads="1"/>
          </p:cNvSpPr>
          <p:nvPr/>
        </p:nvSpPr>
        <p:spPr bwMode="auto">
          <a:xfrm>
            <a:off x="731678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65609" name="Rectangle 74"/>
          <p:cNvSpPr>
            <a:spLocks noChangeArrowheads="1"/>
          </p:cNvSpPr>
          <p:nvPr/>
        </p:nvSpPr>
        <p:spPr bwMode="auto">
          <a:xfrm>
            <a:off x="7204075" y="5467350"/>
            <a:ext cx="55563"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5610" name="Rectangle 75"/>
          <p:cNvSpPr>
            <a:spLocks noChangeArrowheads="1"/>
          </p:cNvSpPr>
          <p:nvPr/>
        </p:nvSpPr>
        <p:spPr bwMode="auto">
          <a:xfrm>
            <a:off x="5372100"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a:t>
            </a:r>
            <a:endParaRPr lang="en-CA" altLang="zh-CN" sz="2400">
              <a:latin typeface="Times New Roman" pitchFamily="18" charset="0"/>
              <a:ea typeface="SimSun" pitchFamily="2" charset="-122"/>
            </a:endParaRPr>
          </a:p>
        </p:txBody>
      </p:sp>
      <p:sp>
        <p:nvSpPr>
          <p:cNvPr id="65611" name="Rectangle 76"/>
          <p:cNvSpPr>
            <a:spLocks noChangeArrowheads="1"/>
          </p:cNvSpPr>
          <p:nvPr/>
        </p:nvSpPr>
        <p:spPr bwMode="auto">
          <a:xfrm>
            <a:off x="5976938"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5612" name="Rectangle 77"/>
          <p:cNvSpPr>
            <a:spLocks noChangeArrowheads="1"/>
          </p:cNvSpPr>
          <p:nvPr/>
        </p:nvSpPr>
        <p:spPr bwMode="auto">
          <a:xfrm>
            <a:off x="6562725"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1</a:t>
            </a:r>
            <a:endParaRPr lang="en-CA" altLang="zh-CN" sz="2400">
              <a:latin typeface="Times New Roman" pitchFamily="18" charset="0"/>
              <a:ea typeface="SimSun" pitchFamily="2" charset="-122"/>
            </a:endParaRPr>
          </a:p>
        </p:txBody>
      </p:sp>
      <p:sp>
        <p:nvSpPr>
          <p:cNvPr id="65613" name="Rectangle 78"/>
          <p:cNvSpPr>
            <a:spLocks noChangeArrowheads="1"/>
          </p:cNvSpPr>
          <p:nvPr/>
        </p:nvSpPr>
        <p:spPr bwMode="auto">
          <a:xfrm>
            <a:off x="7165975"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0</a:t>
            </a:r>
            <a:endParaRPr lang="en-CA" altLang="zh-CN" sz="2400">
              <a:latin typeface="Times New Roman" pitchFamily="18" charset="0"/>
              <a:ea typeface="SimSun" pitchFamily="2" charset="-122"/>
            </a:endParaRPr>
          </a:p>
        </p:txBody>
      </p:sp>
      <p:sp>
        <p:nvSpPr>
          <p:cNvPr id="65614" name="Rectangle 79"/>
          <p:cNvSpPr>
            <a:spLocks noChangeArrowheads="1"/>
          </p:cNvSpPr>
          <p:nvPr/>
        </p:nvSpPr>
        <p:spPr bwMode="auto">
          <a:xfrm>
            <a:off x="5372100"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7</a:t>
            </a:r>
            <a:endParaRPr lang="en-CA" altLang="zh-CN" sz="2400">
              <a:latin typeface="Times New Roman" pitchFamily="18" charset="0"/>
              <a:ea typeface="SimSun" pitchFamily="2" charset="-122"/>
            </a:endParaRPr>
          </a:p>
        </p:txBody>
      </p:sp>
      <p:sp>
        <p:nvSpPr>
          <p:cNvPr id="65615" name="Rectangle 80"/>
          <p:cNvSpPr>
            <a:spLocks noChangeArrowheads="1"/>
          </p:cNvSpPr>
          <p:nvPr/>
        </p:nvSpPr>
        <p:spPr bwMode="auto">
          <a:xfrm>
            <a:off x="5976938"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6</a:t>
            </a:r>
            <a:endParaRPr lang="en-CA" altLang="zh-CN" sz="2400">
              <a:latin typeface="Times New Roman" pitchFamily="18" charset="0"/>
              <a:ea typeface="SimSun" pitchFamily="2" charset="-122"/>
            </a:endParaRPr>
          </a:p>
        </p:txBody>
      </p:sp>
      <p:sp>
        <p:nvSpPr>
          <p:cNvPr id="65616" name="Rectangle 81"/>
          <p:cNvSpPr>
            <a:spLocks noChangeArrowheads="1"/>
          </p:cNvSpPr>
          <p:nvPr/>
        </p:nvSpPr>
        <p:spPr bwMode="auto">
          <a:xfrm>
            <a:off x="6562725"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5</a:t>
            </a:r>
            <a:endParaRPr lang="en-CA" altLang="zh-CN" sz="2400">
              <a:latin typeface="Times New Roman" pitchFamily="18" charset="0"/>
              <a:ea typeface="SimSun" pitchFamily="2" charset="-122"/>
            </a:endParaRPr>
          </a:p>
        </p:txBody>
      </p:sp>
      <p:sp>
        <p:nvSpPr>
          <p:cNvPr id="65617" name="Rectangle 82"/>
          <p:cNvSpPr>
            <a:spLocks noChangeArrowheads="1"/>
          </p:cNvSpPr>
          <p:nvPr/>
        </p:nvSpPr>
        <p:spPr bwMode="auto">
          <a:xfrm>
            <a:off x="7165975"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65618" name="Rectangle 83"/>
          <p:cNvSpPr>
            <a:spLocks noChangeArrowheads="1"/>
          </p:cNvSpPr>
          <p:nvPr/>
        </p:nvSpPr>
        <p:spPr bwMode="auto">
          <a:xfrm>
            <a:off x="5881688" y="2370138"/>
            <a:ext cx="965200"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Byte address</a:t>
            </a:r>
            <a:endParaRPr lang="en-CA" altLang="zh-CN" sz="2400">
              <a:latin typeface="Times New Roman" pitchFamily="18" charset="0"/>
              <a:ea typeface="SimSun" pitchFamily="2" charset="-122"/>
            </a:endParaRPr>
          </a:p>
        </p:txBody>
      </p:sp>
      <p:sp>
        <p:nvSpPr>
          <p:cNvPr id="65619" name="Rectangle 84"/>
          <p:cNvSpPr>
            <a:spLocks noChangeArrowheads="1"/>
          </p:cNvSpPr>
          <p:nvPr/>
        </p:nvSpPr>
        <p:spPr bwMode="auto">
          <a:xfrm>
            <a:off x="2501900" y="2370138"/>
            <a:ext cx="965200"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Byte address</a:t>
            </a:r>
            <a:endParaRPr lang="en-CA" altLang="zh-CN" sz="2400">
              <a:latin typeface="Times New Roman" pitchFamily="18" charset="0"/>
              <a:ea typeface="SimSun" pitchFamily="2" charset="-122"/>
            </a:endParaRPr>
          </a:p>
        </p:txBody>
      </p:sp>
      <p:sp>
        <p:nvSpPr>
          <p:cNvPr id="65620" name="Rectangle 85"/>
          <p:cNvSpPr>
            <a:spLocks noChangeArrowheads="1"/>
          </p:cNvSpPr>
          <p:nvPr/>
        </p:nvSpPr>
        <p:spPr bwMode="auto">
          <a:xfrm>
            <a:off x="1954213" y="6165850"/>
            <a:ext cx="1931987"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Sans L" charset="0"/>
                <a:ea typeface="SimSun" pitchFamily="2" charset="-122"/>
              </a:rPr>
              <a:t>(a) Big-endian assignment</a:t>
            </a:r>
            <a:endParaRPr lang="en-CA" altLang="zh-CN" sz="2400">
              <a:latin typeface="Times New Roman" pitchFamily="18" charset="0"/>
              <a:ea typeface="SimSun" pitchFamily="2" charset="-122"/>
            </a:endParaRPr>
          </a:p>
        </p:txBody>
      </p:sp>
      <p:sp>
        <p:nvSpPr>
          <p:cNvPr id="65621" name="Rectangle 86"/>
          <p:cNvSpPr>
            <a:spLocks noChangeArrowheads="1"/>
          </p:cNvSpPr>
          <p:nvPr/>
        </p:nvSpPr>
        <p:spPr bwMode="auto">
          <a:xfrm>
            <a:off x="5259388" y="6165850"/>
            <a:ext cx="204311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Sans L" charset="0"/>
                <a:ea typeface="SimSun" pitchFamily="2" charset="-122"/>
              </a:rPr>
              <a:t>(b) Little-endian assignment</a:t>
            </a:r>
            <a:endParaRPr lang="en-CA" altLang="zh-CN" sz="2400">
              <a:latin typeface="Times New Roman" pitchFamily="18" charset="0"/>
              <a:ea typeface="SimSun" pitchFamily="2" charset="-122"/>
            </a:endParaRPr>
          </a:p>
        </p:txBody>
      </p:sp>
      <p:sp>
        <p:nvSpPr>
          <p:cNvPr id="65622" name="Rectangle 87"/>
          <p:cNvSpPr>
            <a:spLocks noChangeArrowheads="1"/>
          </p:cNvSpPr>
          <p:nvPr/>
        </p:nvSpPr>
        <p:spPr bwMode="auto">
          <a:xfrm>
            <a:off x="4824413"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65623" name="Rectangle 88"/>
          <p:cNvSpPr>
            <a:spLocks noChangeArrowheads="1"/>
          </p:cNvSpPr>
          <p:nvPr/>
        </p:nvSpPr>
        <p:spPr bwMode="auto">
          <a:xfrm>
            <a:off x="1200150" y="2143125"/>
            <a:ext cx="155575" cy="198438"/>
          </a:xfrm>
          <a:prstGeom prst="rect">
            <a:avLst/>
          </a:prstGeom>
          <a:noFill/>
          <a:ln w="9525">
            <a:noFill/>
            <a:miter lim="800000"/>
            <a:headEnd/>
            <a:tailEnd/>
          </a:ln>
        </p:spPr>
        <p:txBody>
          <a:bodyPr wrap="none" lIns="0" tIns="0" rIns="0" bIns="0">
            <a:spAutoFit/>
          </a:bodyPr>
          <a:lstStyle/>
          <a:p>
            <a:r>
              <a:rPr lang="en-CA" altLang="zh-CN" sz="1300" dirty="0">
                <a:solidFill>
                  <a:srgbClr val="000000"/>
                </a:solidFill>
                <a:latin typeface="Nimbus Roman No9 L" charset="0"/>
                <a:ea typeface="SimSun" pitchFamily="2" charset="-122"/>
              </a:rPr>
              <a:t>W</a:t>
            </a:r>
            <a:endParaRPr lang="en-CA" altLang="zh-CN" sz="2400" dirty="0">
              <a:latin typeface="Times New Roman" pitchFamily="18" charset="0"/>
              <a:ea typeface="SimSun" pitchFamily="2" charset="-122"/>
            </a:endParaRPr>
          </a:p>
        </p:txBody>
      </p:sp>
      <p:sp>
        <p:nvSpPr>
          <p:cNvPr id="65624" name="Rectangle 89"/>
          <p:cNvSpPr>
            <a:spLocks noChangeArrowheads="1"/>
          </p:cNvSpPr>
          <p:nvPr/>
        </p:nvSpPr>
        <p:spPr bwMode="auto">
          <a:xfrm>
            <a:off x="1350963" y="2143125"/>
            <a:ext cx="239712" cy="198438"/>
          </a:xfrm>
          <a:prstGeom prst="rect">
            <a:avLst/>
          </a:prstGeom>
          <a:noFill/>
          <a:ln w="9525">
            <a:noFill/>
            <a:miter lim="800000"/>
            <a:headEnd/>
            <a:tailEnd/>
          </a:ln>
        </p:spPr>
        <p:txBody>
          <a:bodyPr wrap="none" lIns="0" tIns="0" rIns="0" bIns="0">
            <a:spAutoFit/>
          </a:bodyPr>
          <a:lstStyle/>
          <a:p>
            <a:r>
              <a:rPr lang="en-CA" altLang="zh-CN" sz="1300" dirty="0" err="1">
                <a:solidFill>
                  <a:srgbClr val="000000"/>
                </a:solidFill>
                <a:latin typeface="Nimbus Roman No9 L" charset="0"/>
                <a:ea typeface="SimSun" pitchFamily="2" charset="-122"/>
              </a:rPr>
              <a:t>ord</a:t>
            </a:r>
            <a:endParaRPr lang="en-CA" altLang="zh-CN" sz="2400" dirty="0">
              <a:latin typeface="Times New Roman" pitchFamily="18" charset="0"/>
              <a:ea typeface="SimSun" pitchFamily="2" charset="-122"/>
            </a:endParaRPr>
          </a:p>
        </p:txBody>
      </p:sp>
      <p:sp>
        <p:nvSpPr>
          <p:cNvPr id="65625" name="Rectangle 90"/>
          <p:cNvSpPr>
            <a:spLocks noChangeArrowheads="1"/>
          </p:cNvSpPr>
          <p:nvPr/>
        </p:nvSpPr>
        <p:spPr bwMode="auto">
          <a:xfrm>
            <a:off x="1143000" y="2351088"/>
            <a:ext cx="588963"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address</a:t>
            </a:r>
            <a:endParaRPr lang="en-CA" altLang="zh-CN" sz="2400">
              <a:latin typeface="Times New Roman" pitchFamily="18" charset="0"/>
              <a:ea typeface="SimSun" pitchFamily="2" charset="-122"/>
            </a:endParaRPr>
          </a:p>
        </p:txBody>
      </p:sp>
      <p:sp>
        <p:nvSpPr>
          <p:cNvPr id="65626" name="Text Box 91"/>
          <p:cNvSpPr txBox="1">
            <a:spLocks noChangeArrowheads="1"/>
          </p:cNvSpPr>
          <p:nvPr/>
        </p:nvSpPr>
        <p:spPr bwMode="auto">
          <a:xfrm>
            <a:off x="6216650" y="4035425"/>
            <a:ext cx="266700" cy="1003300"/>
          </a:xfrm>
          <a:prstGeom prst="rect">
            <a:avLst/>
          </a:prstGeom>
          <a:noFill/>
          <a:ln w="9525">
            <a:noFill/>
            <a:miter lim="800000"/>
            <a:headEnd/>
            <a:tailEnd/>
          </a:ln>
        </p:spPr>
        <p:txBody>
          <a:bodyPr>
            <a:spAutoFit/>
          </a:bodyPr>
          <a:lstStyle/>
          <a:p>
            <a:pPr>
              <a:lnSpc>
                <a:spcPct val="20000"/>
              </a:lnSpc>
              <a:spcBef>
                <a:spcPct val="50000"/>
              </a:spcBef>
            </a:pPr>
            <a:endParaRPr lang="zh-CN" altLang="en-US"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p>
          <a:p>
            <a:pPr>
              <a:lnSpc>
                <a:spcPct val="20000"/>
              </a:lnSpc>
              <a:spcBef>
                <a:spcPct val="50000"/>
              </a:spcBef>
            </a:pPr>
            <a:endParaRPr lang="zh-CN" altLang="en-CA" sz="2000">
              <a:latin typeface="Nimbus Roman No9 L" charset="0"/>
              <a:ea typeface="SimSun" pitchFamily="2" charset="-122"/>
            </a:endParaRPr>
          </a:p>
        </p:txBody>
      </p:sp>
      <p:sp>
        <p:nvSpPr>
          <p:cNvPr id="65627" name="Text Box 92"/>
          <p:cNvSpPr txBox="1">
            <a:spLocks noChangeArrowheads="1"/>
          </p:cNvSpPr>
          <p:nvPr/>
        </p:nvSpPr>
        <p:spPr bwMode="auto">
          <a:xfrm>
            <a:off x="2768600" y="4035425"/>
            <a:ext cx="266700" cy="1003300"/>
          </a:xfrm>
          <a:prstGeom prst="rect">
            <a:avLst/>
          </a:prstGeom>
          <a:noFill/>
          <a:ln w="9525">
            <a:noFill/>
            <a:miter lim="800000"/>
            <a:headEnd/>
            <a:tailEnd/>
          </a:ln>
        </p:spPr>
        <p:txBody>
          <a:bodyPr>
            <a:spAutoFit/>
          </a:bodyPr>
          <a:lstStyle/>
          <a:p>
            <a:pPr>
              <a:lnSpc>
                <a:spcPct val="20000"/>
              </a:lnSpc>
              <a:spcBef>
                <a:spcPct val="50000"/>
              </a:spcBef>
            </a:pPr>
            <a:endParaRPr lang="zh-CN" altLang="en-US"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p>
          <a:p>
            <a:pPr>
              <a:lnSpc>
                <a:spcPct val="20000"/>
              </a:lnSpc>
              <a:spcBef>
                <a:spcPct val="50000"/>
              </a:spcBef>
            </a:pPr>
            <a:endParaRPr lang="zh-CN" altLang="en-CA" sz="2000">
              <a:latin typeface="Nimbus Roman No9 L" charset="0"/>
              <a:ea typeface="SimSun" pitchFamily="2" charset="-122"/>
            </a:endParaRPr>
          </a:p>
        </p:txBody>
      </p:sp>
      <p:sp>
        <p:nvSpPr>
          <p:cNvPr id="65628" name="Rectangle 93"/>
          <p:cNvSpPr>
            <a:spLocks noChangeArrowheads="1"/>
          </p:cNvSpPr>
          <p:nvPr/>
        </p:nvSpPr>
        <p:spPr bwMode="auto">
          <a:xfrm>
            <a:off x="2895600" y="6477000"/>
            <a:ext cx="3275013" cy="228600"/>
          </a:xfrm>
          <a:prstGeom prst="rect">
            <a:avLst/>
          </a:prstGeom>
          <a:noFill/>
          <a:ln w="9525">
            <a:noFill/>
            <a:miter lim="800000"/>
            <a:headEnd/>
            <a:tailEnd/>
          </a:ln>
        </p:spPr>
        <p:txBody>
          <a:bodyPr wrap="none" lIns="0" tIns="0" rIns="0" bIns="0">
            <a:spAutoFit/>
          </a:bodyPr>
          <a:lstStyle/>
          <a:p>
            <a:r>
              <a:rPr lang="en-CA" altLang="zh-CN" sz="1500">
                <a:solidFill>
                  <a:srgbClr val="000000"/>
                </a:solidFill>
                <a:latin typeface="Nimbus Roman No9 L" charset="0"/>
                <a:ea typeface="SimSun" pitchFamily="2" charset="-122"/>
              </a:rPr>
              <a:t>Figure 2.7.</a:t>
            </a:r>
            <a:r>
              <a:rPr lang="en-US" altLang="zh-CN" sz="1500">
                <a:solidFill>
                  <a:srgbClr val="000000"/>
                </a:solidFill>
                <a:latin typeface="Nimbus Roman No9 L" charset="0"/>
                <a:ea typeface="SimSun" pitchFamily="2" charset="-122"/>
              </a:rPr>
              <a:t>  Byte and word addressing.</a:t>
            </a:r>
            <a:endParaRPr lang="en-CA" altLang="zh-CN" sz="2400">
              <a:latin typeface="Times New Roman" pitchFamily="18" charset="0"/>
              <a:ea typeface="SimSun" pitchFamily="2" charset="-122"/>
            </a:endParaRPr>
          </a:p>
        </p:txBody>
      </p:sp>
      <p:sp>
        <p:nvSpPr>
          <p:cNvPr id="65629" name="Text Box 95"/>
          <p:cNvSpPr txBox="1">
            <a:spLocks noChangeArrowheads="1"/>
          </p:cNvSpPr>
          <p:nvPr/>
        </p:nvSpPr>
        <p:spPr bwMode="auto">
          <a:xfrm>
            <a:off x="685800" y="685800"/>
            <a:ext cx="7315200" cy="1477963"/>
          </a:xfrm>
          <a:prstGeom prst="rect">
            <a:avLst/>
          </a:prstGeom>
          <a:noFill/>
          <a:ln w="9525">
            <a:noFill/>
            <a:miter lim="800000"/>
            <a:headEnd/>
            <a:tailEnd/>
          </a:ln>
        </p:spPr>
        <p:txBody>
          <a:bodyPr>
            <a:spAutoFit/>
          </a:bodyPr>
          <a:lstStyle/>
          <a:p>
            <a:pPr algn="just">
              <a:spcBef>
                <a:spcPct val="50000"/>
              </a:spcBef>
            </a:pPr>
            <a:r>
              <a:rPr lang="en-US" altLang="zh-CN" sz="2000" dirty="0">
                <a:latin typeface="Times New Roman" pitchFamily="18" charset="0"/>
                <a:ea typeface="SimSun" pitchFamily="2" charset="-122"/>
                <a:cs typeface="Times New Roman" pitchFamily="18" charset="0"/>
              </a:rPr>
              <a:t>Big-Endian: lower byte addresses are used for the most significant bytes of the word</a:t>
            </a:r>
          </a:p>
          <a:p>
            <a:pPr algn="just">
              <a:spcBef>
                <a:spcPct val="50000"/>
              </a:spcBef>
            </a:pPr>
            <a:r>
              <a:rPr lang="en-US" altLang="zh-CN" sz="2000" dirty="0">
                <a:latin typeface="Times New Roman" pitchFamily="18" charset="0"/>
                <a:ea typeface="SimSun" pitchFamily="2" charset="-122"/>
                <a:cs typeface="Times New Roman" pitchFamily="18" charset="0"/>
              </a:rPr>
              <a:t>Little-Endian: opposite ordering. lower byte addresses are used for the less significant bytes of the word</a:t>
            </a:r>
            <a:endParaRPr lang="en-US" sz="2000" dirty="0">
              <a:latin typeface="Times New Roman" pitchFamily="18" charset="0"/>
              <a:ea typeface="SimSun"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58847"/>
            <a:ext cx="8136904" cy="5940088"/>
          </a:xfrm>
          <a:prstGeom prst="rect">
            <a:avLst/>
          </a:prstGeom>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What is </a:t>
            </a:r>
            <a:r>
              <a:rPr lang="en-US" sz="2000" b="1" dirty="0" smtClean="0">
                <a:solidFill>
                  <a:srgbClr val="C00000"/>
                </a:solidFill>
                <a:latin typeface="Times New Roman" panose="02020603050405020304" pitchFamily="18" charset="0"/>
                <a:cs typeface="Times New Roman" panose="02020603050405020304" pitchFamily="18" charset="0"/>
              </a:rPr>
              <a:t>Big-Endian</a:t>
            </a:r>
            <a:r>
              <a:rPr lang="en-US" sz="2000" b="1" dirty="0">
                <a:solidFill>
                  <a:srgbClr val="C00000"/>
                </a:solidFill>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 a big-endian system, the most significant byte (MSB) is stored at the</a:t>
            </a:r>
          </a:p>
          <a:p>
            <a:r>
              <a:rPr lang="en-US" sz="2000" dirty="0">
                <a:latin typeface="Times New Roman" panose="02020603050405020304" pitchFamily="18" charset="0"/>
                <a:cs typeface="Times New Roman" panose="02020603050405020304" pitchFamily="18" charset="0"/>
              </a:rPr>
              <a:t>lowest memory address.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means the “big end” (the most significant part of the data) comes</a:t>
            </a:r>
          </a:p>
          <a:p>
            <a:r>
              <a:rPr lang="en-US" sz="2000" dirty="0">
                <a:latin typeface="Times New Roman" panose="02020603050405020304" pitchFamily="18" charset="0"/>
                <a:cs typeface="Times New Roman" panose="02020603050405020304" pitchFamily="18" charset="0"/>
              </a:rPr>
              <a:t>first.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For instance, a 32-bit integer 0x12345678 would be stored in memory as</a:t>
            </a:r>
          </a:p>
          <a:p>
            <a:r>
              <a:rPr lang="en-US" sz="2000" dirty="0">
                <a:latin typeface="Times New Roman" panose="02020603050405020304" pitchFamily="18" charset="0"/>
                <a:cs typeface="Times New Roman" panose="02020603050405020304" pitchFamily="18" charset="0"/>
              </a:rPr>
              <a:t>follows in a big-endian system:</a:t>
            </a:r>
          </a:p>
          <a:p>
            <a:endParaRPr lang="en-US" sz="2000" dirty="0">
              <a:latin typeface="Times New Roman" panose="02020603050405020304" pitchFamily="18" charset="0"/>
              <a:cs typeface="Times New Roman" panose="02020603050405020304" pitchFamily="18" charset="0"/>
            </a:endParaRPr>
          </a:p>
          <a:p>
            <a:r>
              <a:rPr lang="en-US" sz="2000" b="1" dirty="0" smtClean="0">
                <a:solidFill>
                  <a:srgbClr val="C00000"/>
                </a:solidFill>
                <a:latin typeface="Times New Roman" panose="02020603050405020304" pitchFamily="18" charset="0"/>
                <a:cs typeface="Times New Roman" panose="02020603050405020304" pitchFamily="18" charset="0"/>
              </a:rPr>
              <a:t>Big-Endian Representation - Example</a:t>
            </a:r>
            <a:endParaRPr lang="en-US" sz="2000" b="1" dirty="0">
              <a:solidFill>
                <a:srgbClr val="C00000"/>
              </a:solidFill>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Address: 00 01 02 03</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Data: 12 34 56 78</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Here, 0x12 is the most significant byte, placed at the lowest address (00),</a:t>
            </a:r>
          </a:p>
          <a:p>
            <a:r>
              <a:rPr lang="en-US" sz="2000" dirty="0">
                <a:latin typeface="Times New Roman" panose="02020603050405020304" pitchFamily="18" charset="0"/>
                <a:cs typeface="Times New Roman" panose="02020603050405020304" pitchFamily="18" charset="0"/>
              </a:rPr>
              <a:t>followed by 0x34, 0x56, and 0x78 at the highest address (03).</a:t>
            </a:r>
          </a:p>
        </p:txBody>
      </p:sp>
    </p:spTree>
    <p:extLst>
      <p:ext uri="{BB962C8B-B14F-4D97-AF65-F5344CB8AC3E}">
        <p14:creationId xmlns:p14="http://schemas.microsoft.com/office/powerpoint/2010/main" val="380562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97346"/>
            <a:ext cx="8352928" cy="5632311"/>
          </a:xfrm>
          <a:prstGeom prst="rect">
            <a:avLst/>
          </a:prstGeom>
        </p:spPr>
        <p:txBody>
          <a:bodyPr wrap="square">
            <a:spAutoFit/>
          </a:bodyPr>
          <a:lstStyle/>
          <a:p>
            <a:r>
              <a:rPr lang="en-US" sz="2000" b="1" dirty="0">
                <a:solidFill>
                  <a:srgbClr val="C00000"/>
                </a:solidFill>
                <a:latin typeface="Times New Roman" panose="02020603050405020304" pitchFamily="18" charset="0"/>
                <a:cs typeface="Times New Roman" panose="02020603050405020304" pitchFamily="18" charset="0"/>
              </a:rPr>
              <a:t>What is </a:t>
            </a:r>
            <a:r>
              <a:rPr lang="en-US" sz="2000" b="1" dirty="0" smtClean="0">
                <a:solidFill>
                  <a:srgbClr val="C00000"/>
                </a:solidFill>
                <a:latin typeface="Times New Roman" panose="02020603050405020304" pitchFamily="18" charset="0"/>
                <a:cs typeface="Times New Roman" panose="02020603050405020304" pitchFamily="18" charset="0"/>
              </a:rPr>
              <a:t>Little-Endian</a:t>
            </a:r>
            <a:r>
              <a:rPr lang="en-US" sz="2000" b="1" dirty="0">
                <a:solidFill>
                  <a:srgbClr val="C00000"/>
                </a:solidFill>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little-endian system stores the least significant byte (LSB) at the lowest</a:t>
            </a:r>
          </a:p>
          <a:p>
            <a:r>
              <a:rPr lang="en-US" sz="2000" dirty="0">
                <a:latin typeface="Times New Roman" panose="02020603050405020304" pitchFamily="18" charset="0"/>
                <a:cs typeface="Times New Roman" panose="02020603050405020304" pitchFamily="18" charset="0"/>
              </a:rPr>
              <a:t>memory address.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“little end” (the least significant part of the data) comes first.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For the same 32-bit integer 0x12345678, a little-endian system would store</a:t>
            </a:r>
          </a:p>
          <a:p>
            <a:r>
              <a:rPr lang="en-US" sz="2000" dirty="0">
                <a:latin typeface="Times New Roman" panose="02020603050405020304" pitchFamily="18" charset="0"/>
                <a:cs typeface="Times New Roman" panose="02020603050405020304" pitchFamily="18" charset="0"/>
              </a:rPr>
              <a:t>it as:</a:t>
            </a:r>
          </a:p>
          <a:p>
            <a:endParaRPr lang="en-US" sz="2000" dirty="0">
              <a:latin typeface="Times New Roman" panose="02020603050405020304" pitchFamily="18" charset="0"/>
              <a:cs typeface="Times New Roman" panose="02020603050405020304" pitchFamily="18" charset="0"/>
            </a:endParaRPr>
          </a:p>
          <a:p>
            <a:r>
              <a:rPr lang="en-US" sz="2000" b="1" dirty="0" smtClean="0">
                <a:solidFill>
                  <a:srgbClr val="C00000"/>
                </a:solidFill>
                <a:latin typeface="Times New Roman" panose="02020603050405020304" pitchFamily="18" charset="0"/>
                <a:cs typeface="Times New Roman" panose="02020603050405020304" pitchFamily="18" charset="0"/>
              </a:rPr>
              <a:t>Little-Endian Representation - Example</a:t>
            </a:r>
            <a:endParaRPr lang="en-US" sz="2000" b="1" dirty="0">
              <a:solidFill>
                <a:srgbClr val="C00000"/>
              </a:solidFill>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Address: 00 01 02 03</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Data: 78 56 34 12</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Here, 0x78 is the least significant byte, placed at the lowest address (00),</a:t>
            </a:r>
          </a:p>
          <a:p>
            <a:r>
              <a:rPr lang="en-US" sz="2000" dirty="0">
                <a:latin typeface="Times New Roman" panose="02020603050405020304" pitchFamily="18" charset="0"/>
                <a:cs typeface="Times New Roman" panose="02020603050405020304" pitchFamily="18" charset="0"/>
              </a:rPr>
              <a:t>followed by 0x56, 0x34, and 0x12 at the highest address (03).</a:t>
            </a:r>
          </a:p>
        </p:txBody>
      </p:sp>
    </p:spTree>
    <p:extLst>
      <p:ext uri="{BB962C8B-B14F-4D97-AF65-F5344CB8AC3E}">
        <p14:creationId xmlns:p14="http://schemas.microsoft.com/office/powerpoint/2010/main" val="3952560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idx="1"/>
          </p:nvPr>
        </p:nvSpPr>
        <p:spPr/>
        <p:txBody>
          <a:bodyPr/>
          <a:lstStyle/>
          <a:p>
            <a:pPr algn="just" eaLnBrk="1" hangingPunct="1">
              <a:lnSpc>
                <a:spcPct val="90000"/>
              </a:lnSpc>
            </a:pPr>
            <a:r>
              <a:rPr lang="en-US" altLang="zh-CN" sz="2400" dirty="0" smtClean="0">
                <a:latin typeface="Times New Roman" pitchFamily="18" charset="0"/>
                <a:ea typeface="SimSun" pitchFamily="2" charset="-122"/>
                <a:cs typeface="Times New Roman" pitchFamily="18" charset="0"/>
              </a:rPr>
              <a:t>Address ordering of bytes</a:t>
            </a:r>
          </a:p>
          <a:p>
            <a:pPr algn="just" eaLnBrk="1" hangingPunct="1">
              <a:lnSpc>
                <a:spcPct val="90000"/>
              </a:lnSpc>
            </a:pPr>
            <a:r>
              <a:rPr lang="en-US" altLang="zh-CN" sz="2400" dirty="0" smtClean="0">
                <a:latin typeface="Times New Roman" pitchFamily="18" charset="0"/>
                <a:ea typeface="SimSun" pitchFamily="2" charset="-122"/>
                <a:cs typeface="Times New Roman" pitchFamily="18" charset="0"/>
              </a:rPr>
              <a:t>Word alignment</a:t>
            </a:r>
          </a:p>
          <a:p>
            <a:pPr lvl="1" algn="just" eaLnBrk="1" hangingPunct="1">
              <a:lnSpc>
                <a:spcPct val="90000"/>
              </a:lnSpc>
            </a:pPr>
            <a:r>
              <a:rPr lang="en-US" altLang="zh-CN" sz="2400" dirty="0" smtClean="0">
                <a:latin typeface="Times New Roman" pitchFamily="18" charset="0"/>
                <a:ea typeface="SimSun" pitchFamily="2" charset="-122"/>
                <a:cs typeface="Times New Roman" pitchFamily="18" charset="0"/>
              </a:rPr>
              <a:t>Words are said to be aligned in memory if they begin at a byte </a:t>
            </a:r>
            <a:r>
              <a:rPr lang="en-US" altLang="zh-CN" sz="2400" dirty="0" err="1" smtClean="0">
                <a:latin typeface="Times New Roman" pitchFamily="18" charset="0"/>
                <a:ea typeface="SimSun" pitchFamily="2" charset="-122"/>
                <a:cs typeface="Times New Roman" pitchFamily="18" charset="0"/>
              </a:rPr>
              <a:t>addr</a:t>
            </a:r>
            <a:r>
              <a:rPr lang="en-US" altLang="zh-CN" sz="2400" dirty="0" smtClean="0">
                <a:latin typeface="Times New Roman" pitchFamily="18" charset="0"/>
                <a:ea typeface="SimSun" pitchFamily="2" charset="-122"/>
                <a:cs typeface="Times New Roman" pitchFamily="18" charset="0"/>
              </a:rPr>
              <a:t>. that is a multiple of the num of bytes in a word.</a:t>
            </a:r>
          </a:p>
          <a:p>
            <a:pPr lvl="2" algn="just" eaLnBrk="1" hangingPunct="1">
              <a:lnSpc>
                <a:spcPct val="90000"/>
              </a:lnSpc>
            </a:pPr>
            <a:r>
              <a:rPr lang="en-US" altLang="zh-CN" sz="2400" dirty="0" smtClean="0">
                <a:latin typeface="Times New Roman" pitchFamily="18" charset="0"/>
                <a:ea typeface="SimSun" pitchFamily="2" charset="-122"/>
                <a:cs typeface="Times New Roman" pitchFamily="18" charset="0"/>
              </a:rPr>
              <a:t>16-bit word: word addresses: 0, 2, 4,….</a:t>
            </a:r>
          </a:p>
          <a:p>
            <a:pPr lvl="2" algn="just" eaLnBrk="1" hangingPunct="1">
              <a:lnSpc>
                <a:spcPct val="90000"/>
              </a:lnSpc>
            </a:pPr>
            <a:r>
              <a:rPr lang="en-US" altLang="zh-CN" sz="2400" dirty="0" smtClean="0">
                <a:latin typeface="Times New Roman" pitchFamily="18" charset="0"/>
                <a:ea typeface="SimSun" pitchFamily="2" charset="-122"/>
                <a:cs typeface="Times New Roman" pitchFamily="18" charset="0"/>
              </a:rPr>
              <a:t>32-bit word: word addresses: 0, 4, 8,….</a:t>
            </a:r>
          </a:p>
          <a:p>
            <a:pPr lvl="2" algn="just" eaLnBrk="1" hangingPunct="1">
              <a:lnSpc>
                <a:spcPct val="90000"/>
              </a:lnSpc>
            </a:pPr>
            <a:r>
              <a:rPr lang="en-US" altLang="zh-CN" sz="2400" dirty="0" smtClean="0">
                <a:latin typeface="Times New Roman" pitchFamily="18" charset="0"/>
                <a:ea typeface="SimSun" pitchFamily="2" charset="-122"/>
                <a:cs typeface="Times New Roman" pitchFamily="18" charset="0"/>
              </a:rPr>
              <a:t>64-bit word: word addresses: 0, 8,16,….</a:t>
            </a:r>
          </a:p>
        </p:txBody>
      </p:sp>
      <p:sp>
        <p:nvSpPr>
          <p:cNvPr id="5" name="Title 1"/>
          <p:cNvSpPr txBox="1">
            <a:spLocks/>
          </p:cNvSpPr>
          <p:nvPr/>
        </p:nvSpPr>
        <p:spPr>
          <a:xfrm>
            <a:off x="228600" y="685800"/>
            <a:ext cx="8458200" cy="11430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Memory Locations, Addresses cont..</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Content Placeholder 4"/>
          <p:cNvSpPr>
            <a:spLocks noGrp="1"/>
          </p:cNvSpPr>
          <p:nvPr>
            <p:ph idx="1"/>
          </p:nvPr>
        </p:nvSpPr>
        <p:spPr>
          <a:xfrm>
            <a:off x="304800" y="908720"/>
            <a:ext cx="8229600" cy="5796880"/>
          </a:xfrm>
        </p:spPr>
        <p:txBody>
          <a:bodyPr>
            <a:normAutofit fontScale="85000" lnSpcReduction="10000"/>
          </a:bodyPr>
          <a:lstStyle/>
          <a:p>
            <a:pPr>
              <a:buNone/>
            </a:pPr>
            <a:r>
              <a:rPr lang="en-US" altLang="zh-CN" sz="2800" b="1" dirty="0" smtClean="0">
                <a:latin typeface="Times New Roman" pitchFamily="18" charset="0"/>
                <a:ea typeface="SimSun" pitchFamily="2" charset="-122"/>
                <a:cs typeface="Times New Roman" pitchFamily="18" charset="0"/>
              </a:rPr>
              <a:t>Accessing numbers, characters, and character strings</a:t>
            </a:r>
            <a:endParaRPr lang="en-US" sz="2000"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Numbers can be accessed in the memory by specifying its </a:t>
            </a:r>
            <a:r>
              <a:rPr lang="en-US" dirty="0" smtClean="0">
                <a:solidFill>
                  <a:srgbClr val="C00000"/>
                </a:solidFill>
                <a:latin typeface="Times New Roman" pitchFamily="18" charset="0"/>
                <a:cs typeface="Times New Roman" pitchFamily="18" charset="0"/>
              </a:rPr>
              <a:t>word address</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Characters can be accessed by their </a:t>
            </a:r>
            <a:r>
              <a:rPr lang="en-US" dirty="0" smtClean="0">
                <a:solidFill>
                  <a:srgbClr val="C00000"/>
                </a:solidFill>
                <a:latin typeface="Times New Roman" pitchFamily="18" charset="0"/>
                <a:cs typeface="Times New Roman" pitchFamily="18" charset="0"/>
              </a:rPr>
              <a:t>byte address</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The beginning of the string is indicated by giving the address of the byte containing its first character. Successive byte location contain successive characters of the string</a:t>
            </a:r>
          </a:p>
          <a:p>
            <a:r>
              <a:rPr lang="en-US" dirty="0" smtClean="0">
                <a:latin typeface="Times New Roman" pitchFamily="18" charset="0"/>
                <a:cs typeface="Times New Roman" pitchFamily="18" charset="0"/>
              </a:rPr>
              <a:t>There are 2 ways to indicate the length of the string</a:t>
            </a:r>
          </a:p>
          <a:p>
            <a:pPr>
              <a:buFont typeface="Wingdings" pitchFamily="2" charset="2"/>
              <a:buNone/>
            </a:pPr>
            <a:r>
              <a:rPr lang="en-US" dirty="0" smtClean="0">
                <a:latin typeface="Times New Roman" pitchFamily="18" charset="0"/>
                <a:cs typeface="Times New Roman" pitchFamily="18" charset="0"/>
              </a:rPr>
              <a:t>1)A special control character “end of string” can be used as the last character in the string</a:t>
            </a:r>
          </a:p>
          <a:p>
            <a:pPr>
              <a:buFont typeface="Wingdings" pitchFamily="2" charset="2"/>
              <a:buNone/>
            </a:pPr>
            <a:r>
              <a:rPr lang="en-US" dirty="0" smtClean="0">
                <a:latin typeface="Times New Roman" pitchFamily="18" charset="0"/>
                <a:cs typeface="Times New Roman" pitchFamily="18" charset="0"/>
              </a:rPr>
              <a:t>2)Separate memory location or processor register can contain the number indicating the length of strings in bytes.</a:t>
            </a:r>
          </a:p>
          <a:p>
            <a:pPr>
              <a:buFont typeface="Wingdings" pitchFamily="2" charset="2"/>
              <a:buNone/>
            </a:pPr>
            <a:endParaRPr lang="en-US" sz="2000" dirty="0" smtClean="0">
              <a:solidFill>
                <a:srgbClr val="00B050"/>
              </a:solidFill>
              <a:latin typeface="Times New Roman" pitchFamily="18" charset="0"/>
              <a:cs typeface="Times New Roman" pitchFamily="18" charset="0"/>
            </a:endParaRPr>
          </a:p>
        </p:txBody>
      </p:sp>
      <p:sp>
        <p:nvSpPr>
          <p:cNvPr id="4" name="Title 1"/>
          <p:cNvSpPr txBox="1">
            <a:spLocks/>
          </p:cNvSpPr>
          <p:nvPr/>
        </p:nvSpPr>
        <p:spPr>
          <a:xfrm>
            <a:off x="467544" y="22136"/>
            <a:ext cx="8458200" cy="11430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9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Memory Locations, Addresses cont</a:t>
            </a:r>
            <a:r>
              <a:rPr kumimoji="0" lang="en-US" altLang="zh-CN" sz="5400" b="0" i="0" u="none" strike="noStrike" kern="1200" cap="none" spc="0" normalizeH="0" baseline="0" noProof="0" dirty="0" smtClean="0">
                <a:ln>
                  <a:noFill/>
                </a:ln>
                <a:solidFill>
                  <a:schemeClr val="tx2"/>
                </a:solidFill>
                <a:effectLst/>
                <a:uLnTx/>
                <a:uFillTx/>
                <a:latin typeface="+mj-lt"/>
                <a:ea typeface="SimSun" pitchFamily="2" charset="-122"/>
                <a:cs typeface="+mj-cs"/>
              </a:rPr>
              <a:t>..</a:t>
            </a:r>
            <a:endParaRPr kumimoji="0" lang="en-IN" sz="5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type="body" idx="4294967295"/>
          </p:nvPr>
        </p:nvSpPr>
        <p:spPr>
          <a:xfrm>
            <a:off x="509836" y="1392528"/>
            <a:ext cx="8229600" cy="4389437"/>
          </a:xfrm>
        </p:spPr>
        <p:txBody>
          <a:bodyPr/>
          <a:lstStyle/>
          <a:p>
            <a:pPr eaLnBrk="1" hangingPunct="1"/>
            <a:r>
              <a:rPr lang="en-US" altLang="zh-CN" sz="2400" b="1" dirty="0" smtClean="0">
                <a:latin typeface="Times New Roman" pitchFamily="18" charset="0"/>
                <a:ea typeface="SimSun" pitchFamily="2" charset="-122"/>
                <a:cs typeface="Times New Roman" pitchFamily="18" charset="0"/>
              </a:rPr>
              <a:t>Load (or Read or Fetch)</a:t>
            </a:r>
          </a:p>
          <a:p>
            <a:pPr eaLnBrk="1" hangingPunct="1">
              <a:buFont typeface="Wingdings" pitchFamily="2" charset="2"/>
              <a:buChar char="Ø"/>
            </a:pPr>
            <a:r>
              <a:rPr lang="en-US" altLang="zh-CN" sz="2400" dirty="0" smtClean="0">
                <a:latin typeface="Times New Roman" pitchFamily="18" charset="0"/>
                <a:ea typeface="SimSun" pitchFamily="2" charset="-122"/>
                <a:cs typeface="Times New Roman" pitchFamily="18" charset="0"/>
              </a:rPr>
              <a:t>Copy the contents from memory location to processor. The memory content doesn’t change.</a:t>
            </a:r>
          </a:p>
          <a:p>
            <a:pPr eaLnBrk="1" hangingPunct="1">
              <a:buFont typeface="Wingdings" pitchFamily="2" charset="2"/>
              <a:buChar char="Ø"/>
            </a:pPr>
            <a:r>
              <a:rPr lang="en-US" altLang="zh-CN" sz="2400" dirty="0" smtClean="0">
                <a:latin typeface="Times New Roman" pitchFamily="18" charset="0"/>
                <a:ea typeface="SimSun" pitchFamily="2" charset="-122"/>
                <a:cs typeface="Times New Roman" pitchFamily="18" charset="0"/>
              </a:rPr>
              <a:t>Address is send to memory – Load</a:t>
            </a:r>
          </a:p>
          <a:p>
            <a:pPr eaLnBrk="1" hangingPunct="1">
              <a:buFont typeface="Wingdings" pitchFamily="2" charset="2"/>
              <a:buChar char="Ø"/>
            </a:pPr>
            <a:r>
              <a:rPr lang="en-US" altLang="zh-CN" sz="2400" dirty="0" smtClean="0">
                <a:latin typeface="Times New Roman" pitchFamily="18" charset="0"/>
                <a:ea typeface="SimSun" pitchFamily="2" charset="-122"/>
                <a:cs typeface="Times New Roman" pitchFamily="18" charset="0"/>
              </a:rPr>
              <a:t>Registers can be used</a:t>
            </a:r>
          </a:p>
          <a:p>
            <a:pPr eaLnBrk="1" hangingPunct="1"/>
            <a:r>
              <a:rPr lang="en-US" altLang="zh-CN" sz="2400" b="1" dirty="0" smtClean="0">
                <a:latin typeface="Times New Roman" pitchFamily="18" charset="0"/>
                <a:ea typeface="SimSun" pitchFamily="2" charset="-122"/>
                <a:cs typeface="Times New Roman" pitchFamily="18" charset="0"/>
              </a:rPr>
              <a:t>Store (or Write)</a:t>
            </a:r>
          </a:p>
          <a:p>
            <a:pPr eaLnBrk="1" hangingPunct="1">
              <a:buFont typeface="Wingdings" pitchFamily="2" charset="2"/>
              <a:buChar char="Ø"/>
            </a:pPr>
            <a:r>
              <a:rPr lang="en-US" altLang="zh-CN" sz="2400" dirty="0" smtClean="0">
                <a:latin typeface="Times New Roman" pitchFamily="18" charset="0"/>
                <a:ea typeface="SimSun" pitchFamily="2" charset="-122"/>
                <a:cs typeface="Times New Roman" pitchFamily="18" charset="0"/>
              </a:rPr>
              <a:t>Transfer an item from processor to memory.</a:t>
            </a:r>
          </a:p>
          <a:p>
            <a:pPr eaLnBrk="1" hangingPunct="1">
              <a:buFont typeface="Wingdings" pitchFamily="2" charset="2"/>
              <a:buChar char="Ø"/>
            </a:pPr>
            <a:r>
              <a:rPr lang="en-US" altLang="zh-CN" sz="2400" dirty="0" smtClean="0">
                <a:latin typeface="Times New Roman" pitchFamily="18" charset="0"/>
                <a:ea typeface="SimSun" pitchFamily="2" charset="-122"/>
                <a:cs typeface="Times New Roman" pitchFamily="18" charset="0"/>
              </a:rPr>
              <a:t>Overwrite the content in memory</a:t>
            </a:r>
          </a:p>
          <a:p>
            <a:pPr eaLnBrk="1" hangingPunct="1">
              <a:buFont typeface="Wingdings" pitchFamily="2" charset="2"/>
              <a:buChar char="Ø"/>
            </a:pPr>
            <a:r>
              <a:rPr lang="en-US" altLang="zh-CN" sz="2400" dirty="0" smtClean="0">
                <a:latin typeface="Times New Roman" pitchFamily="18" charset="0"/>
                <a:ea typeface="SimSun" pitchFamily="2" charset="-122"/>
                <a:cs typeface="Times New Roman" pitchFamily="18" charset="0"/>
              </a:rPr>
              <a:t>Address and Data is send to memory– Store</a:t>
            </a:r>
          </a:p>
          <a:p>
            <a:pPr eaLnBrk="1" hangingPunct="1">
              <a:buFont typeface="Wingdings" pitchFamily="2" charset="2"/>
              <a:buChar char="Ø"/>
            </a:pPr>
            <a:r>
              <a:rPr lang="en-US" altLang="zh-CN" sz="2400" dirty="0" smtClean="0">
                <a:latin typeface="Times New Roman" pitchFamily="18" charset="0"/>
                <a:ea typeface="SimSun" pitchFamily="2" charset="-122"/>
                <a:cs typeface="Times New Roman" pitchFamily="18" charset="0"/>
              </a:rPr>
              <a:t>Registers can be used</a:t>
            </a:r>
          </a:p>
        </p:txBody>
      </p:sp>
      <p:sp>
        <p:nvSpPr>
          <p:cNvPr id="4" name="Title 1"/>
          <p:cNvSpPr txBox="1">
            <a:spLocks/>
          </p:cNvSpPr>
          <p:nvPr/>
        </p:nvSpPr>
        <p:spPr>
          <a:xfrm>
            <a:off x="395536" y="260648"/>
            <a:ext cx="8458200" cy="1143000"/>
          </a:xfrm>
          <a:prstGeom prst="rect">
            <a:avLst/>
          </a:prstGeom>
        </p:spPr>
        <p:txBody>
          <a:bodyPr>
            <a:normAutofit fontScale="825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Memory Operations</a:t>
            </a:r>
          </a:p>
          <a:p>
            <a:pPr marL="0" marR="0" lvl="0" indent="0" algn="l" defTabSz="914400" rtl="0" eaLnBrk="1" fontAlgn="auto" latinLnBrk="0" hangingPunct="1">
              <a:lnSpc>
                <a:spcPct val="100000"/>
              </a:lnSpc>
              <a:spcBef>
                <a:spcPct val="0"/>
              </a:spcBef>
              <a:spcAft>
                <a:spcPts val="0"/>
              </a:spcAft>
              <a:buClrTx/>
              <a:buSzTx/>
              <a:buFontTx/>
              <a:buNone/>
              <a:tabLst/>
              <a:defRPr/>
            </a:pPr>
            <a:endParaRPr lang="en-US" altLang="zh-CN" sz="3200" b="1" dirty="0" smtClean="0">
              <a:solidFill>
                <a:srgbClr val="C00000"/>
              </a:solidFill>
              <a:latin typeface="Times New Roman" pitchFamily="18" charset="0"/>
              <a:ea typeface="SimSun" pitchFamily="2" charset="-122"/>
              <a:cs typeface="Times New Roman"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noProof="0" dirty="0" smtClean="0">
                <a:ln>
                  <a:noFill/>
                </a:ln>
                <a:solidFill>
                  <a:srgbClr val="C00000"/>
                </a:solidFill>
                <a:effectLst/>
                <a:uLnTx/>
                <a:uFillTx/>
                <a:latin typeface="Times New Roman" pitchFamily="18" charset="0"/>
                <a:ea typeface="SimSun" pitchFamily="2" charset="-122"/>
                <a:cs typeface="Times New Roman" pitchFamily="18" charset="0"/>
              </a:rPr>
              <a:t>Basic Operations </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85506" y="260648"/>
            <a:ext cx="8458200" cy="8382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Instruction and Instruction Sequencing</a:t>
            </a:r>
            <a:r>
              <a:rPr kumimoji="0" lang="en-US" altLang="zh-CN" sz="3200" b="1" i="0" u="none" strike="noStrike" kern="1200" cap="none" spc="0" normalizeH="0" noProof="0" dirty="0" smtClean="0">
                <a:ln>
                  <a:noFill/>
                </a:ln>
                <a:solidFill>
                  <a:srgbClr val="C00000"/>
                </a:solidFill>
                <a:effectLst/>
                <a:uLnTx/>
                <a:uFillTx/>
                <a:latin typeface="Times New Roman" pitchFamily="18" charset="0"/>
                <a:ea typeface="SimSun" pitchFamily="2" charset="-122"/>
                <a:cs typeface="Times New Roman" pitchFamily="18" charset="0"/>
              </a:rPr>
              <a:t> </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
        <p:nvSpPr>
          <p:cNvPr id="5" name="Rectangle 3"/>
          <p:cNvSpPr txBox="1">
            <a:spLocks noChangeArrowheads="1"/>
          </p:cNvSpPr>
          <p:nvPr/>
        </p:nvSpPr>
        <p:spPr>
          <a:xfrm>
            <a:off x="251520" y="764704"/>
            <a:ext cx="8892480" cy="5605933"/>
          </a:xfrm>
          <a:prstGeom prst="rect">
            <a:avLst/>
          </a:prstGeom>
        </p:spPr>
        <p:txBody>
          <a:bodyPr vert="horz">
            <a:norm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tasks carried out by a computer program consist of a sequence of small steps, </a:t>
            </a:r>
            <a:r>
              <a:rPr lang="en-US" sz="2400" dirty="0" smtClean="0">
                <a:latin typeface="Times New Roman" panose="02020603050405020304" pitchFamily="18" charset="0"/>
                <a:cs typeface="Times New Roman" panose="02020603050405020304" pitchFamily="18" charset="0"/>
              </a:rPr>
              <a:t>such as </a:t>
            </a:r>
            <a:r>
              <a:rPr lang="en-US" sz="2400" dirty="0">
                <a:latin typeface="Times New Roman" panose="02020603050405020304" pitchFamily="18" charset="0"/>
                <a:cs typeface="Times New Roman" panose="02020603050405020304" pitchFamily="18" charset="0"/>
              </a:rPr>
              <a:t>adding two numbers, testing for a particular condition, reading a character from </a:t>
            </a:r>
            <a:r>
              <a:rPr lang="en-US" sz="2400" dirty="0" smtClean="0">
                <a:latin typeface="Times New Roman" panose="02020603050405020304" pitchFamily="18" charset="0"/>
                <a:cs typeface="Times New Roman" panose="02020603050405020304" pitchFamily="18" charset="0"/>
              </a:rPr>
              <a:t>the keyboard</a:t>
            </a:r>
            <a:r>
              <a:rPr lang="en-US" sz="2400" dirty="0">
                <a:latin typeface="Times New Roman" panose="02020603050405020304" pitchFamily="18" charset="0"/>
                <a:cs typeface="Times New Roman" panose="02020603050405020304" pitchFamily="18" charset="0"/>
              </a:rPr>
              <a:t>, or sending a character to be displayed on a display screen. </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computer </a:t>
            </a:r>
            <a:r>
              <a:rPr lang="en-US" sz="2400" dirty="0" smtClean="0">
                <a:latin typeface="Times New Roman" panose="02020603050405020304" pitchFamily="18" charset="0"/>
                <a:cs typeface="Times New Roman" panose="02020603050405020304" pitchFamily="18" charset="0"/>
              </a:rPr>
              <a:t>must have </a:t>
            </a:r>
            <a:r>
              <a:rPr lang="en-US" sz="2400" dirty="0">
                <a:latin typeface="Times New Roman" panose="02020603050405020304" pitchFamily="18" charset="0"/>
                <a:cs typeface="Times New Roman" panose="02020603050405020304" pitchFamily="18" charset="0"/>
              </a:rPr>
              <a:t>instructions capable of performing four types of operations</a:t>
            </a:r>
            <a:r>
              <a:rPr lang="en-US" sz="2400" dirty="0" smtClean="0">
                <a:latin typeface="Times New Roman" panose="02020603050405020304" pitchFamily="18" charset="0"/>
                <a:cs typeface="Times New Roman" panose="02020603050405020304" pitchFamily="18" charset="0"/>
              </a:rPr>
              <a:t>:</a:t>
            </a:r>
          </a:p>
          <a:p>
            <a:pPr marL="914400" lvl="1" indent="-457200">
              <a:buFont typeface="+mj-lt"/>
              <a:buAutoNum type="arabicPeriod"/>
            </a:pPr>
            <a:r>
              <a:rPr lang="en-US" altLang="zh-CN" sz="2400" dirty="0" smtClean="0">
                <a:solidFill>
                  <a:srgbClr val="C00000"/>
                </a:solidFill>
                <a:latin typeface="Times New Roman" pitchFamily="18" charset="0"/>
                <a:ea typeface="SimSun" pitchFamily="2" charset="-122"/>
                <a:cs typeface="Times New Roman" pitchFamily="18" charset="0"/>
              </a:rPr>
              <a:t>Data transfers between the memory and the processor registers</a:t>
            </a:r>
          </a:p>
          <a:p>
            <a:pPr marL="971550" lvl="1" indent="-514350">
              <a:buFont typeface="Verdana" pitchFamily="34" charset="0"/>
              <a:buAutoNum type="arabicPeriod"/>
            </a:pPr>
            <a:r>
              <a:rPr lang="en-US" altLang="zh-CN" sz="2400" dirty="0" smtClean="0">
                <a:solidFill>
                  <a:srgbClr val="C00000"/>
                </a:solidFill>
                <a:latin typeface="Times New Roman" pitchFamily="18" charset="0"/>
                <a:ea typeface="SimSun" pitchFamily="2" charset="-122"/>
                <a:cs typeface="Times New Roman" pitchFamily="18" charset="0"/>
              </a:rPr>
              <a:t>Arithmetic and logic operations on data</a:t>
            </a:r>
          </a:p>
          <a:p>
            <a:pPr marL="971550" lvl="1" indent="-514350">
              <a:buFont typeface="Verdana" pitchFamily="34" charset="0"/>
              <a:buAutoNum type="arabicPeriod"/>
            </a:pPr>
            <a:r>
              <a:rPr lang="en-US" altLang="zh-CN" sz="2400" dirty="0" smtClean="0">
                <a:solidFill>
                  <a:srgbClr val="C00000"/>
                </a:solidFill>
                <a:latin typeface="Times New Roman" pitchFamily="18" charset="0"/>
                <a:ea typeface="SimSun" pitchFamily="2" charset="-122"/>
                <a:cs typeface="Times New Roman" pitchFamily="18" charset="0"/>
              </a:rPr>
              <a:t>Program sequencing and control</a:t>
            </a:r>
          </a:p>
          <a:p>
            <a:pPr marL="971550" lvl="1" indent="-514350">
              <a:buFont typeface="Verdana" pitchFamily="34" charset="0"/>
              <a:buAutoNum type="arabicPeriod"/>
            </a:pPr>
            <a:r>
              <a:rPr lang="en-US" altLang="zh-CN" sz="2400" dirty="0" smtClean="0">
                <a:solidFill>
                  <a:srgbClr val="C00000"/>
                </a:solidFill>
                <a:latin typeface="Times New Roman" pitchFamily="18" charset="0"/>
                <a:ea typeface="SimSun" pitchFamily="2" charset="-122"/>
                <a:cs typeface="Times New Roman" pitchFamily="18" charset="0"/>
              </a:rPr>
              <a:t>I/O transfers</a:t>
            </a:r>
            <a:endParaRPr kumimoji="0" lang="en-US" altLang="zh-CN" sz="2400" b="1" i="0" u="none" strike="noStrike" kern="1200" cap="none" spc="0" normalizeH="0" baseline="0" noProof="0" dirty="0" smtClean="0">
              <a:ln>
                <a:noFill/>
              </a:ln>
              <a:solidFill>
                <a:srgbClr val="00B0F0"/>
              </a:solidFill>
              <a:effectLst/>
              <a:uLnTx/>
              <a:uFillTx/>
              <a:latin typeface="Times New Roman" pitchFamily="18" charset="0"/>
              <a:ea typeface="SimSun"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97959" y="116632"/>
            <a:ext cx="8610600" cy="8382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Instruction and Instruction Sequencing cont..</a:t>
            </a:r>
            <a:r>
              <a:rPr kumimoji="0" lang="en-US" altLang="zh-CN" sz="3200" b="1" i="0" u="none" strike="noStrike" kern="1200" cap="none" spc="0" normalizeH="0" noProof="0" dirty="0" smtClean="0">
                <a:ln>
                  <a:noFill/>
                </a:ln>
                <a:solidFill>
                  <a:srgbClr val="C00000"/>
                </a:solidFill>
                <a:effectLst/>
                <a:uLnTx/>
                <a:uFillTx/>
                <a:latin typeface="Times New Roman" pitchFamily="18" charset="0"/>
                <a:ea typeface="SimSun" pitchFamily="2" charset="-122"/>
                <a:cs typeface="Times New Roman" pitchFamily="18" charset="0"/>
              </a:rPr>
              <a:t> </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
        <p:nvSpPr>
          <p:cNvPr id="3" name="Rectangle 3"/>
          <p:cNvSpPr txBox="1">
            <a:spLocks noChangeArrowheads="1"/>
          </p:cNvSpPr>
          <p:nvPr/>
        </p:nvSpPr>
        <p:spPr>
          <a:xfrm>
            <a:off x="304800" y="954832"/>
            <a:ext cx="8610600" cy="5598367"/>
          </a:xfrm>
          <a:prstGeom prst="rect">
            <a:avLst/>
          </a:prstGeom>
        </p:spPr>
        <p:txBody>
          <a:bodyPr vert="horz">
            <a:noAutofit/>
          </a:bodyPr>
          <a:lstStyle/>
          <a:p>
            <a:pPr lvl="0">
              <a:spcBef>
                <a:spcPct val="20000"/>
              </a:spcBef>
              <a:buClr>
                <a:schemeClr val="accent3"/>
              </a:buClr>
              <a:buSzPct val="95000"/>
            </a:pPr>
            <a:r>
              <a:rPr lang="en-US" altLang="zh-CN" sz="2400" b="1" dirty="0" smtClean="0">
                <a:latin typeface="Times New Roman" pitchFamily="18" charset="0"/>
                <a:ea typeface="SimSun" pitchFamily="2" charset="-122"/>
                <a:cs typeface="Times New Roman" pitchFamily="18" charset="0"/>
              </a:rPr>
              <a:t>Register Transfer Notation</a:t>
            </a:r>
            <a:endParaRPr kumimoji="0" lang="en-US" altLang="zh-CN" sz="2400" b="1"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SzPct val="95000"/>
              <a:buFont typeface="Arial" panose="020B0604020202020204" pitchFamily="34" charset="0"/>
              <a:buChar char="•"/>
              <a:tabLst/>
              <a:defRPr/>
            </a:pP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Transfer of information from one location in the computer to another.</a:t>
            </a:r>
          </a:p>
          <a:p>
            <a:pPr marL="342900" marR="0" lvl="0" indent="-342900" algn="l" defTabSz="914400" rtl="0" eaLnBrk="1" fontAlgn="auto" latinLnBrk="0" hangingPunct="1">
              <a:lnSpc>
                <a:spcPct val="100000"/>
              </a:lnSpc>
              <a:spcBef>
                <a:spcPct val="20000"/>
              </a:spcBef>
              <a:spcAft>
                <a:spcPts val="0"/>
              </a:spcAft>
              <a:buSzPct val="95000"/>
              <a:buFont typeface="Arial" panose="020B0604020202020204" pitchFamily="34" charset="0"/>
              <a:buChar char="•"/>
              <a:tabLst/>
              <a:defRPr/>
            </a:pP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Locations are memory locations, processor registers or registers in the I/O subsystems.</a:t>
            </a:r>
          </a:p>
          <a:p>
            <a:pPr marR="0" lvl="0" algn="l" defTabSz="914400" rtl="0" eaLnBrk="1" fontAlgn="auto" latinLnBrk="0" hangingPunct="1">
              <a:lnSpc>
                <a:spcPct val="100000"/>
              </a:lnSpc>
              <a:spcBef>
                <a:spcPct val="20000"/>
              </a:spcBef>
              <a:spcAft>
                <a:spcPts val="0"/>
              </a:spcAft>
              <a:buClr>
                <a:schemeClr val="accent3"/>
              </a:buClr>
              <a:buSzPct val="95000"/>
              <a:tabLst/>
              <a:defRPr/>
            </a:pPr>
            <a:r>
              <a:rPr kumimoji="0" lang="en-US" altLang="zh-CN" sz="2400" b="0" i="0" u="none" strike="noStrike" kern="1200" cap="none" spc="0" normalizeH="0" baseline="0" noProof="0" dirty="0" smtClean="0">
                <a:ln>
                  <a:noFill/>
                </a:ln>
                <a:solidFill>
                  <a:srgbClr val="FF0000"/>
                </a:solidFill>
                <a:effectLst/>
                <a:uLnTx/>
                <a:uFillTx/>
                <a:latin typeface="Times New Roman" pitchFamily="18" charset="0"/>
                <a:ea typeface="SimSun" pitchFamily="2" charset="-122"/>
                <a:cs typeface="Times New Roman" pitchFamily="18" charset="0"/>
              </a:rPr>
              <a:t>	Memory locations names</a:t>
            </a: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 LOC, PLACE, A, VAR2</a:t>
            </a:r>
          </a:p>
          <a:p>
            <a:pPr marR="0" lvl="0" algn="l" defTabSz="914400" rtl="0" eaLnBrk="1" fontAlgn="auto" latinLnBrk="0" hangingPunct="1">
              <a:lnSpc>
                <a:spcPct val="100000"/>
              </a:lnSpc>
              <a:spcBef>
                <a:spcPct val="20000"/>
              </a:spcBef>
              <a:spcAft>
                <a:spcPts val="0"/>
              </a:spcAft>
              <a:buClr>
                <a:schemeClr val="accent3"/>
              </a:buClr>
              <a:buSzPct val="95000"/>
              <a:tabLst/>
              <a:defRPr/>
            </a:pPr>
            <a:r>
              <a:rPr kumimoji="0" lang="en-US" altLang="zh-CN" sz="2400" b="0" i="0" u="none" strike="noStrike" kern="1200" cap="none" spc="0" normalizeH="0" baseline="0" noProof="0" dirty="0" smtClean="0">
                <a:ln>
                  <a:noFill/>
                </a:ln>
                <a:solidFill>
                  <a:srgbClr val="FF0000"/>
                </a:solidFill>
                <a:effectLst/>
                <a:uLnTx/>
                <a:uFillTx/>
                <a:latin typeface="Times New Roman" pitchFamily="18" charset="0"/>
                <a:ea typeface="SimSun" pitchFamily="2" charset="-122"/>
                <a:cs typeface="Times New Roman" pitchFamily="18" charset="0"/>
              </a:rPr>
              <a:t>	Processor registers names</a:t>
            </a: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:R0, R1..</a:t>
            </a:r>
          </a:p>
          <a:p>
            <a:pPr marR="0" lvl="0" algn="l" defTabSz="914400" rtl="0" eaLnBrk="1" fontAlgn="auto" latinLnBrk="0" hangingPunct="1">
              <a:lnSpc>
                <a:spcPct val="100000"/>
              </a:lnSpc>
              <a:spcBef>
                <a:spcPct val="20000"/>
              </a:spcBef>
              <a:spcAft>
                <a:spcPts val="0"/>
              </a:spcAft>
              <a:buClr>
                <a:schemeClr val="accent3"/>
              </a:buClr>
              <a:buSzPct val="95000"/>
              <a:tabLst/>
              <a:defRPr/>
            </a:pPr>
            <a:r>
              <a:rPr kumimoji="0" lang="en-US" altLang="zh-CN" sz="2400" b="0" i="0" u="none" strike="noStrike" kern="1200" cap="none" spc="0" normalizeH="0" baseline="0" noProof="0" dirty="0" smtClean="0">
                <a:ln>
                  <a:noFill/>
                </a:ln>
                <a:solidFill>
                  <a:srgbClr val="FF0000"/>
                </a:solidFill>
                <a:effectLst/>
                <a:uLnTx/>
                <a:uFillTx/>
                <a:latin typeface="Times New Roman" pitchFamily="18" charset="0"/>
                <a:ea typeface="SimSun" pitchFamily="2" charset="-122"/>
                <a:cs typeface="Times New Roman" pitchFamily="18" charset="0"/>
              </a:rPr>
              <a:t>	I/O register name</a:t>
            </a: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 DATAIN,OUTSTATUS</a:t>
            </a:r>
          </a:p>
          <a:p>
            <a:pPr marL="342900" marR="0" lvl="0" indent="-342900" algn="l" defTabSz="914400" rtl="0" eaLnBrk="1" fontAlgn="auto" latinLnBrk="0" hangingPunct="1">
              <a:lnSpc>
                <a:spcPct val="100000"/>
              </a:lnSpc>
              <a:spcBef>
                <a:spcPct val="20000"/>
              </a:spcBef>
              <a:spcAft>
                <a:spcPts val="0"/>
              </a:spcAft>
              <a:buSzPct val="95000"/>
              <a:buFont typeface="Times New Roman" panose="02020603050405020304" pitchFamily="18" charset="0"/>
              <a:buChar char="•"/>
              <a:tabLst/>
              <a:defRPr/>
            </a:pP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Contents of a location are denoted by placing square brackets around the name of the location </a:t>
            </a:r>
          </a:p>
          <a:p>
            <a:pPr marR="0" lvl="0" algn="l" defTabSz="914400" rtl="0" eaLnBrk="1" fontAlgn="auto" latinLnBrk="0" hangingPunct="1">
              <a:lnSpc>
                <a:spcPct val="100000"/>
              </a:lnSpc>
              <a:spcBef>
                <a:spcPct val="20000"/>
              </a:spcBef>
              <a:spcAft>
                <a:spcPts val="0"/>
              </a:spcAft>
              <a:buClr>
                <a:schemeClr val="accent3"/>
              </a:buClr>
              <a:buSzPct val="95000"/>
              <a:tabLst/>
              <a:defRPr/>
            </a:pP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	R1←[LOC] </a:t>
            </a:r>
          </a:p>
          <a:p>
            <a:pPr marR="0" lvl="0" algn="l" defTabSz="914400" rtl="0" eaLnBrk="1" fontAlgn="auto" latinLnBrk="0" hangingPunct="1">
              <a:lnSpc>
                <a:spcPct val="100000"/>
              </a:lnSpc>
              <a:spcBef>
                <a:spcPct val="20000"/>
              </a:spcBef>
              <a:spcAft>
                <a:spcPts val="0"/>
              </a:spcAft>
              <a:buClr>
                <a:schemeClr val="accent3"/>
              </a:buClr>
              <a:buSzPct val="95000"/>
              <a:tabLst/>
              <a:defRPr/>
            </a:pP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	R3 ←[R1]+[R2])</a:t>
            </a:r>
          </a:p>
          <a:p>
            <a:pPr marR="0" lvl="0" algn="l" defTabSz="914400" rtl="0" eaLnBrk="1" fontAlgn="auto" latinLnBrk="0" hangingPunct="1">
              <a:lnSpc>
                <a:spcPct val="100000"/>
              </a:lnSpc>
              <a:spcBef>
                <a:spcPct val="20000"/>
              </a:spcBef>
              <a:spcAft>
                <a:spcPts val="0"/>
              </a:spcAft>
              <a:buClr>
                <a:schemeClr val="accent3"/>
              </a:buClr>
              <a:buSzPct val="95000"/>
              <a:tabLst/>
              <a:defRPr/>
            </a:pP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This type of notation is known as Register Transfer Notation(RTN)</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28600" y="685800"/>
            <a:ext cx="8610600" cy="8382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Instruction and Instruction Sequencing cont..</a:t>
            </a:r>
            <a:r>
              <a:rPr kumimoji="0" lang="en-US" altLang="zh-CN" sz="3200" b="1" i="0" u="none" strike="noStrike" kern="1200" cap="none" spc="0" normalizeH="0" noProof="0" dirty="0" smtClean="0">
                <a:ln>
                  <a:noFill/>
                </a:ln>
                <a:solidFill>
                  <a:srgbClr val="C00000"/>
                </a:solidFill>
                <a:effectLst/>
                <a:uLnTx/>
                <a:uFillTx/>
                <a:latin typeface="Times New Roman" pitchFamily="18" charset="0"/>
                <a:ea typeface="SimSun" pitchFamily="2" charset="-122"/>
                <a:cs typeface="Times New Roman" pitchFamily="18" charset="0"/>
              </a:rPr>
              <a:t> </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
        <p:nvSpPr>
          <p:cNvPr id="4" name="Rectangle 3"/>
          <p:cNvSpPr txBox="1">
            <a:spLocks noChangeArrowheads="1"/>
          </p:cNvSpPr>
          <p:nvPr/>
        </p:nvSpPr>
        <p:spPr>
          <a:xfrm>
            <a:off x="457200" y="1719263"/>
            <a:ext cx="8229600" cy="4411662"/>
          </a:xfrm>
          <a:prstGeom prst="rect">
            <a:avLst/>
          </a:prstGeom>
        </p:spPr>
        <p:txBody>
          <a:bodyPr vert="horz">
            <a:normAutofit/>
          </a:bodyPr>
          <a:lstStyle/>
          <a:p>
            <a:pPr algn="just">
              <a:spcBef>
                <a:spcPct val="20000"/>
              </a:spcBef>
              <a:buSzPct val="95000"/>
            </a:pPr>
            <a:r>
              <a:rPr lang="en-US" altLang="zh-CN" sz="2800" b="1" dirty="0" smtClean="0">
                <a:latin typeface="Times New Roman" pitchFamily="18" charset="0"/>
                <a:ea typeface="SimSun" pitchFamily="2" charset="-122"/>
                <a:cs typeface="Times New Roman" pitchFamily="18" charset="0"/>
              </a:rPr>
              <a:t>Assembly Language Notation</a:t>
            </a:r>
            <a:endParaRPr kumimoji="0" lang="en-US" altLang="zh-CN" sz="2600" b="1" i="0" u="none" strike="noStrike" kern="1200" cap="none" spc="0" normalizeH="0" baseline="0" noProof="0" dirty="0" smtClean="0">
              <a:ln>
                <a:noFill/>
              </a:ln>
              <a:effectLst/>
              <a:uLnTx/>
              <a:uFillTx/>
              <a:ea typeface="SimSun" pitchFamily="2" charset="-122"/>
            </a:endParaRPr>
          </a:p>
          <a:p>
            <a:pPr marL="274320" marR="0" lvl="0" indent="-274320" algn="just" defTabSz="914400" rtl="0" eaLnBrk="1" fontAlgn="auto" latinLnBrk="0" hangingPunct="1">
              <a:lnSpc>
                <a:spcPct val="100000"/>
              </a:lnSpc>
              <a:spcBef>
                <a:spcPct val="20000"/>
              </a:spcBef>
              <a:spcAft>
                <a:spcPts val="0"/>
              </a:spcAft>
              <a:buSzPct val="95000"/>
              <a:buFont typeface="Wingdings 2"/>
              <a:buChar char=""/>
              <a:tabLst/>
              <a:defRPr/>
            </a:pPr>
            <a:r>
              <a:rPr lang="en-US" altLang="zh-CN" sz="2400" dirty="0" smtClean="0">
                <a:latin typeface="Times New Roman" pitchFamily="18" charset="0"/>
                <a:ea typeface="SimSun" pitchFamily="2" charset="-122"/>
                <a:cs typeface="Times New Roman" pitchFamily="18" charset="0"/>
              </a:rPr>
              <a:t>N</a:t>
            </a:r>
            <a:r>
              <a:rPr kumimoji="0" lang="en-US" altLang="zh-CN" sz="2400" b="0" i="0" u="none" strike="noStrike" kern="1200" cap="none" spc="0" normalizeH="0" baseline="0" noProof="0" dirty="0" err="1" smtClean="0">
                <a:ln>
                  <a:noFill/>
                </a:ln>
                <a:effectLst/>
                <a:uLnTx/>
                <a:uFillTx/>
                <a:latin typeface="Times New Roman" pitchFamily="18" charset="0"/>
                <a:ea typeface="SimSun" pitchFamily="2" charset="-122"/>
                <a:cs typeface="Times New Roman" pitchFamily="18" charset="0"/>
              </a:rPr>
              <a:t>otation</a:t>
            </a: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 to Represent machine instructions and programs.</a:t>
            </a:r>
          </a:p>
          <a:p>
            <a:pPr lvl="1" algn="just">
              <a:spcBef>
                <a:spcPct val="20000"/>
              </a:spcBef>
              <a:buSzPct val="95000"/>
              <a:defRPr/>
            </a:pPr>
            <a:r>
              <a:rPr lang="en-US" altLang="zh-CN" sz="2400" dirty="0" smtClean="0">
                <a:latin typeface="Times New Roman" pitchFamily="18" charset="0"/>
                <a:ea typeface="SimSun" pitchFamily="2" charset="-122"/>
                <a:cs typeface="Times New Roman" pitchFamily="18" charset="0"/>
              </a:rPr>
              <a:t>Load R2, LOC</a:t>
            </a: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      ( </a:t>
            </a:r>
            <a:r>
              <a:rPr lang="en-US" altLang="zh-CN" sz="2400" dirty="0" smtClean="0">
                <a:latin typeface="Times New Roman" pitchFamily="18" charset="0"/>
                <a:ea typeface="SimSun" pitchFamily="2" charset="-122"/>
                <a:cs typeface="Times New Roman" pitchFamily="18" charset="0"/>
              </a:rPr>
              <a:t>r2</a:t>
            </a:r>
            <a:r>
              <a:rPr lang="en-US" altLang="zh-CN" sz="2400" dirty="0" smtClean="0">
                <a:latin typeface="Times New Roman" pitchFamily="18" charset="0"/>
                <a:ea typeface="SimSun" pitchFamily="2" charset="-122"/>
                <a:cs typeface="Times New Roman" pitchFamily="18" charset="0"/>
                <a:sym typeface="Wingdings" panose="05000000000000000000" pitchFamily="2" charset="2"/>
              </a:rPr>
              <a:t> [LOC]</a:t>
            </a: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a:t>
            </a:r>
          </a:p>
          <a:p>
            <a:pPr lvl="1" algn="just">
              <a:spcBef>
                <a:spcPct val="20000"/>
              </a:spcBef>
              <a:buSzPct val="95000"/>
              <a:defRPr/>
            </a:pPr>
            <a:r>
              <a:rPr kumimoji="0" lang="en-US" altLang="zh-CN" sz="2400" b="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Add R1, R2, R3  (R1←[R2]+[R3])</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188640"/>
            <a:ext cx="8610600" cy="8382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Instruction and Instruction Sequencing cont..</a:t>
            </a:r>
            <a:r>
              <a:rPr kumimoji="0" lang="en-US" altLang="zh-CN" sz="3200" b="1" i="0" u="none" strike="noStrike" kern="1200" cap="none" spc="0" normalizeH="0" noProof="0" dirty="0" smtClean="0">
                <a:ln>
                  <a:noFill/>
                </a:ln>
                <a:solidFill>
                  <a:srgbClr val="C00000"/>
                </a:solidFill>
                <a:effectLst/>
                <a:uLnTx/>
                <a:uFillTx/>
                <a:latin typeface="Times New Roman" pitchFamily="18" charset="0"/>
                <a:ea typeface="SimSun" pitchFamily="2" charset="-122"/>
                <a:cs typeface="Times New Roman" pitchFamily="18" charset="0"/>
              </a:rPr>
              <a:t> </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
        <p:nvSpPr>
          <p:cNvPr id="4" name="Rectangle 3"/>
          <p:cNvSpPr txBox="1">
            <a:spLocks noChangeArrowheads="1"/>
          </p:cNvSpPr>
          <p:nvPr/>
        </p:nvSpPr>
        <p:spPr>
          <a:xfrm>
            <a:off x="457200" y="1026840"/>
            <a:ext cx="8229600" cy="4411662"/>
          </a:xfrm>
          <a:prstGeom prst="rect">
            <a:avLst/>
          </a:prstGeom>
        </p:spPr>
        <p:txBody>
          <a:bodyPr vert="horz">
            <a:normAutofit/>
          </a:bodyPr>
          <a:lstStyle/>
          <a:p>
            <a:pPr marL="274320" indent="-274320" algn="just">
              <a:spcBef>
                <a:spcPct val="20000"/>
              </a:spcBef>
              <a:buSzPct val="95000"/>
            </a:pPr>
            <a:r>
              <a:rPr kumimoji="0" lang="en-US" altLang="zh-CN" sz="2600" b="0" i="0" u="none" strike="noStrike" kern="1200" cap="none" spc="0" normalizeH="0" baseline="0" noProof="0" dirty="0" smtClean="0">
                <a:ln>
                  <a:noFill/>
                </a:ln>
                <a:solidFill>
                  <a:schemeClr val="tx1"/>
                </a:solidFill>
                <a:effectLst/>
                <a:uLnTx/>
                <a:uFillTx/>
                <a:latin typeface="+mn-lt"/>
                <a:ea typeface="SimSun" pitchFamily="2" charset="-122"/>
                <a:cs typeface="+mn-cs"/>
              </a:rPr>
              <a:t> </a:t>
            </a:r>
            <a:r>
              <a:rPr kumimoji="0" lang="en-US" altLang="zh-CN" sz="2400" b="1" i="0" u="none" strike="noStrike" kern="1200" cap="none" spc="0" normalizeH="0" baseline="0" noProof="0" dirty="0" smtClean="0">
                <a:ln>
                  <a:noFill/>
                </a:ln>
                <a:effectLst/>
                <a:uLnTx/>
                <a:uFillTx/>
                <a:latin typeface="Times New Roman" panose="02020603050405020304" pitchFamily="18" charset="0"/>
                <a:ea typeface="SimSun" pitchFamily="2" charset="-122"/>
                <a:cs typeface="Times New Roman" panose="02020603050405020304" pitchFamily="18" charset="0"/>
              </a:rPr>
              <a:t>RISC and CISC Instruction Sets</a:t>
            </a:r>
          </a:p>
          <a:p>
            <a:pPr marL="274320" indent="-274320" algn="just">
              <a:spcBef>
                <a:spcPct val="20000"/>
              </a:spcBef>
              <a:buSzPct val="95000"/>
              <a:buFont typeface="Arial" pitchFamily="34" charset="0"/>
              <a:buChar char="•"/>
            </a:pPr>
            <a:r>
              <a:rPr lang="en-US" altLang="zh-CN" sz="2400" dirty="0" smtClean="0">
                <a:latin typeface="Times New Roman" pitchFamily="18" charset="0"/>
                <a:ea typeface="SimSun" pitchFamily="2" charset="-122"/>
                <a:cs typeface="Times New Roman" pitchFamily="18" charset="0"/>
              </a:rPr>
              <a:t>Computers can be Distinguish by the nature of instruction.</a:t>
            </a:r>
          </a:p>
          <a:p>
            <a:pPr marL="274320" indent="-274320" algn="just">
              <a:spcBef>
                <a:spcPct val="20000"/>
              </a:spcBef>
              <a:buSzPct val="95000"/>
            </a:pPr>
            <a:r>
              <a:rPr kumimoji="0" lang="en-US" altLang="zh-CN" sz="2400" b="1"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Reduced Instruction</a:t>
            </a:r>
            <a:r>
              <a:rPr kumimoji="0" lang="en-US" altLang="zh-CN" sz="2400" b="1" i="0" u="none" strike="noStrike" kern="1200" cap="none" spc="0" normalizeH="0" noProof="0" dirty="0" smtClean="0">
                <a:ln>
                  <a:noFill/>
                </a:ln>
                <a:effectLst/>
                <a:uLnTx/>
                <a:uFillTx/>
                <a:latin typeface="Times New Roman" pitchFamily="18" charset="0"/>
                <a:ea typeface="SimSun" pitchFamily="2" charset="-122"/>
                <a:cs typeface="Times New Roman" pitchFamily="18" charset="0"/>
              </a:rPr>
              <a:t> set Computers</a:t>
            </a:r>
          </a:p>
          <a:p>
            <a:pPr marL="274320" indent="-274320" algn="just">
              <a:spcBef>
                <a:spcPct val="20000"/>
              </a:spcBef>
              <a:buSzPct val="95000"/>
              <a:buFont typeface="Arial" pitchFamily="34" charset="0"/>
              <a:buChar char="•"/>
            </a:pPr>
            <a:r>
              <a:rPr lang="en-US" altLang="zh-CN" sz="2400" baseline="0" dirty="0" smtClean="0">
                <a:latin typeface="Times New Roman" pitchFamily="18" charset="0"/>
                <a:ea typeface="SimSun" pitchFamily="2" charset="-122"/>
                <a:cs typeface="Times New Roman" pitchFamily="18" charset="0"/>
              </a:rPr>
              <a:t>Instruction</a:t>
            </a:r>
            <a:r>
              <a:rPr lang="en-US" altLang="zh-CN" sz="2400" dirty="0" smtClean="0">
                <a:latin typeface="Times New Roman" pitchFamily="18" charset="0"/>
                <a:ea typeface="SimSun" pitchFamily="2" charset="-122"/>
                <a:cs typeface="Times New Roman" pitchFamily="18" charset="0"/>
              </a:rPr>
              <a:t> occupies one word, all operands needed for execution are in processor registers.</a:t>
            </a:r>
          </a:p>
          <a:p>
            <a:pPr marL="274320" indent="-274320" algn="just">
              <a:spcBef>
                <a:spcPct val="20000"/>
              </a:spcBef>
              <a:buSzPct val="95000"/>
              <a:buFont typeface="Arial" pitchFamily="34" charset="0"/>
              <a:buChar char="•"/>
            </a:pPr>
            <a:r>
              <a:rPr kumimoji="0" lang="en-US" altLang="zh-CN" sz="240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Execution</a:t>
            </a:r>
            <a:r>
              <a:rPr kumimoji="0" lang="en-US" altLang="zh-CN" sz="2400" i="0" u="none" strike="noStrike" kern="1200" cap="none" spc="0" normalizeH="0" noProof="0" dirty="0" smtClean="0">
                <a:ln>
                  <a:noFill/>
                </a:ln>
                <a:effectLst/>
                <a:uLnTx/>
                <a:uFillTx/>
                <a:latin typeface="Times New Roman" pitchFamily="18" charset="0"/>
                <a:ea typeface="SimSun" pitchFamily="2" charset="-122"/>
                <a:cs typeface="Times New Roman" pitchFamily="18" charset="0"/>
              </a:rPr>
              <a:t> takes place sequentially and in pipelined manner.</a:t>
            </a:r>
          </a:p>
          <a:p>
            <a:pPr marL="274320" indent="-274320" algn="just">
              <a:spcBef>
                <a:spcPct val="20000"/>
              </a:spcBef>
              <a:buSzPct val="95000"/>
              <a:buFont typeface="Arial" pitchFamily="34" charset="0"/>
              <a:buChar char="•"/>
            </a:pPr>
            <a:r>
              <a:rPr lang="en-US" altLang="zh-CN" sz="2400" baseline="0" dirty="0" smtClean="0">
                <a:latin typeface="Times New Roman" pitchFamily="18" charset="0"/>
                <a:ea typeface="SimSun" pitchFamily="2" charset="-122"/>
                <a:cs typeface="Times New Roman" pitchFamily="18" charset="0"/>
              </a:rPr>
              <a:t>Complexity</a:t>
            </a:r>
            <a:r>
              <a:rPr lang="en-US" altLang="zh-CN" sz="2400" dirty="0" smtClean="0">
                <a:latin typeface="Times New Roman" pitchFamily="18" charset="0"/>
                <a:ea typeface="SimSun" pitchFamily="2" charset="-122"/>
                <a:cs typeface="Times New Roman" pitchFamily="18" charset="0"/>
              </a:rPr>
              <a:t> of the instruction reduces.</a:t>
            </a:r>
          </a:p>
          <a:p>
            <a:pPr marL="274320" indent="-274320" algn="just">
              <a:spcBef>
                <a:spcPct val="20000"/>
              </a:spcBef>
              <a:buSzPct val="95000"/>
            </a:pPr>
            <a:r>
              <a:rPr kumimoji="0" lang="en-US" altLang="zh-CN" sz="2400" b="1"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Complex instruction Set Computers</a:t>
            </a:r>
          </a:p>
          <a:p>
            <a:pPr marL="274320" indent="-274320" algn="just">
              <a:spcBef>
                <a:spcPct val="20000"/>
              </a:spcBef>
              <a:buSzPct val="95000"/>
              <a:buFont typeface="Arial" pitchFamily="34" charset="0"/>
              <a:buChar char="•"/>
            </a:pPr>
            <a:r>
              <a:rPr lang="en-US" altLang="zh-CN" sz="2400" dirty="0" smtClean="0">
                <a:latin typeface="Times New Roman" pitchFamily="18" charset="0"/>
                <a:ea typeface="SimSun" pitchFamily="2" charset="-122"/>
                <a:cs typeface="Times New Roman" pitchFamily="18" charset="0"/>
              </a:rPr>
              <a:t>Instruction span more than one word in memory.</a:t>
            </a:r>
          </a:p>
          <a:p>
            <a:pPr marL="274320" indent="-274320" algn="just">
              <a:spcBef>
                <a:spcPct val="20000"/>
              </a:spcBef>
              <a:buSzPct val="95000"/>
              <a:buFont typeface="Arial" pitchFamily="34" charset="0"/>
              <a:buChar char="•"/>
            </a:pPr>
            <a:r>
              <a:rPr kumimoji="0" lang="en-US" altLang="zh-CN" sz="240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The instructions are complicated.</a:t>
            </a:r>
          </a:p>
          <a:p>
            <a:pPr marL="274320" indent="-274320" algn="just">
              <a:spcBef>
                <a:spcPct val="20000"/>
              </a:spcBef>
              <a:buClr>
                <a:schemeClr val="accent3"/>
              </a:buClr>
              <a:buSzPct val="95000"/>
              <a:buFont typeface="Arial" pitchFamily="34" charset="0"/>
              <a:buChar char="•"/>
            </a:pPr>
            <a:endParaRPr kumimoji="0" lang="en-US" altLang="zh-CN" sz="2400" b="1" i="0" u="none" strike="noStrike" kern="1200" cap="none" spc="0" normalizeH="0" baseline="0" noProof="0" dirty="0" smtClean="0">
              <a:ln>
                <a:noFill/>
              </a:ln>
              <a:solidFill>
                <a:srgbClr val="7030A0"/>
              </a:solidFill>
              <a:effectLst/>
              <a:uLnTx/>
              <a:uFillTx/>
              <a:latin typeface="Times New Roman" pitchFamily="18" charset="0"/>
              <a:ea typeface="SimSun" pitchFamily="2" charset="-122"/>
              <a:cs typeface="Times New Roman" pitchFamily="18" charset="0"/>
            </a:endParaRPr>
          </a:p>
          <a:p>
            <a:pPr marL="274320" indent="-274320" algn="just">
              <a:spcBef>
                <a:spcPct val="20000"/>
              </a:spcBef>
              <a:buClr>
                <a:schemeClr val="accent3"/>
              </a:buClr>
              <a:buSzPct val="95000"/>
            </a:pPr>
            <a:endParaRPr kumimoji="0" lang="en-US" altLang="zh-CN" sz="2400" b="0"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66700" y="188640"/>
            <a:ext cx="8610600" cy="8382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Instruction and Instruction Sequencing cont..</a:t>
            </a:r>
            <a:r>
              <a:rPr kumimoji="0" lang="en-US" altLang="zh-CN" sz="3200" b="1" i="0" u="none" strike="noStrike" kern="1200" cap="none" spc="0" normalizeH="0" noProof="0" dirty="0" smtClean="0">
                <a:ln>
                  <a:noFill/>
                </a:ln>
                <a:solidFill>
                  <a:srgbClr val="C00000"/>
                </a:solidFill>
                <a:effectLst/>
                <a:uLnTx/>
                <a:uFillTx/>
                <a:latin typeface="Times New Roman" pitchFamily="18" charset="0"/>
                <a:ea typeface="SimSun" pitchFamily="2" charset="-122"/>
                <a:cs typeface="Times New Roman" pitchFamily="18" charset="0"/>
              </a:rPr>
              <a:t> </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
        <p:nvSpPr>
          <p:cNvPr id="4" name="Rectangle 3"/>
          <p:cNvSpPr txBox="1">
            <a:spLocks noChangeArrowheads="1"/>
          </p:cNvSpPr>
          <p:nvPr/>
        </p:nvSpPr>
        <p:spPr>
          <a:xfrm>
            <a:off x="457200" y="1124744"/>
            <a:ext cx="8229600" cy="4411662"/>
          </a:xfrm>
          <a:prstGeom prst="rect">
            <a:avLst/>
          </a:prstGeom>
        </p:spPr>
        <p:txBody>
          <a:bodyPr vert="horz">
            <a:normAutofit lnSpcReduction="10000"/>
          </a:bodyPr>
          <a:lstStyle/>
          <a:p>
            <a:pPr marL="274320" indent="-274320" algn="just">
              <a:spcBef>
                <a:spcPct val="20000"/>
              </a:spcBef>
              <a:buClr>
                <a:schemeClr val="accent3"/>
              </a:buClr>
              <a:buSzPct val="95000"/>
            </a:pPr>
            <a:r>
              <a:rPr kumimoji="0" lang="en-US" altLang="zh-CN" sz="2600" b="0" i="0" u="none" strike="noStrike" kern="1200" cap="none" spc="0" normalizeH="0" baseline="0" noProof="0" dirty="0" smtClean="0">
                <a:ln>
                  <a:noFill/>
                </a:ln>
                <a:solidFill>
                  <a:schemeClr val="tx1"/>
                </a:solidFill>
                <a:effectLst/>
                <a:uLnTx/>
                <a:uFillTx/>
                <a:latin typeface="+mn-lt"/>
                <a:ea typeface="SimSun" pitchFamily="2" charset="-122"/>
                <a:cs typeface="+mn-cs"/>
              </a:rPr>
              <a:t> </a:t>
            </a:r>
            <a:r>
              <a:rPr kumimoji="0" lang="en-US" altLang="zh-CN" sz="2400" b="1"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Introduction to RISC Instruction Sets</a:t>
            </a:r>
          </a:p>
          <a:p>
            <a:pPr marL="274320" indent="-274320" algn="just">
              <a:spcBef>
                <a:spcPct val="20000"/>
              </a:spcBef>
              <a:buSzPct val="95000"/>
            </a:pPr>
            <a:r>
              <a:rPr lang="en-US" altLang="zh-CN" sz="2400" dirty="0" smtClean="0">
                <a:latin typeface="Times New Roman" pitchFamily="18" charset="0"/>
                <a:ea typeface="SimSun" pitchFamily="2" charset="-122"/>
                <a:cs typeface="Times New Roman" pitchFamily="18" charset="0"/>
              </a:rPr>
              <a:t>Two key Characteristics of RISC Instruction Set are:</a:t>
            </a:r>
          </a:p>
          <a:p>
            <a:pPr marL="457200" indent="-457200" algn="just">
              <a:spcBef>
                <a:spcPct val="20000"/>
              </a:spcBef>
              <a:buSzPct val="95000"/>
              <a:buFont typeface="+mj-lt"/>
              <a:buAutoNum type="arabicPeriod"/>
            </a:pPr>
            <a:r>
              <a:rPr kumimoji="0" lang="en-US" altLang="zh-CN" sz="240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Each</a:t>
            </a:r>
            <a:r>
              <a:rPr kumimoji="0" lang="en-US" altLang="zh-CN" sz="2400" i="0" u="none" strike="noStrike" kern="1200" cap="none" spc="0" normalizeH="0" noProof="0" dirty="0" smtClean="0">
                <a:ln>
                  <a:noFill/>
                </a:ln>
                <a:effectLst/>
                <a:uLnTx/>
                <a:uFillTx/>
                <a:latin typeface="Times New Roman" pitchFamily="18" charset="0"/>
                <a:ea typeface="SimSun" pitchFamily="2" charset="-122"/>
                <a:cs typeface="Times New Roman" pitchFamily="18" charset="0"/>
              </a:rPr>
              <a:t> instruction fits in a single word.</a:t>
            </a:r>
          </a:p>
          <a:p>
            <a:pPr marL="457200" indent="-457200" algn="just">
              <a:spcBef>
                <a:spcPct val="20000"/>
              </a:spcBef>
              <a:buSzPct val="95000"/>
              <a:buFont typeface="+mj-lt"/>
              <a:buAutoNum type="arabicPeriod"/>
            </a:pPr>
            <a:r>
              <a:rPr lang="en-US" altLang="zh-CN" sz="2400" baseline="0" dirty="0" smtClean="0">
                <a:latin typeface="Times New Roman" pitchFamily="18" charset="0"/>
                <a:ea typeface="SimSun" pitchFamily="2" charset="-122"/>
                <a:cs typeface="Times New Roman" pitchFamily="18" charset="0"/>
              </a:rPr>
              <a:t>A</a:t>
            </a:r>
            <a:r>
              <a:rPr lang="en-US" altLang="zh-CN" sz="2400" dirty="0" smtClean="0">
                <a:latin typeface="Times New Roman" pitchFamily="18" charset="0"/>
                <a:ea typeface="SimSun" pitchFamily="2" charset="-122"/>
                <a:cs typeface="Times New Roman" pitchFamily="18" charset="0"/>
              </a:rPr>
              <a:t>  load/store architecture is used , in which</a:t>
            </a:r>
          </a:p>
          <a:p>
            <a:pPr marL="731520" lvl="1" indent="-274320" algn="just">
              <a:spcBef>
                <a:spcPct val="20000"/>
              </a:spcBef>
              <a:buSzPct val="95000"/>
              <a:buFont typeface="Arial" pitchFamily="34" charset="0"/>
              <a:buChar char="•"/>
            </a:pPr>
            <a:r>
              <a:rPr kumimoji="0" lang="en-US" altLang="zh-CN" sz="240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Memory operands are accessed only using load and store instructions.</a:t>
            </a:r>
          </a:p>
          <a:p>
            <a:pPr marL="731520" lvl="1" indent="-274320" algn="just">
              <a:spcBef>
                <a:spcPct val="20000"/>
              </a:spcBef>
              <a:buSzPct val="95000"/>
              <a:buFont typeface="Arial" pitchFamily="34" charset="0"/>
              <a:buChar char="•"/>
            </a:pPr>
            <a:r>
              <a:rPr lang="en-US" altLang="zh-CN" sz="2400" dirty="0" smtClean="0">
                <a:latin typeface="Times New Roman" pitchFamily="18" charset="0"/>
                <a:ea typeface="SimSun" pitchFamily="2" charset="-122"/>
                <a:cs typeface="Times New Roman" pitchFamily="18" charset="0"/>
              </a:rPr>
              <a:t>All operands involved in ALU operation must either be in processor registers , or one of the operands may be given explicitly within the instruction word.</a:t>
            </a:r>
          </a:p>
          <a:p>
            <a:pPr marL="731520" lvl="1" indent="-274320" algn="just">
              <a:spcBef>
                <a:spcPct val="20000"/>
              </a:spcBef>
              <a:buSzPct val="95000"/>
              <a:buFont typeface="Arial" pitchFamily="34" charset="0"/>
              <a:buChar char="•"/>
            </a:pPr>
            <a:r>
              <a:rPr kumimoji="0" lang="en-US" altLang="zh-CN" sz="240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rPr>
              <a:t>Bringing the operands to register is done by using load</a:t>
            </a:r>
            <a:r>
              <a:rPr kumimoji="0" lang="en-US" altLang="zh-CN" sz="2400" i="0" u="none" strike="noStrike" kern="1200" cap="none" spc="0" normalizeH="0" noProof="0" dirty="0" smtClean="0">
                <a:ln>
                  <a:noFill/>
                </a:ln>
                <a:effectLst/>
                <a:uLnTx/>
                <a:uFillTx/>
                <a:latin typeface="Times New Roman" pitchFamily="18" charset="0"/>
                <a:ea typeface="SimSun" pitchFamily="2" charset="-122"/>
                <a:cs typeface="Times New Roman" pitchFamily="18" charset="0"/>
              </a:rPr>
              <a:t> instruction</a:t>
            </a:r>
            <a:endParaRPr kumimoji="0" lang="en-US" altLang="zh-CN" sz="2400" i="0" u="none" strike="noStrike" kern="1200" cap="none" spc="0" normalizeH="0" baseline="0" noProof="0" dirty="0" smtClean="0">
              <a:ln>
                <a:noFill/>
              </a:ln>
              <a:effectLst/>
              <a:uLnTx/>
              <a:uFillTx/>
              <a:latin typeface="Times New Roman" pitchFamily="18" charset="0"/>
              <a:ea typeface="SimSun" pitchFamily="2" charset="-122"/>
              <a:cs typeface="Times New Roman" pitchFamily="18" charset="0"/>
            </a:endParaRPr>
          </a:p>
          <a:p>
            <a:pPr marL="274320" indent="-274320" algn="just">
              <a:spcBef>
                <a:spcPct val="20000"/>
              </a:spcBef>
              <a:buSzPct val="95000"/>
            </a:pPr>
            <a:endParaRPr kumimoji="0" lang="en-US" altLang="zh-CN" sz="2400" b="0"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166843"/>
            <a:ext cx="8640960" cy="4690515"/>
          </a:xfrm>
          <a:prstGeom prst="rect">
            <a:avLst/>
          </a:prstGeom>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At the start of execution of a program, all instructions and data used in the program </a:t>
            </a:r>
            <a:r>
              <a:rPr lang="en-US" sz="2400" dirty="0" smtClean="0">
                <a:latin typeface="Times New Roman" panose="02020603050405020304" pitchFamily="18" charset="0"/>
                <a:cs typeface="Times New Roman" panose="02020603050405020304" pitchFamily="18" charset="0"/>
              </a:rPr>
              <a:t>are stored </a:t>
            </a:r>
            <a:r>
              <a:rPr lang="en-US" sz="2400" dirty="0">
                <a:latin typeface="Times New Roman" panose="02020603050405020304" pitchFamily="18" charset="0"/>
                <a:cs typeface="Times New Roman" panose="02020603050405020304" pitchFamily="18" charset="0"/>
              </a:rPr>
              <a:t>in the memory of a computer. </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Processor </a:t>
            </a:r>
            <a:r>
              <a:rPr lang="en-US" sz="2400" dirty="0">
                <a:latin typeface="Times New Roman" panose="02020603050405020304" pitchFamily="18" charset="0"/>
                <a:cs typeface="Times New Roman" panose="02020603050405020304" pitchFamily="18" charset="0"/>
              </a:rPr>
              <a:t>registers do not contain valid operands </a:t>
            </a:r>
            <a:r>
              <a:rPr lang="en-US" sz="2400" dirty="0" smtClean="0">
                <a:latin typeface="Times New Roman" panose="02020603050405020304" pitchFamily="18" charset="0"/>
                <a:cs typeface="Times New Roman" panose="02020603050405020304" pitchFamily="18" charset="0"/>
              </a:rPr>
              <a:t>at that </a:t>
            </a:r>
            <a:r>
              <a:rPr lang="en-US" sz="2400" dirty="0">
                <a:latin typeface="Times New Roman" panose="02020603050405020304" pitchFamily="18" charset="0"/>
                <a:cs typeface="Times New Roman" panose="02020603050405020304" pitchFamily="18" charset="0"/>
              </a:rPr>
              <a:t>time. </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necessary to first bring these operands into the registers. </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This task is </a:t>
            </a:r>
            <a:r>
              <a:rPr lang="en-US" sz="2400" dirty="0">
                <a:latin typeface="Times New Roman" panose="02020603050405020304" pitchFamily="18" charset="0"/>
                <a:cs typeface="Times New Roman" panose="02020603050405020304" pitchFamily="18" charset="0"/>
              </a:rPr>
              <a:t>done by Load instructions which copy the contents of a memory location into a </a:t>
            </a:r>
            <a:r>
              <a:rPr lang="en-US" sz="2400" dirty="0" smtClean="0">
                <a:latin typeface="Times New Roman" panose="02020603050405020304" pitchFamily="18" charset="0"/>
                <a:cs typeface="Times New Roman" panose="02020603050405020304" pitchFamily="18" charset="0"/>
              </a:rPr>
              <a:t>processor register</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Load </a:t>
            </a:r>
            <a:r>
              <a:rPr lang="en-US" sz="2400" dirty="0">
                <a:latin typeface="Times New Roman" panose="02020603050405020304" pitchFamily="18" charset="0"/>
                <a:cs typeface="Times New Roman" panose="02020603050405020304" pitchFamily="18" charset="0"/>
              </a:rPr>
              <a:t>instructions are of the </a:t>
            </a:r>
            <a:r>
              <a:rPr lang="en-US" sz="2400" dirty="0" smtClean="0">
                <a:latin typeface="Times New Roman" panose="02020603050405020304" pitchFamily="18" charset="0"/>
                <a:cs typeface="Times New Roman" panose="02020603050405020304" pitchFamily="18" charset="0"/>
              </a:rPr>
              <a:t>form</a:t>
            </a:r>
          </a:p>
          <a:p>
            <a:pPr lvl="0" algn="just">
              <a:spcBef>
                <a:spcPct val="15000"/>
              </a:spcBef>
              <a:buSzPct val="95000"/>
            </a:pPr>
            <a:r>
              <a:rPr lang="en-US" sz="2400" dirty="0" smtClean="0">
                <a:solidFill>
                  <a:srgbClr val="C00000"/>
                </a:solidFill>
                <a:latin typeface="Times New Roman" pitchFamily="18" charset="0"/>
                <a:cs typeface="Times New Roman" pitchFamily="18" charset="0"/>
              </a:rPr>
              <a:t>	Load </a:t>
            </a:r>
            <a:r>
              <a:rPr lang="en-US" sz="2400" dirty="0">
                <a:solidFill>
                  <a:srgbClr val="C00000"/>
                </a:solidFill>
                <a:latin typeface="Times New Roman" pitchFamily="18" charset="0"/>
                <a:cs typeface="Times New Roman" pitchFamily="18" charset="0"/>
              </a:rPr>
              <a:t>destination</a:t>
            </a:r>
            <a:r>
              <a:rPr lang="en-US" sz="2400" dirty="0" smtClean="0">
                <a:solidFill>
                  <a:srgbClr val="C00000"/>
                </a:solidFill>
                <a:latin typeface="Times New Roman" pitchFamily="18" charset="0"/>
                <a:cs typeface="Times New Roman" pitchFamily="18" charset="0"/>
              </a:rPr>
              <a:t>, source</a:t>
            </a:r>
            <a:endParaRPr lang="en-US" sz="2400" dirty="0">
              <a:solidFill>
                <a:srgbClr val="C00000"/>
              </a:solidFill>
              <a:latin typeface="Times New Roman" pitchFamily="18" charset="0"/>
              <a:cs typeface="Times New Roman" pitchFamily="18" charset="0"/>
            </a:endParaRPr>
          </a:p>
          <a:p>
            <a:pPr lvl="0" algn="just">
              <a:spcBef>
                <a:spcPct val="15000"/>
              </a:spcBef>
              <a:buSzPct val="95000"/>
            </a:pPr>
            <a:r>
              <a:rPr lang="en-US" sz="2400" dirty="0" smtClean="0">
                <a:solidFill>
                  <a:srgbClr val="C00000"/>
                </a:solidFill>
                <a:latin typeface="Times New Roman" pitchFamily="18" charset="0"/>
                <a:cs typeface="Times New Roman" pitchFamily="18" charset="0"/>
              </a:rPr>
              <a:t>	Load </a:t>
            </a:r>
            <a:r>
              <a:rPr lang="en-US" sz="2400" dirty="0" err="1">
                <a:solidFill>
                  <a:srgbClr val="C00000"/>
                </a:solidFill>
                <a:latin typeface="Times New Roman" pitchFamily="18" charset="0"/>
                <a:cs typeface="Times New Roman" pitchFamily="18" charset="0"/>
              </a:rPr>
              <a:t>processor_register</a:t>
            </a:r>
            <a:r>
              <a:rPr lang="en-US" sz="2400" dirty="0">
                <a:solidFill>
                  <a:srgbClr val="C00000"/>
                </a:solidFill>
                <a:latin typeface="Times New Roman" pitchFamily="18" charset="0"/>
                <a:cs typeface="Times New Roman" pitchFamily="18" charset="0"/>
              </a:rPr>
              <a:t>, </a:t>
            </a:r>
            <a:r>
              <a:rPr lang="en-US" sz="2400" dirty="0" err="1">
                <a:solidFill>
                  <a:srgbClr val="C00000"/>
                </a:solidFill>
                <a:latin typeface="Times New Roman" pitchFamily="18" charset="0"/>
                <a:cs typeface="Times New Roman" pitchFamily="18" charset="0"/>
              </a:rPr>
              <a:t>memory_location</a:t>
            </a:r>
            <a:endParaRPr lang="en-US" sz="2400" dirty="0">
              <a:solidFill>
                <a:srgbClr val="C00000"/>
              </a:solidFill>
              <a:latin typeface="Times New Roman" pitchFamily="18" charset="0"/>
              <a:cs typeface="Times New Roman" pitchFamily="18" charset="0"/>
            </a:endParaRPr>
          </a:p>
          <a:p>
            <a:pPr lvl="0" algn="just">
              <a:spcBef>
                <a:spcPct val="15000"/>
              </a:spcBef>
              <a:buSzPct val="95000"/>
            </a:pPr>
            <a:r>
              <a:rPr lang="en-US" sz="2400" dirty="0" err="1">
                <a:latin typeface="Times New Roman" pitchFamily="18" charset="0"/>
                <a:cs typeface="Times New Roman" pitchFamily="18" charset="0"/>
              </a:rPr>
              <a:t>Memory_location</a:t>
            </a:r>
            <a:r>
              <a:rPr lang="en-US" sz="2400" dirty="0">
                <a:latin typeface="Times New Roman" panose="02020603050405020304" pitchFamily="18" charset="0"/>
                <a:cs typeface="Times New Roman" panose="02020603050405020304" pitchFamily="18" charset="0"/>
              </a:rPr>
              <a:t> can be specified in various ways called addressing modes</a:t>
            </a:r>
          </a:p>
          <a:p>
            <a:endParaRPr lang="en-US" sz="2400" dirty="0">
              <a:latin typeface="Times New Roman" panose="02020603050405020304" pitchFamily="18" charset="0"/>
              <a:cs typeface="Times New Roman" panose="02020603050405020304" pitchFamily="18" charset="0"/>
            </a:endParaRPr>
          </a:p>
        </p:txBody>
      </p:sp>
      <p:sp>
        <p:nvSpPr>
          <p:cNvPr id="3" name="Title 1"/>
          <p:cNvSpPr txBox="1">
            <a:spLocks/>
          </p:cNvSpPr>
          <p:nvPr/>
        </p:nvSpPr>
        <p:spPr>
          <a:xfrm>
            <a:off x="266700" y="188640"/>
            <a:ext cx="8610600" cy="8382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smtClean="0">
                <a:ln>
                  <a:noFill/>
                </a:ln>
                <a:solidFill>
                  <a:srgbClr val="C00000"/>
                </a:solidFill>
                <a:effectLst/>
                <a:uLnTx/>
                <a:uFillTx/>
                <a:latin typeface="Times New Roman" pitchFamily="18" charset="0"/>
                <a:ea typeface="SimSun" pitchFamily="2" charset="-122"/>
                <a:cs typeface="Times New Roman" pitchFamily="18" charset="0"/>
              </a:rPr>
              <a:t>Instruction and Instruction Sequencing cont..</a:t>
            </a:r>
            <a:r>
              <a:rPr kumimoji="0" lang="en-US" altLang="zh-CN" sz="3200" b="1" i="0" u="none" strike="noStrike" kern="1200" cap="none" spc="0" normalizeH="0" noProof="0" dirty="0" smtClean="0">
                <a:ln>
                  <a:noFill/>
                </a:ln>
                <a:solidFill>
                  <a:srgbClr val="C00000"/>
                </a:solidFill>
                <a:effectLst/>
                <a:uLnTx/>
                <a:uFillTx/>
                <a:latin typeface="Times New Roman" pitchFamily="18" charset="0"/>
                <a:ea typeface="SimSun" pitchFamily="2" charset="-122"/>
                <a:cs typeface="Times New Roman" pitchFamily="18" charset="0"/>
              </a:rPr>
              <a:t> </a:t>
            </a:r>
            <a:endParaRPr kumimoji="0" lang="en-IN" sz="3200" b="1" i="0" u="none" strike="noStrike" kern="1200" cap="none" spc="0" normalizeH="0" baseline="0" noProof="0" dirty="0">
              <a:ln>
                <a:noFill/>
              </a:ln>
              <a:solidFill>
                <a:srgbClr val="C00000"/>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4000324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6942" y="260648"/>
            <a:ext cx="8610600" cy="838200"/>
          </a:xfrm>
          <a:prstGeom prst="rect">
            <a:avLst/>
          </a:prstGeom>
        </p:spPr>
        <p:txBody>
          <a:bodyPr>
            <a:normAutofit fontScale="675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5400" b="0" i="0" u="none" strike="noStrike" kern="1200" cap="none" spc="0" normalizeH="0" baseline="0" noProof="0" dirty="0" smtClean="0">
                <a:ln>
                  <a:noFill/>
                </a:ln>
                <a:solidFill>
                  <a:srgbClr val="C00000"/>
                </a:solidFill>
                <a:effectLst/>
                <a:uLnTx/>
                <a:uFillTx/>
                <a:latin typeface="Times New Roman" panose="02020603050405020304" pitchFamily="18" charset="0"/>
                <a:ea typeface="SimSun" pitchFamily="2" charset="-122"/>
                <a:cs typeface="Times New Roman" panose="02020603050405020304" pitchFamily="18" charset="0"/>
              </a:rPr>
              <a:t>Instruction and Instruction Sequencing cont..</a:t>
            </a:r>
            <a:r>
              <a:rPr kumimoji="0" lang="en-US" altLang="zh-CN" sz="5400" b="0" i="0" u="none" strike="noStrike" kern="1200" cap="none" spc="0" normalizeH="0" noProof="0" dirty="0" smtClean="0">
                <a:ln>
                  <a:noFill/>
                </a:ln>
                <a:solidFill>
                  <a:srgbClr val="C00000"/>
                </a:solidFill>
                <a:effectLst/>
                <a:uLnTx/>
                <a:uFillTx/>
                <a:latin typeface="Times New Roman" panose="02020603050405020304" pitchFamily="18" charset="0"/>
                <a:ea typeface="SimSun" pitchFamily="2" charset="-122"/>
                <a:cs typeface="Times New Roman" panose="02020603050405020304" pitchFamily="18" charset="0"/>
              </a:rPr>
              <a:t> </a:t>
            </a:r>
            <a:endParaRPr kumimoji="0" lang="en-IN" sz="5000" b="0" i="0" u="none" strike="noStrike" kern="1200" cap="none" spc="0" normalizeH="0" baseline="0" noProof="0" dirty="0">
              <a:ln>
                <a:noFill/>
              </a:ln>
              <a:solidFill>
                <a:srgbClr val="C00000"/>
              </a:solidFill>
              <a:effectLst/>
              <a:uLnTx/>
              <a:uFillTx/>
              <a:latin typeface="Times New Roman" panose="02020603050405020304" pitchFamily="18" charset="0"/>
              <a:ea typeface="+mj-ea"/>
              <a:cs typeface="Times New Roman" panose="02020603050405020304" pitchFamily="18" charset="0"/>
            </a:endParaRPr>
          </a:p>
        </p:txBody>
      </p:sp>
      <p:sp>
        <p:nvSpPr>
          <p:cNvPr id="3" name="Rectangle 3"/>
          <p:cNvSpPr txBox="1">
            <a:spLocks noChangeArrowheads="1"/>
          </p:cNvSpPr>
          <p:nvPr/>
        </p:nvSpPr>
        <p:spPr>
          <a:xfrm>
            <a:off x="290459" y="980728"/>
            <a:ext cx="8280400" cy="5877272"/>
          </a:xfrm>
          <a:prstGeom prst="rect">
            <a:avLst/>
          </a:prstGeom>
        </p:spPr>
        <p:txBody>
          <a:bodyPr vert="horz">
            <a:noAutofit/>
          </a:bodyPr>
          <a:lstStyle/>
          <a:p>
            <a:r>
              <a:rPr lang="en-US" sz="2400" dirty="0">
                <a:latin typeface="Times New Roman" panose="02020603050405020304" pitchFamily="18" charset="0"/>
                <a:cs typeface="Times New Roman" panose="02020603050405020304" pitchFamily="18" charset="0"/>
              </a:rPr>
              <a:t>Let us now consider a typical arithmetic operation.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Adding two numbers :</a:t>
            </a:r>
            <a:endParaRPr lang="en-US" sz="2400" baseline="0" dirty="0" smtClean="0">
              <a:latin typeface="Times New Roman" pitchFamily="18" charset="0"/>
              <a:cs typeface="Times New Roman" pitchFamily="18" charset="0"/>
            </a:endParaRPr>
          </a:p>
          <a:p>
            <a:pPr lvl="0" algn="just">
              <a:spcBef>
                <a:spcPct val="15000"/>
              </a:spcBef>
              <a:buSzPct val="95000"/>
            </a:pPr>
            <a:r>
              <a:rPr lang="en-US" sz="2400" baseline="0" dirty="0" smtClean="0">
                <a:latin typeface="Times New Roman" pitchFamily="18" charset="0"/>
                <a:cs typeface="Times New Roman" pitchFamily="18" charset="0"/>
              </a:rPr>
              <a:t>	</a:t>
            </a:r>
            <a:r>
              <a:rPr lang="en-US" sz="2400" baseline="0" dirty="0" smtClean="0">
                <a:solidFill>
                  <a:srgbClr val="C00000"/>
                </a:solidFill>
                <a:latin typeface="Times New Roman" pitchFamily="18" charset="0"/>
                <a:cs typeface="Times New Roman" pitchFamily="18" charset="0"/>
              </a:rPr>
              <a:t>C=A+B</a:t>
            </a:r>
          </a:p>
          <a:p>
            <a:r>
              <a:rPr lang="en-US" sz="2400" dirty="0">
                <a:latin typeface="Times New Roman" panose="02020603050405020304" pitchFamily="18" charset="0"/>
                <a:cs typeface="Times New Roman" panose="02020603050405020304" pitchFamily="18" charset="0"/>
              </a:rPr>
              <a:t>The required action can be accomplished by a sequence of simple machine instructions</a:t>
            </a:r>
            <a:r>
              <a:rPr lang="en-US" sz="2400" dirty="0" smtClean="0">
                <a:latin typeface="Times New Roman" panose="02020603050405020304" pitchFamily="18" charset="0"/>
                <a:cs typeface="Times New Roman" panose="02020603050405020304" pitchFamily="18" charset="0"/>
              </a:rPr>
              <a:t>. We </a:t>
            </a:r>
            <a:r>
              <a:rPr lang="en-US" sz="2400" dirty="0">
                <a:latin typeface="Times New Roman" panose="02020603050405020304" pitchFamily="18" charset="0"/>
                <a:cs typeface="Times New Roman" panose="02020603050405020304" pitchFamily="18" charset="0"/>
              </a:rPr>
              <a:t>choose to use registers R2, R3, and R4 to perform the task with four instructions</a:t>
            </a:r>
            <a:endParaRPr lang="en-US" sz="2400" baseline="0" dirty="0" smtClean="0">
              <a:solidFill>
                <a:srgbClr val="C00000"/>
              </a:solidFill>
              <a:latin typeface="Times New Roman" pitchFamily="18" charset="0"/>
              <a:cs typeface="Times New Roman" pitchFamily="18" charset="0"/>
            </a:endParaRPr>
          </a:p>
          <a:p>
            <a:pPr marL="274320" lvl="0" indent="-274320" algn="just">
              <a:spcBef>
                <a:spcPct val="15000"/>
              </a:spcBef>
              <a:buSzPct val="95000"/>
            </a:pPr>
            <a:r>
              <a:rPr kumimoji="0" lang="en-US" sz="2400" b="0" i="0" u="none" strike="noStrike" kern="1200" cap="none" spc="0" normalizeH="0" noProof="0" dirty="0" smtClean="0">
                <a:ln>
                  <a:noFill/>
                </a:ln>
                <a:solidFill>
                  <a:srgbClr val="C00000"/>
                </a:solidFill>
                <a:effectLst/>
                <a:uLnTx/>
                <a:uFillTx/>
                <a:latin typeface="Times New Roman" pitchFamily="18" charset="0"/>
                <a:cs typeface="Times New Roman" pitchFamily="18" charset="0"/>
              </a:rPr>
              <a:t>	Load R2, A</a:t>
            </a:r>
          </a:p>
          <a:p>
            <a:pPr marL="274320" lvl="0" indent="-274320" algn="just">
              <a:spcBef>
                <a:spcPct val="15000"/>
              </a:spcBef>
              <a:buSzPct val="95000"/>
            </a:pPr>
            <a:r>
              <a:rPr lang="en-US" sz="2400" baseline="0" dirty="0" smtClean="0">
                <a:solidFill>
                  <a:srgbClr val="C00000"/>
                </a:solidFill>
                <a:latin typeface="Times New Roman" pitchFamily="18" charset="0"/>
                <a:cs typeface="Times New Roman" pitchFamily="18" charset="0"/>
              </a:rPr>
              <a:t>	Load R3,B</a:t>
            </a:r>
          </a:p>
          <a:p>
            <a:pPr marL="274320" lvl="0" indent="-274320" algn="just">
              <a:spcBef>
                <a:spcPct val="15000"/>
              </a:spcBef>
              <a:buSzPct val="95000"/>
            </a:pPr>
            <a:r>
              <a:rPr kumimoji="0" lang="en-US" sz="2400" b="0" i="0" u="none" strike="noStrike" kern="1200" cap="none" spc="0" normalizeH="0" noProof="0" dirty="0" smtClean="0">
                <a:ln>
                  <a:noFill/>
                </a:ln>
                <a:solidFill>
                  <a:srgbClr val="C00000"/>
                </a:solidFill>
                <a:effectLst/>
                <a:uLnTx/>
                <a:uFillTx/>
                <a:latin typeface="Times New Roman" pitchFamily="18" charset="0"/>
                <a:cs typeface="Times New Roman" pitchFamily="18" charset="0"/>
              </a:rPr>
              <a:t>	Add R4, R2,R3</a:t>
            </a:r>
          </a:p>
          <a:p>
            <a:pPr marL="274320" lvl="0" indent="-274320" algn="just">
              <a:spcBef>
                <a:spcPct val="15000"/>
              </a:spcBef>
              <a:buSzPct val="95000"/>
            </a:pPr>
            <a:r>
              <a:rPr lang="en-US" sz="2400" baseline="0" dirty="0" smtClean="0">
                <a:solidFill>
                  <a:srgbClr val="C00000"/>
                </a:solidFill>
                <a:latin typeface="Times New Roman" pitchFamily="18" charset="0"/>
                <a:cs typeface="Times New Roman" pitchFamily="18" charset="0"/>
              </a:rPr>
              <a:t>	Store R4,C</a:t>
            </a:r>
          </a:p>
          <a:p>
            <a:pPr marL="274320" lvl="0" indent="-274320" algn="just">
              <a:spcBef>
                <a:spcPct val="15000"/>
              </a:spcBef>
              <a:buSzPct val="95000"/>
            </a:pPr>
            <a:r>
              <a:rPr kumimoji="0" lang="en-US" sz="2400" b="0" i="0" u="none" strike="noStrike" kern="1200" cap="none" spc="0" normalizeH="0" noProof="0" dirty="0">
                <a:ln>
                  <a:noFill/>
                </a:ln>
                <a:solidFill>
                  <a:srgbClr val="C00000"/>
                </a:solidFill>
                <a:effectLst/>
                <a:uLnTx/>
                <a:uFillTx/>
                <a:latin typeface="Times New Roman" pitchFamily="18" charset="0"/>
                <a:cs typeface="Times New Roman" pitchFamily="18" charset="0"/>
              </a:rPr>
              <a:t>	</a:t>
            </a:r>
            <a:r>
              <a:rPr kumimoji="0" lang="en-US" sz="2400" b="0" i="0" u="none" strike="noStrike" kern="1200" cap="none" spc="0" normalizeH="0" noProof="0" dirty="0" smtClean="0">
                <a:ln>
                  <a:noFill/>
                </a:ln>
                <a:solidFill>
                  <a:srgbClr val="C00000"/>
                </a:solidFill>
                <a:effectLst/>
                <a:uLnTx/>
                <a:uFillTx/>
                <a:latin typeface="Times New Roman" pitchFamily="18" charset="0"/>
                <a:cs typeface="Times New Roman" pitchFamily="18" charset="0"/>
              </a:rPr>
              <a:t>	</a:t>
            </a:r>
            <a:r>
              <a:rPr kumimoji="0" lang="en-US" sz="2400" b="0" i="0" u="none" strike="noStrike" kern="1200" cap="none" spc="0" normalizeH="0" noProof="0" dirty="0" smtClean="0">
                <a:ln>
                  <a:noFill/>
                </a:ln>
                <a:effectLst/>
                <a:uLnTx/>
                <a:uFillTx/>
                <a:latin typeface="Times New Roman" pitchFamily="18" charset="0"/>
                <a:cs typeface="Times New Roman" pitchFamily="18" charset="0"/>
              </a:rPr>
              <a:t>Three address instruction</a:t>
            </a:r>
          </a:p>
          <a:p>
            <a:pPr marL="274320" lvl="0" indent="-274320" algn="just">
              <a:spcBef>
                <a:spcPct val="15000"/>
              </a:spcBef>
              <a:buSzPct val="95000"/>
            </a:pPr>
            <a:r>
              <a:rPr lang="en-US" sz="2400" baseline="0" dirty="0" smtClean="0">
                <a:latin typeface="Times New Roman" pitchFamily="18" charset="0"/>
                <a:cs typeface="Times New Roman" pitchFamily="18" charset="0"/>
              </a:rPr>
              <a:t>		</a:t>
            </a:r>
            <a:r>
              <a:rPr lang="en-US" sz="2400" baseline="0" dirty="0" smtClean="0">
                <a:solidFill>
                  <a:srgbClr val="C00000"/>
                </a:solidFill>
                <a:latin typeface="Times New Roman" pitchFamily="18" charset="0"/>
                <a:cs typeface="Times New Roman" pitchFamily="18" charset="0"/>
              </a:rPr>
              <a:t>Add destination,</a:t>
            </a:r>
            <a:r>
              <a:rPr lang="en-US" sz="2400" dirty="0" smtClean="0">
                <a:solidFill>
                  <a:srgbClr val="C00000"/>
                </a:solidFill>
                <a:latin typeface="Times New Roman" pitchFamily="18" charset="0"/>
                <a:cs typeface="Times New Roman" pitchFamily="18" charset="0"/>
              </a:rPr>
              <a:t> source1,source2</a:t>
            </a:r>
          </a:p>
          <a:p>
            <a:pPr lvl="0" algn="just">
              <a:spcBef>
                <a:spcPct val="15000"/>
              </a:spcBef>
              <a:buSzPct val="95000"/>
            </a:pPr>
            <a:r>
              <a:rPr lang="en-US" sz="2400" dirty="0">
                <a:latin typeface="Times New Roman" pitchFamily="18" charset="0"/>
                <a:cs typeface="Times New Roman" pitchFamily="18" charset="0"/>
              </a:rPr>
              <a:t>	</a:t>
            </a:r>
            <a:r>
              <a:rPr kumimoji="0" lang="en-US" sz="2400" b="0" i="0" u="none" strike="noStrike" kern="1200" cap="none" spc="0" normalizeH="0" baseline="0" noProof="0" dirty="0" smtClean="0">
                <a:ln>
                  <a:noFill/>
                </a:ln>
                <a:solidFill>
                  <a:srgbClr val="C00000"/>
                </a:solidFill>
                <a:effectLst/>
                <a:uLnTx/>
                <a:uFillTx/>
                <a:latin typeface="Times New Roman" pitchFamily="18" charset="0"/>
                <a:cs typeface="Times New Roman" pitchFamily="18" charset="0"/>
              </a:rPr>
              <a:t>Store source, destination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wipe(left)">
                                      <p:cBhvr>
                                        <p:cTn id="11" dur="500"/>
                                        <p:tgtEl>
                                          <p:spTgt spid="3">
                                            <p:txEl>
                                              <p:pRg st="3" end="3"/>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wipe(left)">
                                      <p:cBhvr>
                                        <p:cTn id="15" dur="500"/>
                                        <p:tgtEl>
                                          <p:spTgt spid="3">
                                            <p:txEl>
                                              <p:pRg st="0" end="0"/>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wipe(left)">
                                      <p:cBhvr>
                                        <p:cTn id="19" dur="500"/>
                                        <p:tgtEl>
                                          <p:spTgt spid="3">
                                            <p:txEl>
                                              <p:pRg st="1" end="1"/>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wipe(left)">
                                      <p:cBhvr>
                                        <p:cTn id="35" dur="500"/>
                                        <p:tgtEl>
                                          <p:spTgt spid="3">
                                            <p:txEl>
                                              <p:pRg st="7" end="7"/>
                                            </p:txEl>
                                          </p:spTgt>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wipe(left)">
                                      <p:cBhvr>
                                        <p:cTn id="39" dur="500"/>
                                        <p:tgtEl>
                                          <p:spTgt spid="3">
                                            <p:txEl>
                                              <p:pRg st="8" end="8"/>
                                            </p:txEl>
                                          </p:spTgt>
                                        </p:tgtEl>
                                      </p:cBhvr>
                                    </p:animEffect>
                                  </p:childTnLst>
                                </p:cTn>
                              </p:par>
                            </p:childTnLst>
                          </p:cTn>
                        </p:par>
                        <p:par>
                          <p:cTn id="40" fill="hold">
                            <p:stCondLst>
                              <p:cond delay="4500"/>
                            </p:stCondLst>
                            <p:childTnLst>
                              <p:par>
                                <p:cTn id="41" presetID="22" presetClass="entr" presetSubtype="8" fill="hold" nodeType="after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wipe(left)">
                                      <p:cBhvr>
                                        <p:cTn id="43" dur="500"/>
                                        <p:tgtEl>
                                          <p:spTgt spid="3">
                                            <p:txEl>
                                              <p:pRg st="9" end="9"/>
                                            </p:txEl>
                                          </p:spTgt>
                                        </p:tgtEl>
                                      </p:cBhvr>
                                    </p:animEffect>
                                  </p:childTnLst>
                                </p:cTn>
                              </p:par>
                            </p:childTnLst>
                          </p:cTn>
                        </p:par>
                        <p:par>
                          <p:cTn id="44" fill="hold">
                            <p:stCondLst>
                              <p:cond delay="5000"/>
                            </p:stCondLst>
                            <p:childTnLst>
                              <p:par>
                                <p:cTn id="45" presetID="22" presetClass="entr" presetSubtype="8" fill="hold" nodeType="after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wipe(left)">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942" y="980728"/>
            <a:ext cx="8610600" cy="2733056"/>
          </a:xfrm>
          <a:prstGeom prst="rect">
            <a:avLst/>
          </a:prstGeom>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Note that we can accomplish the desired addition by using only two registers, R2 </a:t>
            </a:r>
            <a:r>
              <a:rPr lang="en-US" sz="2400" dirty="0" smtClean="0">
                <a:latin typeface="Times New Roman" panose="02020603050405020304" pitchFamily="18" charset="0"/>
                <a:cs typeface="Times New Roman" panose="02020603050405020304" pitchFamily="18" charset="0"/>
              </a:rPr>
              <a:t>and R3.</a:t>
            </a:r>
          </a:p>
          <a:p>
            <a:pPr marL="342900"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this </a:t>
            </a:r>
            <a:r>
              <a:rPr lang="en-US" sz="2400" dirty="0" smtClean="0">
                <a:latin typeface="Times New Roman" panose="02020603050405020304" pitchFamily="18" charset="0"/>
                <a:cs typeface="Times New Roman" panose="02020603050405020304" pitchFamily="18" charset="0"/>
              </a:rPr>
              <a:t>case the </a:t>
            </a:r>
            <a:r>
              <a:rPr lang="en-US" sz="2400" dirty="0">
                <a:latin typeface="Times New Roman" panose="02020603050405020304" pitchFamily="18" charset="0"/>
                <a:cs typeface="Times New Roman" panose="02020603050405020304" pitchFamily="18" charset="0"/>
              </a:rPr>
              <a:t>addition would be performed </a:t>
            </a:r>
            <a:r>
              <a:rPr lang="en-US" sz="2400" dirty="0" smtClean="0">
                <a:latin typeface="Times New Roman" panose="02020603050405020304" pitchFamily="18" charset="0"/>
                <a:cs typeface="Times New Roman" panose="02020603050405020304" pitchFamily="18" charset="0"/>
              </a:rPr>
              <a:t>as</a:t>
            </a:r>
          </a:p>
          <a:p>
            <a:pPr lvl="0"/>
            <a:r>
              <a:rPr lang="en-US" sz="2400" dirty="0" smtClean="0">
                <a:latin typeface="Times New Roman" panose="02020603050405020304" pitchFamily="18" charset="0"/>
                <a:cs typeface="Times New Roman" panose="02020603050405020304" pitchFamily="18" charset="0"/>
              </a:rPr>
              <a:t>	</a:t>
            </a:r>
            <a:r>
              <a:rPr lang="en-US" sz="2400" dirty="0" smtClean="0">
                <a:solidFill>
                  <a:srgbClr val="C00000"/>
                </a:solidFill>
                <a:latin typeface="Times New Roman" panose="02020603050405020304" pitchFamily="18" charset="0"/>
                <a:cs typeface="Times New Roman" panose="02020603050405020304" pitchFamily="18" charset="0"/>
              </a:rPr>
              <a:t>Add </a:t>
            </a:r>
            <a:r>
              <a:rPr lang="en-US" sz="2400" dirty="0">
                <a:solidFill>
                  <a:srgbClr val="C00000"/>
                </a:solidFill>
                <a:latin typeface="Times New Roman" panose="02020603050405020304" pitchFamily="18" charset="0"/>
                <a:cs typeface="Times New Roman" panose="02020603050405020304" pitchFamily="18" charset="0"/>
              </a:rPr>
              <a:t>R3,R2,R3</a:t>
            </a:r>
          </a:p>
          <a:p>
            <a:r>
              <a:rPr lang="en-US" sz="2400" dirty="0">
                <a:latin typeface="Times New Roman" panose="02020603050405020304" pitchFamily="18" charset="0"/>
                <a:cs typeface="Times New Roman" panose="02020603050405020304" pitchFamily="18" charset="0"/>
              </a:rPr>
              <a:t>and the last instruction would </a:t>
            </a:r>
            <a:r>
              <a:rPr lang="en-US" sz="2400" dirty="0" smtClean="0">
                <a:latin typeface="Times New Roman" panose="02020603050405020304" pitchFamily="18" charset="0"/>
                <a:cs typeface="Times New Roman" panose="02020603050405020304" pitchFamily="18" charset="0"/>
              </a:rPr>
              <a:t>become</a:t>
            </a:r>
          </a:p>
          <a:p>
            <a:pPr lvl="0"/>
            <a:r>
              <a:rPr lang="en-US" sz="2400" dirty="0" smtClean="0">
                <a:latin typeface="Times New Roman" panose="02020603050405020304" pitchFamily="18" charset="0"/>
                <a:cs typeface="Times New Roman" panose="02020603050405020304" pitchFamily="18" charset="0"/>
              </a:rPr>
              <a:t>	</a:t>
            </a:r>
            <a:r>
              <a:rPr lang="en-US" sz="2400" dirty="0" smtClean="0">
                <a:solidFill>
                  <a:srgbClr val="C00000"/>
                </a:solidFill>
                <a:latin typeface="Times New Roman" panose="02020603050405020304" pitchFamily="18" charset="0"/>
                <a:cs typeface="Times New Roman" panose="02020603050405020304" pitchFamily="18" charset="0"/>
              </a:rPr>
              <a:t>Store </a:t>
            </a:r>
            <a:r>
              <a:rPr lang="en-US" sz="2400" dirty="0">
                <a:solidFill>
                  <a:srgbClr val="C00000"/>
                </a:solidFill>
                <a:latin typeface="Times New Roman" panose="02020603050405020304" pitchFamily="18" charset="0"/>
                <a:cs typeface="Times New Roman" panose="02020603050405020304" pitchFamily="18" charset="0"/>
              </a:rPr>
              <a:t>R3,C</a:t>
            </a:r>
          </a:p>
          <a:p>
            <a:endParaRPr lang="en-US" sz="2400" dirty="0">
              <a:latin typeface="Times New Roman" panose="02020603050405020304" pitchFamily="18" charset="0"/>
              <a:cs typeface="Times New Roman" panose="02020603050405020304" pitchFamily="18" charset="0"/>
            </a:endParaRPr>
          </a:p>
        </p:txBody>
      </p:sp>
      <p:sp>
        <p:nvSpPr>
          <p:cNvPr id="3" name="Title 1"/>
          <p:cNvSpPr txBox="1">
            <a:spLocks/>
          </p:cNvSpPr>
          <p:nvPr/>
        </p:nvSpPr>
        <p:spPr>
          <a:xfrm>
            <a:off x="286942" y="260648"/>
            <a:ext cx="8610600" cy="838200"/>
          </a:xfrm>
          <a:prstGeom prst="rect">
            <a:avLst/>
          </a:prstGeom>
        </p:spPr>
        <p:txBody>
          <a:bodyPr>
            <a:normAutofit fontScale="675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5400" b="0" i="0" u="none" strike="noStrike" kern="1200" cap="none" spc="0" normalizeH="0" baseline="0" noProof="0" dirty="0" smtClean="0">
                <a:ln>
                  <a:noFill/>
                </a:ln>
                <a:solidFill>
                  <a:srgbClr val="C00000"/>
                </a:solidFill>
                <a:effectLst/>
                <a:uLnTx/>
                <a:uFillTx/>
                <a:latin typeface="Times New Roman" panose="02020603050405020304" pitchFamily="18" charset="0"/>
                <a:ea typeface="SimSun" pitchFamily="2" charset="-122"/>
                <a:cs typeface="Times New Roman" panose="02020603050405020304" pitchFamily="18" charset="0"/>
              </a:rPr>
              <a:t>Instruction and Instruction Sequencing cont..</a:t>
            </a:r>
            <a:r>
              <a:rPr kumimoji="0" lang="en-US" altLang="zh-CN" sz="5400" b="0" i="0" u="none" strike="noStrike" kern="1200" cap="none" spc="0" normalizeH="0" noProof="0" dirty="0" smtClean="0">
                <a:ln>
                  <a:noFill/>
                </a:ln>
                <a:solidFill>
                  <a:srgbClr val="C00000"/>
                </a:solidFill>
                <a:effectLst/>
                <a:uLnTx/>
                <a:uFillTx/>
                <a:latin typeface="Times New Roman" panose="02020603050405020304" pitchFamily="18" charset="0"/>
                <a:ea typeface="SimSun" pitchFamily="2" charset="-122"/>
                <a:cs typeface="Times New Roman" panose="02020603050405020304" pitchFamily="18" charset="0"/>
              </a:rPr>
              <a:t> </a:t>
            </a:r>
            <a:endParaRPr kumimoji="0" lang="en-IN" sz="5000" b="0" i="0" u="none" strike="noStrike" kern="1200" cap="none" spc="0" normalizeH="0" baseline="0" noProof="0" dirty="0">
              <a:ln>
                <a:noFill/>
              </a:ln>
              <a:solidFill>
                <a:srgbClr val="C00000"/>
              </a:solidFill>
              <a:effectLst/>
              <a:uLnTx/>
              <a:uFillTx/>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8830243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8229600" cy="838200"/>
          </a:xfrm>
        </p:spPr>
        <p:txBody>
          <a:bodyPr>
            <a:normAutofit/>
          </a:bodyPr>
          <a:lstStyle/>
          <a:p>
            <a:r>
              <a:rPr lang="en-US" altLang="zh-CN" sz="2800" dirty="0">
                <a:solidFill>
                  <a:srgbClr val="C00000"/>
                </a:solidFill>
                <a:latin typeface="Times New Roman" pitchFamily="18" charset="0"/>
                <a:ea typeface="SimSun" pitchFamily="2" charset="-122"/>
                <a:cs typeface="Times New Roman" pitchFamily="18" charset="0"/>
              </a:rPr>
              <a:t>Instruction Execution and Straight-Line Sequencing</a:t>
            </a:r>
            <a:endParaRPr lang="en-IN" sz="2800" dirty="0">
              <a:solidFill>
                <a:srgbClr val="C00000"/>
              </a:solidFill>
            </a:endParaRPr>
          </a:p>
        </p:txBody>
      </p:sp>
      <p:sp>
        <p:nvSpPr>
          <p:cNvPr id="3" name="Content Placeholder 2"/>
          <p:cNvSpPr>
            <a:spLocks noGrp="1"/>
          </p:cNvSpPr>
          <p:nvPr>
            <p:ph idx="1"/>
          </p:nvPr>
        </p:nvSpPr>
        <p:spPr>
          <a:xfrm>
            <a:off x="457200" y="836712"/>
            <a:ext cx="8229600" cy="6021288"/>
          </a:xfrm>
        </p:spPr>
        <p:txBody>
          <a:bodyPr/>
          <a:lstStyle/>
          <a:p>
            <a:r>
              <a:rPr lang="en-US" sz="2000" dirty="0">
                <a:latin typeface="Times New Roman" panose="02020603050405020304" pitchFamily="18" charset="0"/>
                <a:cs typeface="Times New Roman" panose="02020603050405020304" pitchFamily="18" charset="0"/>
              </a:rPr>
              <a:t>We assume that the word length is 32 bits and the memory </a:t>
            </a:r>
            <a:r>
              <a:rPr lang="en-US" sz="2000" dirty="0" smtClean="0">
                <a:latin typeface="Times New Roman" panose="02020603050405020304" pitchFamily="18" charset="0"/>
                <a:cs typeface="Times New Roman" panose="02020603050405020304" pitchFamily="18" charset="0"/>
              </a:rPr>
              <a:t>is byte-addressable</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four instructions of the program are in successive word locations</a:t>
            </a:r>
            <a:r>
              <a:rPr lang="en-US" sz="2000" dirty="0" smtClean="0">
                <a:latin typeface="Times New Roman" panose="02020603050405020304" pitchFamily="18" charset="0"/>
                <a:cs typeface="Times New Roman" panose="02020603050405020304" pitchFamily="18" charset="0"/>
              </a:rPr>
              <a:t>, starting </a:t>
            </a:r>
            <a:r>
              <a:rPr lang="en-US" sz="2000" dirty="0">
                <a:latin typeface="Times New Roman" panose="02020603050405020304" pitchFamily="18" charset="0"/>
                <a:cs typeface="Times New Roman" panose="02020603050405020304" pitchFamily="18" charset="0"/>
              </a:rPr>
              <a:t>at location </a:t>
            </a:r>
            <a:r>
              <a:rPr lang="en-US" sz="2000" i="1"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Since </a:t>
            </a:r>
            <a:r>
              <a:rPr lang="en-US" sz="2000" dirty="0">
                <a:latin typeface="Times New Roman" panose="02020603050405020304" pitchFamily="18" charset="0"/>
                <a:cs typeface="Times New Roman" panose="02020603050405020304" pitchFamily="18" charset="0"/>
              </a:rPr>
              <a:t>each instruction is 4 bytes long, the second, third, and </a:t>
            </a:r>
            <a:r>
              <a:rPr lang="en-US" sz="2000" dirty="0" smtClean="0">
                <a:latin typeface="Times New Roman" panose="02020603050405020304" pitchFamily="18" charset="0"/>
                <a:cs typeface="Times New Roman" panose="02020603050405020304" pitchFamily="18" charset="0"/>
              </a:rPr>
              <a:t>fourth instructions </a:t>
            </a:r>
            <a:r>
              <a:rPr lang="en-US" sz="2000" dirty="0">
                <a:latin typeface="Times New Roman" panose="02020603050405020304" pitchFamily="18" charset="0"/>
                <a:cs typeface="Times New Roman" panose="02020603050405020304" pitchFamily="18" charset="0"/>
              </a:rPr>
              <a:t>are at addresses </a:t>
            </a:r>
            <a:r>
              <a:rPr lang="en-US" sz="2000" i="1" dirty="0" err="1">
                <a:latin typeface="Times New Roman" panose="02020603050405020304" pitchFamily="18" charset="0"/>
                <a:cs typeface="Times New Roman" panose="02020603050405020304" pitchFamily="18" charset="0"/>
              </a:rPr>
              <a:t>i</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+ 4, </a:t>
            </a:r>
            <a:r>
              <a:rPr lang="en-US" sz="2000" i="1" dirty="0" err="1">
                <a:latin typeface="Times New Roman" panose="02020603050405020304" pitchFamily="18" charset="0"/>
                <a:cs typeface="Times New Roman" panose="02020603050405020304" pitchFamily="18" charset="0"/>
              </a:rPr>
              <a:t>i</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+ 8, and </a:t>
            </a:r>
            <a:r>
              <a:rPr lang="en-US" sz="2000" i="1" dirty="0" err="1">
                <a:latin typeface="Times New Roman" panose="02020603050405020304" pitchFamily="18" charset="0"/>
                <a:cs typeface="Times New Roman" panose="02020603050405020304" pitchFamily="18" charset="0"/>
              </a:rPr>
              <a:t>i</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+ 12</a:t>
            </a:r>
            <a:endParaRPr lang="en-US" altLang="zh-CN" sz="2000" dirty="0">
              <a:solidFill>
                <a:srgbClr val="7030A0"/>
              </a:solidFill>
              <a:latin typeface="Times New Roman" pitchFamily="18" charset="0"/>
              <a:ea typeface="SimSun" pitchFamily="2" charset="-122"/>
              <a:cs typeface="Times New Roman" pitchFamily="18" charset="0"/>
            </a:endParaRP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2996952"/>
            <a:ext cx="5544616" cy="3689490"/>
          </a:xfrm>
          <a:prstGeom prst="rect">
            <a:avLst/>
          </a:prstGeom>
        </p:spPr>
      </p:pic>
    </p:spTree>
    <p:extLst>
      <p:ext uri="{BB962C8B-B14F-4D97-AF65-F5344CB8AC3E}">
        <p14:creationId xmlns:p14="http://schemas.microsoft.com/office/powerpoint/2010/main" val="259504966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16632"/>
            <a:ext cx="8229600" cy="6552728"/>
          </a:xfrm>
        </p:spPr>
        <p:txBody>
          <a:bodyPr>
            <a:normAutofit fontScale="92500" lnSpcReduction="10000"/>
          </a:bodyPr>
          <a:lstStyle/>
          <a:p>
            <a:pPr>
              <a:buFont typeface="Wingdings" pitchFamily="2" charset="2"/>
              <a:buNone/>
              <a:defRPr/>
            </a:pPr>
            <a:r>
              <a:rPr lang="en-US" sz="2400" dirty="0" smtClean="0">
                <a:solidFill>
                  <a:srgbClr val="C00000"/>
                </a:solidFill>
                <a:latin typeface="Times New Roman" pitchFamily="18" charset="0"/>
                <a:cs typeface="Times New Roman" pitchFamily="18" charset="0"/>
              </a:rPr>
              <a:t>Program execution</a:t>
            </a:r>
          </a:p>
          <a:p>
            <a:pPr marL="514350" indent="-514350">
              <a:buFont typeface="+mj-lt"/>
              <a:buAutoNum type="arabicPeriod"/>
              <a:defRPr/>
            </a:pPr>
            <a:r>
              <a:rPr lang="en-US" sz="2200" dirty="0" smtClean="0">
                <a:latin typeface="Times New Roman" pitchFamily="18" charset="0"/>
                <a:cs typeface="Times New Roman" pitchFamily="18" charset="0"/>
              </a:rPr>
              <a:t>The address of the first instruction is placed in PC</a:t>
            </a:r>
          </a:p>
          <a:p>
            <a:pPr marL="514350" indent="-514350">
              <a:buFont typeface="+mj-lt"/>
              <a:buAutoNum type="arabicPeriod"/>
              <a:defRPr/>
            </a:pPr>
            <a:r>
              <a:rPr lang="en-US" sz="2200" dirty="0" smtClean="0">
                <a:latin typeface="Times New Roman" pitchFamily="18" charset="0"/>
                <a:cs typeface="Times New Roman" pitchFamily="18" charset="0"/>
              </a:rPr>
              <a:t>The processor control circuits use the information in the PC to fetch &amp; execute instructions at a time, in the order of increasing address. This is called </a:t>
            </a:r>
            <a:r>
              <a:rPr lang="en-US" sz="2200" b="1" dirty="0" smtClean="0">
                <a:latin typeface="Times New Roman" pitchFamily="18" charset="0"/>
                <a:cs typeface="Times New Roman" pitchFamily="18" charset="0"/>
              </a:rPr>
              <a:t>straight-line sequencing</a:t>
            </a:r>
            <a:r>
              <a:rPr lang="en-US" sz="2200" dirty="0" smtClean="0">
                <a:latin typeface="Times New Roman" pitchFamily="18" charset="0"/>
                <a:cs typeface="Times New Roman" pitchFamily="18" charset="0"/>
              </a:rPr>
              <a:t>, during the execution of each instruction  PC is incremented.</a:t>
            </a:r>
          </a:p>
          <a:p>
            <a:pPr marL="514350" indent="-514350">
              <a:buFont typeface="+mj-lt"/>
              <a:buAutoNum type="arabicPeriod"/>
              <a:defRPr/>
            </a:pPr>
            <a:r>
              <a:rPr lang="en-US" sz="2200" dirty="0" smtClean="0">
                <a:latin typeface="Times New Roman" pitchFamily="18" charset="0"/>
                <a:cs typeface="Times New Roman" pitchFamily="18" charset="0"/>
              </a:rPr>
              <a:t>After the i+12 instruction is executed PC </a:t>
            </a:r>
            <a:r>
              <a:rPr lang="en-US" sz="2200" dirty="0" smtClean="0">
                <a:latin typeface="Times New Roman" pitchFamily="18" charset="0"/>
                <a:cs typeface="Times New Roman" pitchFamily="18" charset="0"/>
                <a:sym typeface="Wingdings" pitchFamily="2" charset="2"/>
              </a:rPr>
              <a:t>i+16</a:t>
            </a:r>
          </a:p>
          <a:p>
            <a:pPr marL="514350" indent="-514350">
              <a:buFont typeface="Wingdings" pitchFamily="2" charset="2"/>
              <a:buNone/>
              <a:defRPr/>
            </a:pPr>
            <a:endParaRPr lang="en-US" sz="2000" dirty="0" smtClean="0">
              <a:solidFill>
                <a:srgbClr val="C00000"/>
              </a:solidFill>
              <a:latin typeface="Times New Roman" pitchFamily="18" charset="0"/>
              <a:cs typeface="Times New Roman" pitchFamily="18" charset="0"/>
              <a:sym typeface="Wingdings" pitchFamily="2" charset="2"/>
            </a:endParaRPr>
          </a:p>
          <a:p>
            <a:pPr marL="514350" indent="-514350">
              <a:buFont typeface="Wingdings" pitchFamily="2" charset="2"/>
              <a:buNone/>
              <a:defRPr/>
            </a:pPr>
            <a:r>
              <a:rPr lang="en-US" sz="2400" dirty="0" smtClean="0">
                <a:solidFill>
                  <a:srgbClr val="C00000"/>
                </a:solidFill>
                <a:latin typeface="Times New Roman" pitchFamily="18" charset="0"/>
                <a:cs typeface="Times New Roman" pitchFamily="18" charset="0"/>
                <a:sym typeface="Wingdings" pitchFamily="2" charset="2"/>
              </a:rPr>
              <a:t>2-phase procedure for execution</a:t>
            </a:r>
          </a:p>
          <a:p>
            <a:pPr marL="514350" indent="-514350">
              <a:buFont typeface="+mj-lt"/>
              <a:buAutoNum type="arabicPeriod"/>
              <a:defRPr/>
            </a:pPr>
            <a:r>
              <a:rPr lang="en-US" sz="2200" b="1" dirty="0" smtClean="0">
                <a:latin typeface="Times New Roman" pitchFamily="18" charset="0"/>
                <a:cs typeface="Times New Roman" pitchFamily="18" charset="0"/>
                <a:sym typeface="Wingdings" pitchFamily="2" charset="2"/>
              </a:rPr>
              <a:t>Instruction fetch: </a:t>
            </a:r>
            <a:r>
              <a:rPr lang="en-US" sz="2200" dirty="0" smtClean="0">
                <a:latin typeface="Times New Roman" pitchFamily="18" charset="0"/>
                <a:cs typeface="Times New Roman" pitchFamily="18" charset="0"/>
                <a:sym typeface="Wingdings" pitchFamily="2" charset="2"/>
              </a:rPr>
              <a:t>The instruction is fetched from the memory location whose address is in PC. This instruction is placed in IR.</a:t>
            </a:r>
          </a:p>
          <a:p>
            <a:pPr marL="514350" indent="-514350">
              <a:buFont typeface="+mj-lt"/>
              <a:buAutoNum type="arabicPeriod"/>
              <a:defRPr/>
            </a:pPr>
            <a:r>
              <a:rPr lang="en-US" sz="2200" b="1" dirty="0" smtClean="0">
                <a:latin typeface="Times New Roman" pitchFamily="18" charset="0"/>
                <a:cs typeface="Times New Roman" pitchFamily="18" charset="0"/>
                <a:sym typeface="Wingdings" pitchFamily="2" charset="2"/>
              </a:rPr>
              <a:t>Instruction execute: </a:t>
            </a:r>
            <a:r>
              <a:rPr lang="en-US" sz="2200" dirty="0" smtClean="0">
                <a:latin typeface="Times New Roman" pitchFamily="18" charset="0"/>
                <a:cs typeface="Times New Roman" pitchFamily="18" charset="0"/>
                <a:sym typeface="Wingdings" pitchFamily="2" charset="2"/>
              </a:rPr>
              <a:t>The instruction in IR is examined to determine which operation is to be performed. The specified operation is then performed by the </a:t>
            </a:r>
            <a:r>
              <a:rPr lang="en-US" sz="2200" dirty="0" err="1" smtClean="0">
                <a:latin typeface="Times New Roman" pitchFamily="18" charset="0"/>
                <a:cs typeface="Times New Roman" pitchFamily="18" charset="0"/>
                <a:sym typeface="Wingdings" pitchFamily="2" charset="2"/>
              </a:rPr>
              <a:t>processor.</a:t>
            </a:r>
            <a:r>
              <a:rPr lang="en-US" sz="2000" dirty="0" err="1" smtClean="0">
                <a:latin typeface="Times New Roman" pitchFamily="18" charset="0"/>
                <a:cs typeface="Times New Roman" pitchFamily="18" charset="0"/>
              </a:rPr>
              <a:t>At</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some point the contents of PC is incremented.</a:t>
            </a:r>
          </a:p>
          <a:p>
            <a:pPr marL="0" indent="0">
              <a:buNone/>
            </a:pPr>
            <a:r>
              <a:rPr lang="en-US" sz="2000" dirty="0">
                <a:latin typeface="Times New Roman" pitchFamily="18" charset="0"/>
                <a:cs typeface="Times New Roman" pitchFamily="18" charset="0"/>
              </a:rPr>
              <a:t>In most computers the execute phase is itself divided into small number of distinct phases.</a:t>
            </a:r>
          </a:p>
          <a:p>
            <a:pPr marL="571500" indent="-571500" algn="just">
              <a:buFont typeface="Verdana" pitchFamily="34" charset="0"/>
              <a:buAutoNum type="romanLcPeriod"/>
            </a:pPr>
            <a:r>
              <a:rPr lang="en-US" sz="2000" dirty="0">
                <a:latin typeface="Times New Roman" pitchFamily="18" charset="0"/>
                <a:cs typeface="Times New Roman" pitchFamily="18" charset="0"/>
              </a:rPr>
              <a:t>Fetch operands from the memory or from processor registers.</a:t>
            </a:r>
          </a:p>
          <a:p>
            <a:pPr marL="571500" indent="-571500" algn="just">
              <a:buFont typeface="Verdana" pitchFamily="34" charset="0"/>
              <a:buAutoNum type="romanLcPeriod"/>
            </a:pPr>
            <a:r>
              <a:rPr lang="en-US" sz="2000" dirty="0">
                <a:latin typeface="Times New Roman" pitchFamily="18" charset="0"/>
                <a:cs typeface="Times New Roman" pitchFamily="18" charset="0"/>
              </a:rPr>
              <a:t>Performing ALU operations.</a:t>
            </a:r>
          </a:p>
          <a:p>
            <a:pPr marL="571500" indent="-571500" algn="just">
              <a:buFont typeface="Verdana" pitchFamily="34" charset="0"/>
              <a:buAutoNum type="romanLcPeriod"/>
            </a:pPr>
            <a:r>
              <a:rPr lang="en-US" sz="2000" dirty="0">
                <a:latin typeface="Times New Roman" pitchFamily="18" charset="0"/>
                <a:cs typeface="Times New Roman" pitchFamily="18" charset="0"/>
              </a:rPr>
              <a:t>Storing the result in the destination location.</a:t>
            </a:r>
          </a:p>
          <a:p>
            <a:pPr marL="514350" indent="-514350">
              <a:buFont typeface="+mj-lt"/>
              <a:buAutoNum type="arabicPeriod"/>
              <a:defRPr/>
            </a:pPr>
            <a:endParaRPr lang="en-US" sz="2200" dirty="0" smtClean="0">
              <a:latin typeface="Times New Roman" pitchFamily="18" charset="0"/>
              <a:cs typeface="Times New Roman" pitchFamily="18" charset="0"/>
              <a:sym typeface="Wingdings" pitchFamily="2" charset="2"/>
            </a:endParaRPr>
          </a:p>
          <a:p>
            <a:pPr marL="514350" indent="-514350">
              <a:buFont typeface="Wingdings" pitchFamily="2" charset="2"/>
              <a:buNone/>
              <a:defRPr/>
            </a:pP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a:bodyPr>
          <a:lstStyle/>
          <a:p>
            <a:r>
              <a:rPr lang="en-IN" sz="2800" b="1" dirty="0" smtClean="0">
                <a:solidFill>
                  <a:srgbClr val="C00000"/>
                </a:solidFill>
                <a:latin typeface="Times New Roman" panose="02020603050405020304" pitchFamily="18" charset="0"/>
                <a:cs typeface="Times New Roman" panose="02020603050405020304" pitchFamily="18" charset="0"/>
              </a:rPr>
              <a:t>Branching</a:t>
            </a:r>
            <a:endParaRPr lang="en-IN" sz="2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6299" y="838200"/>
            <a:ext cx="8229600" cy="4724400"/>
          </a:xfrm>
        </p:spPr>
        <p:txBody>
          <a:bodyPr/>
          <a:lstStyle/>
          <a:p>
            <a:r>
              <a:rPr lang="en-IN" dirty="0" smtClean="0"/>
              <a:t>Adding list of n numbers</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2800" y="1772816"/>
            <a:ext cx="4191000" cy="4399384"/>
          </a:xfrm>
          <a:prstGeom prst="rect">
            <a:avLst/>
          </a:prstGeom>
        </p:spPr>
      </p:pic>
    </p:spTree>
    <p:extLst>
      <p:ext uri="{BB962C8B-B14F-4D97-AF65-F5344CB8AC3E}">
        <p14:creationId xmlns:p14="http://schemas.microsoft.com/office/powerpoint/2010/main" val="199844748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609600"/>
          </a:xfrm>
        </p:spPr>
        <p:txBody>
          <a:bodyPr>
            <a:normAutofit/>
          </a:bodyPr>
          <a:lstStyle/>
          <a:p>
            <a:r>
              <a:rPr lang="en-IN" sz="2800" dirty="0" smtClean="0">
                <a:solidFill>
                  <a:srgbClr val="C00000"/>
                </a:solidFill>
                <a:latin typeface="Times New Roman" panose="02020603050405020304" pitchFamily="18" charset="0"/>
                <a:cs typeface="Times New Roman" panose="02020603050405020304" pitchFamily="18" charset="0"/>
              </a:rPr>
              <a:t>Branching</a:t>
            </a:r>
            <a:endParaRPr lang="en-IN" sz="2800" dirty="0">
              <a:solidFill>
                <a:srgbClr val="C0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1143000"/>
            <a:ext cx="5486400" cy="4876800"/>
          </a:xfrm>
        </p:spPr>
      </p:pic>
    </p:spTree>
    <p:extLst>
      <p:ext uri="{BB962C8B-B14F-4D97-AF65-F5344CB8AC3E}">
        <p14:creationId xmlns:p14="http://schemas.microsoft.com/office/powerpoint/2010/main" val="33571801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altLang="zh-CN" b="1" dirty="0" smtClean="0">
                <a:ea typeface="SimSun" pitchFamily="2" charset="-122"/>
              </a:rPr>
              <a:t>Branching</a:t>
            </a:r>
            <a:endParaRPr lang="en-US" dirty="0" smtClean="0"/>
          </a:p>
        </p:txBody>
      </p:sp>
      <p:sp>
        <p:nvSpPr>
          <p:cNvPr id="87043" name="Content Placeholder 2"/>
          <p:cNvSpPr>
            <a:spLocks noGrp="1"/>
          </p:cNvSpPr>
          <p:nvPr>
            <p:ph idx="1"/>
          </p:nvPr>
        </p:nvSpPr>
        <p:spPr/>
        <p:txBody>
          <a:bodyPr/>
          <a:lstStyle/>
          <a:p>
            <a:r>
              <a:rPr lang="en-US" sz="2400" dirty="0" smtClean="0">
                <a:latin typeface="Times New Roman" pitchFamily="18" charset="0"/>
                <a:cs typeface="Times New Roman" pitchFamily="18" charset="0"/>
              </a:rPr>
              <a:t>The </a:t>
            </a:r>
            <a:r>
              <a:rPr lang="en-US" sz="2400" b="1" dirty="0" smtClean="0">
                <a:solidFill>
                  <a:srgbClr val="0070C0"/>
                </a:solidFill>
                <a:latin typeface="Times New Roman" pitchFamily="18" charset="0"/>
                <a:cs typeface="Times New Roman" pitchFamily="18" charset="0"/>
              </a:rPr>
              <a:t>loop</a:t>
            </a:r>
            <a:r>
              <a:rPr lang="en-US" sz="2400" dirty="0" smtClean="0">
                <a:latin typeface="Times New Roman" pitchFamily="18" charset="0"/>
                <a:cs typeface="Times New Roman" pitchFamily="18" charset="0"/>
              </a:rPr>
              <a:t> is a straight line sequence of instruction </a:t>
            </a:r>
            <a:r>
              <a:rPr lang="en-US" sz="2400" dirty="0" smtClean="0">
                <a:solidFill>
                  <a:srgbClr val="0070C0"/>
                </a:solidFill>
                <a:latin typeface="Times New Roman" pitchFamily="18" charset="0"/>
                <a:cs typeface="Times New Roman" pitchFamily="18" charset="0"/>
              </a:rPr>
              <a:t>executed as many times as needed.</a:t>
            </a:r>
          </a:p>
          <a:p>
            <a:r>
              <a:rPr lang="en-US" sz="2400" dirty="0" smtClean="0">
                <a:latin typeface="Times New Roman" pitchFamily="18" charset="0"/>
                <a:cs typeface="Times New Roman" pitchFamily="18" charset="0"/>
              </a:rPr>
              <a:t>Branch instruction loads a new value into the program counter.</a:t>
            </a:r>
          </a:p>
          <a:p>
            <a:r>
              <a:rPr lang="en-US" sz="2400" dirty="0" smtClean="0">
                <a:latin typeface="Times New Roman" pitchFamily="18" charset="0"/>
                <a:cs typeface="Times New Roman" pitchFamily="18" charset="0"/>
              </a:rPr>
              <a:t>The processor fetches and executes the instruction at this new  address called the </a:t>
            </a:r>
            <a:r>
              <a:rPr lang="en-US" sz="2400" dirty="0" smtClean="0">
                <a:solidFill>
                  <a:srgbClr val="0070C0"/>
                </a:solidFill>
                <a:latin typeface="Times New Roman" pitchFamily="18" charset="0"/>
                <a:cs typeface="Times New Roman" pitchFamily="18" charset="0"/>
              </a:rPr>
              <a:t>branch target</a:t>
            </a:r>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The </a:t>
            </a:r>
            <a:r>
              <a:rPr lang="en-US" sz="2400" dirty="0" smtClean="0">
                <a:solidFill>
                  <a:srgbClr val="0070C0"/>
                </a:solidFill>
                <a:latin typeface="Times New Roman" pitchFamily="18" charset="0"/>
                <a:cs typeface="Times New Roman" pitchFamily="18" charset="0"/>
              </a:rPr>
              <a:t>conditional branch instruction </a:t>
            </a:r>
            <a:r>
              <a:rPr lang="en-US" sz="2400" dirty="0" smtClean="0">
                <a:latin typeface="Times New Roman" pitchFamily="18" charset="0"/>
                <a:cs typeface="Times New Roman" pitchFamily="18" charset="0"/>
              </a:rPr>
              <a:t>causes a branch only if it is specified condition is reached.</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334"/>
            <a:ext cx="8229600" cy="514066"/>
          </a:xfrm>
        </p:spPr>
        <p:txBody>
          <a:bodyPr>
            <a:normAutofit/>
          </a:bodyPr>
          <a:lstStyle/>
          <a:p>
            <a:r>
              <a:rPr lang="en-US" altLang="zh-CN" sz="2400" b="1" dirty="0">
                <a:solidFill>
                  <a:srgbClr val="C00000"/>
                </a:solidFill>
                <a:latin typeface="Times New Roman" panose="02020603050405020304" pitchFamily="18" charset="0"/>
                <a:ea typeface="SimSun" pitchFamily="2" charset="-122"/>
                <a:cs typeface="Times New Roman" panose="02020603050405020304" pitchFamily="18" charset="0"/>
              </a:rPr>
              <a:t>Addressing Modes</a:t>
            </a:r>
            <a:endParaRPr lang="en-IN" sz="2400" b="1" dirty="0"/>
          </a:p>
        </p:txBody>
      </p:sp>
      <p:sp>
        <p:nvSpPr>
          <p:cNvPr id="3" name="Content Placeholder 2"/>
          <p:cNvSpPr>
            <a:spLocks noGrp="1"/>
          </p:cNvSpPr>
          <p:nvPr>
            <p:ph idx="1"/>
          </p:nvPr>
        </p:nvSpPr>
        <p:spPr>
          <a:xfrm>
            <a:off x="453788" y="914400"/>
            <a:ext cx="8229600" cy="5826968"/>
          </a:xfrm>
        </p:spPr>
        <p:txBody>
          <a:bodyPr/>
          <a:lstStyle/>
          <a:p>
            <a:pPr algn="just">
              <a:defRPr/>
            </a:pPr>
            <a:r>
              <a:rPr lang="en-US" altLang="zh-CN" sz="2400" dirty="0">
                <a:latin typeface="Times New Roman" pitchFamily="18" charset="0"/>
                <a:ea typeface="SimSun" pitchFamily="2" charset="-122"/>
                <a:cs typeface="Times New Roman" pitchFamily="18" charset="0"/>
              </a:rPr>
              <a:t>The program operates on data that reside in the computer memory</a:t>
            </a:r>
          </a:p>
          <a:p>
            <a:pPr algn="just">
              <a:defRPr/>
            </a:pPr>
            <a:r>
              <a:rPr lang="en-US" altLang="zh-CN" sz="2400" dirty="0">
                <a:latin typeface="Times New Roman" pitchFamily="18" charset="0"/>
                <a:ea typeface="SimSun" pitchFamily="2" charset="-122"/>
                <a:cs typeface="Times New Roman" pitchFamily="18" charset="0"/>
              </a:rPr>
              <a:t>The different ways in which the location of an operand is specified in an instruction are referred as </a:t>
            </a:r>
            <a:r>
              <a:rPr lang="en-US" altLang="zh-CN" sz="2400" b="1" dirty="0">
                <a:latin typeface="Times New Roman" pitchFamily="18" charset="0"/>
                <a:ea typeface="SimSun" pitchFamily="2" charset="-122"/>
                <a:cs typeface="Times New Roman" pitchFamily="18" charset="0"/>
              </a:rPr>
              <a:t>addressing modes</a:t>
            </a:r>
            <a:r>
              <a:rPr lang="en-US" altLang="zh-CN" sz="2400" b="1" dirty="0" smtClean="0">
                <a:latin typeface="Times New Roman" pitchFamily="18" charset="0"/>
                <a:ea typeface="SimSun" pitchFamily="2" charset="-122"/>
                <a:cs typeface="Times New Roman" pitchFamily="18" charset="0"/>
              </a:rPr>
              <a:t>.</a:t>
            </a:r>
          </a:p>
          <a:p>
            <a:pPr marL="0" indent="0" algn="just">
              <a:buNone/>
              <a:defRPr/>
            </a:pPr>
            <a:endParaRPr lang="en-US" altLang="zh-CN" sz="2400" b="1" dirty="0">
              <a:latin typeface="Times New Roman" pitchFamily="18" charset="0"/>
              <a:ea typeface="SimSun" pitchFamily="2" charset="-122"/>
              <a:cs typeface="Times New Roman" pitchFamily="18" charset="0"/>
            </a:endParaRPr>
          </a:p>
          <a:p>
            <a:pPr marL="0" indent="0">
              <a:buNone/>
            </a:pP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2971800"/>
            <a:ext cx="5715000" cy="3697560"/>
          </a:xfrm>
          <a:prstGeom prst="rect">
            <a:avLst/>
          </a:prstGeom>
        </p:spPr>
      </p:pic>
    </p:spTree>
    <p:extLst>
      <p:ext uri="{BB962C8B-B14F-4D97-AF65-F5344CB8AC3E}">
        <p14:creationId xmlns:p14="http://schemas.microsoft.com/office/powerpoint/2010/main" val="47940984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16632"/>
            <a:ext cx="8424936" cy="5324535"/>
          </a:xfrm>
          <a:prstGeom prst="rect">
            <a:avLst/>
          </a:prstGeom>
        </p:spPr>
        <p:txBody>
          <a:bodyPr wrap="square">
            <a:spAutoFit/>
          </a:bodyPr>
          <a:lstStyle/>
          <a:p>
            <a:pPr algn="just">
              <a:defRPr/>
            </a:pPr>
            <a:r>
              <a:rPr lang="en-US" altLang="zh-CN" sz="2000" b="1" dirty="0">
                <a:solidFill>
                  <a:srgbClr val="C00000"/>
                </a:solidFill>
                <a:latin typeface="Times New Roman" pitchFamily="18" charset="0"/>
                <a:ea typeface="SimSun" pitchFamily="2" charset="-122"/>
                <a:cs typeface="Times New Roman" pitchFamily="18" charset="0"/>
              </a:rPr>
              <a:t>Immediate </a:t>
            </a:r>
            <a:r>
              <a:rPr lang="en-US" sz="2000" b="1" dirty="0">
                <a:solidFill>
                  <a:srgbClr val="C00000"/>
                </a:solidFill>
                <a:latin typeface="Times New Roman" pitchFamily="18" charset="0"/>
                <a:cs typeface="Times New Roman" pitchFamily="18" charset="0"/>
              </a:rPr>
              <a:t>Addressing Mode </a:t>
            </a:r>
            <a:r>
              <a:rPr lang="en-US" altLang="zh-CN" sz="2000" dirty="0" smtClean="0">
                <a:solidFill>
                  <a:srgbClr val="C00000"/>
                </a:solidFill>
                <a:latin typeface="Times New Roman" pitchFamily="18" charset="0"/>
                <a:ea typeface="SimSun" pitchFamily="2" charset="-122"/>
                <a:cs typeface="Times New Roman" pitchFamily="18" charset="0"/>
              </a:rPr>
              <a:t>: </a:t>
            </a:r>
          </a:p>
          <a:p>
            <a:pPr marL="285750" indent="-285750" algn="just">
              <a:buFont typeface="Arial" panose="020B0604020202020204" pitchFamily="34" charset="0"/>
              <a:buChar char="•"/>
              <a:defRPr/>
            </a:pPr>
            <a:r>
              <a:rPr lang="en-US" altLang="zh-CN" sz="2000" dirty="0" smtClean="0">
                <a:latin typeface="Times New Roman" pitchFamily="18" charset="0"/>
                <a:ea typeface="SimSun" pitchFamily="2" charset="-122"/>
                <a:cs typeface="Times New Roman" pitchFamily="18" charset="0"/>
              </a:rPr>
              <a:t>The </a:t>
            </a:r>
            <a:r>
              <a:rPr lang="en-US" altLang="zh-CN" sz="2000" dirty="0">
                <a:latin typeface="Times New Roman" pitchFamily="18" charset="0"/>
                <a:ea typeface="SimSun" pitchFamily="2" charset="-122"/>
                <a:cs typeface="Times New Roman" pitchFamily="18" charset="0"/>
              </a:rPr>
              <a:t>operand is given explicitly in the </a:t>
            </a:r>
            <a:r>
              <a:rPr lang="en-US" altLang="zh-CN" sz="2000" dirty="0" smtClean="0">
                <a:latin typeface="Times New Roman" pitchFamily="18" charset="0"/>
                <a:ea typeface="SimSun" pitchFamily="2" charset="-122"/>
                <a:cs typeface="Times New Roman" pitchFamily="18" charset="0"/>
              </a:rPr>
              <a:t>instruction</a:t>
            </a:r>
          </a:p>
          <a:p>
            <a:pPr marL="285750" indent="-285750" algn="just">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 The '#' symbol before </a:t>
            </a:r>
            <a:r>
              <a:rPr lang="en-US" sz="2000" dirty="0" smtClean="0">
                <a:latin typeface="Times New Roman" panose="02020603050405020304" pitchFamily="18" charset="0"/>
                <a:cs typeface="Times New Roman" panose="02020603050405020304" pitchFamily="18" charset="0"/>
              </a:rPr>
              <a:t>constant data </a:t>
            </a:r>
            <a:r>
              <a:rPr lang="en-US" sz="2000" dirty="0">
                <a:latin typeface="Times New Roman" panose="02020603050405020304" pitchFamily="18" charset="0"/>
                <a:cs typeface="Times New Roman" panose="02020603050405020304" pitchFamily="18" charset="0"/>
              </a:rPr>
              <a:t>indicates that the operand is a data </a:t>
            </a:r>
            <a:endParaRPr lang="en-US" sz="20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defRPr/>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operand field contains the actual operand to be used in conjunction with the operation specified in the instruction. </a:t>
            </a:r>
            <a:endParaRPr lang="en-US" sz="20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defRPr/>
            </a:pPr>
            <a:r>
              <a:rPr lang="en-US" sz="2000" dirty="0" smtClean="0">
                <a:latin typeface="Times New Roman" panose="02020603050405020304" pitchFamily="18" charset="0"/>
                <a:cs typeface="Times New Roman" panose="02020603050405020304" pitchFamily="18" charset="0"/>
              </a:rPr>
              <a:t>Immediate-mode </a:t>
            </a:r>
            <a:r>
              <a:rPr lang="en-US" sz="2000" dirty="0">
                <a:latin typeface="Times New Roman" panose="02020603050405020304" pitchFamily="18" charset="0"/>
                <a:cs typeface="Times New Roman" panose="02020603050405020304" pitchFamily="18" charset="0"/>
              </a:rPr>
              <a:t>instructions are useful for initializing registers to a constant value</a:t>
            </a:r>
            <a:endParaRPr lang="en-US" altLang="zh-CN" sz="2000" dirty="0">
              <a:latin typeface="Times New Roman" pitchFamily="18" charset="0"/>
              <a:ea typeface="SimSun" pitchFamily="2" charset="-122"/>
              <a:cs typeface="Times New Roman" pitchFamily="18" charset="0"/>
            </a:endParaRPr>
          </a:p>
          <a:p>
            <a:pPr algn="just">
              <a:defRPr/>
            </a:pPr>
            <a:r>
              <a:rPr lang="en-US" altLang="zh-CN" sz="2000" dirty="0" smtClean="0">
                <a:latin typeface="Times New Roman" pitchFamily="18" charset="0"/>
                <a:ea typeface="SimSun" pitchFamily="2" charset="-122"/>
                <a:cs typeface="Times New Roman" pitchFamily="18" charset="0"/>
              </a:rPr>
              <a:t>	</a:t>
            </a:r>
            <a:r>
              <a:rPr lang="en-US" altLang="zh-CN" sz="2000" dirty="0" err="1" smtClean="0">
                <a:solidFill>
                  <a:srgbClr val="C00000"/>
                </a:solidFill>
                <a:latin typeface="Times New Roman" pitchFamily="18" charset="0"/>
                <a:ea typeface="SimSun" pitchFamily="2" charset="-122"/>
                <a:cs typeface="Times New Roman" pitchFamily="18" charset="0"/>
              </a:rPr>
              <a:t>Eg</a:t>
            </a:r>
            <a:r>
              <a:rPr lang="en-US" altLang="zh-CN" sz="2000" dirty="0" smtClean="0">
                <a:solidFill>
                  <a:srgbClr val="C00000"/>
                </a:solidFill>
                <a:latin typeface="Times New Roman" pitchFamily="18" charset="0"/>
                <a:ea typeface="SimSun" pitchFamily="2" charset="-122"/>
                <a:cs typeface="Times New Roman" pitchFamily="18" charset="0"/>
              </a:rPr>
              <a:t>:  Add </a:t>
            </a:r>
            <a:r>
              <a:rPr lang="en-US" altLang="zh-CN" sz="2000" dirty="0">
                <a:solidFill>
                  <a:srgbClr val="C00000"/>
                </a:solidFill>
                <a:latin typeface="Times New Roman" pitchFamily="18" charset="0"/>
                <a:ea typeface="SimSun" pitchFamily="2" charset="-122"/>
                <a:cs typeface="Times New Roman" pitchFamily="18" charset="0"/>
              </a:rPr>
              <a:t>R4,R6, 200</a:t>
            </a:r>
            <a:r>
              <a:rPr lang="en-US" altLang="zh-CN" sz="2000" baseline="-25000" dirty="0">
                <a:solidFill>
                  <a:srgbClr val="C00000"/>
                </a:solidFill>
                <a:latin typeface="Times New Roman" pitchFamily="18" charset="0"/>
                <a:ea typeface="SimSun" pitchFamily="2" charset="-122"/>
                <a:cs typeface="Times New Roman" pitchFamily="18" charset="0"/>
              </a:rPr>
              <a:t>immediate</a:t>
            </a:r>
          </a:p>
          <a:p>
            <a:pPr algn="just">
              <a:defRPr/>
            </a:pPr>
            <a:r>
              <a:rPr lang="en-US" altLang="zh-CN" sz="2000" dirty="0" smtClean="0">
                <a:solidFill>
                  <a:srgbClr val="C00000"/>
                </a:solidFill>
                <a:latin typeface="Times New Roman" pitchFamily="18" charset="0"/>
                <a:ea typeface="SimSun" pitchFamily="2" charset="-122"/>
                <a:cs typeface="Times New Roman" pitchFamily="18" charset="0"/>
              </a:rPr>
              <a:t>	</a:t>
            </a:r>
            <a:r>
              <a:rPr lang="en-US" altLang="zh-CN" sz="2000" dirty="0">
                <a:solidFill>
                  <a:srgbClr val="C00000"/>
                </a:solidFill>
                <a:latin typeface="Times New Roman" pitchFamily="18" charset="0"/>
                <a:ea typeface="SimSun" pitchFamily="2" charset="-122"/>
                <a:cs typeface="Times New Roman" pitchFamily="18" charset="0"/>
              </a:rPr>
              <a:t> </a:t>
            </a:r>
            <a:r>
              <a:rPr lang="en-US" altLang="zh-CN" sz="2000" dirty="0" smtClean="0">
                <a:solidFill>
                  <a:srgbClr val="C00000"/>
                </a:solidFill>
                <a:latin typeface="Times New Roman" pitchFamily="18" charset="0"/>
                <a:ea typeface="SimSun" pitchFamily="2" charset="-122"/>
                <a:cs typeface="Times New Roman" pitchFamily="18" charset="0"/>
              </a:rPr>
              <a:t>      Add </a:t>
            </a:r>
            <a:r>
              <a:rPr lang="en-US" altLang="zh-CN" sz="2000" dirty="0">
                <a:solidFill>
                  <a:srgbClr val="C00000"/>
                </a:solidFill>
                <a:latin typeface="Times New Roman" pitchFamily="18" charset="0"/>
                <a:ea typeface="SimSun" pitchFamily="2" charset="-122"/>
                <a:cs typeface="Times New Roman" pitchFamily="18" charset="0"/>
              </a:rPr>
              <a:t>R4,R6,#</a:t>
            </a:r>
            <a:r>
              <a:rPr lang="en-US" altLang="zh-CN" sz="2000" dirty="0" smtClean="0">
                <a:solidFill>
                  <a:srgbClr val="C00000"/>
                </a:solidFill>
                <a:latin typeface="Times New Roman" pitchFamily="18" charset="0"/>
                <a:ea typeface="SimSun" pitchFamily="2" charset="-122"/>
                <a:cs typeface="Times New Roman" pitchFamily="18" charset="0"/>
              </a:rPr>
              <a:t>200</a:t>
            </a:r>
          </a:p>
          <a:p>
            <a:pPr algn="just">
              <a:defRPr/>
            </a:pPr>
            <a:r>
              <a:rPr lang="en-US" sz="2000" dirty="0" smtClean="0">
                <a:solidFill>
                  <a:srgbClr val="C00000"/>
                </a:solidFill>
                <a:latin typeface="Times New Roman" panose="02020603050405020304" pitchFamily="18" charset="0"/>
                <a:cs typeface="Times New Roman" panose="02020603050405020304" pitchFamily="18" charset="0"/>
              </a:rPr>
              <a:t>	       Move </a:t>
            </a:r>
            <a:r>
              <a:rPr lang="en-US" sz="2000" dirty="0">
                <a:solidFill>
                  <a:srgbClr val="C00000"/>
                </a:solidFill>
                <a:latin typeface="Times New Roman" panose="02020603050405020304" pitchFamily="18" charset="0"/>
                <a:cs typeface="Times New Roman" panose="02020603050405020304" pitchFamily="18" charset="0"/>
              </a:rPr>
              <a:t>R2, #33</a:t>
            </a:r>
          </a:p>
          <a:p>
            <a:pPr algn="just">
              <a:defRPr/>
            </a:pPr>
            <a:r>
              <a:rPr lang="en-US" sz="2000" dirty="0">
                <a:latin typeface="Times New Roman" panose="02020603050405020304" pitchFamily="18" charset="0"/>
                <a:cs typeface="Times New Roman" panose="02020603050405020304" pitchFamily="18" charset="0"/>
              </a:rPr>
              <a:t> </a:t>
            </a:r>
            <a:r>
              <a:rPr lang="en-US" sz="2000" b="1" dirty="0">
                <a:solidFill>
                  <a:srgbClr val="C00000"/>
                </a:solidFill>
                <a:latin typeface="Times New Roman" panose="02020603050405020304" pitchFamily="18" charset="0"/>
                <a:cs typeface="Times New Roman" panose="02020603050405020304" pitchFamily="18" charset="0"/>
              </a:rPr>
              <a:t>Register Addressing Mode : </a:t>
            </a:r>
            <a:endParaRPr lang="en-US" sz="2000" b="1" dirty="0" smtClean="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defRPr/>
            </a:pP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this mode the operands are in registers that reside within the CPU. </a:t>
            </a:r>
            <a:endParaRPr lang="en-US" sz="20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Instructions are shorter but operands cant be identified by looking at the instruction</a:t>
            </a:r>
            <a:endParaRPr lang="en-US" sz="20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defRPr/>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particular register is selected from a register field in the </a:t>
            </a:r>
            <a:r>
              <a:rPr lang="en-US" sz="2000" dirty="0" smtClean="0">
                <a:latin typeface="Times New Roman" panose="02020603050405020304" pitchFamily="18" charset="0"/>
                <a:cs typeface="Times New Roman" panose="02020603050405020304" pitchFamily="18" charset="0"/>
              </a:rPr>
              <a:t>instruction</a:t>
            </a:r>
          </a:p>
          <a:p>
            <a:pPr algn="just">
              <a:defRPr/>
            </a:pPr>
            <a:r>
              <a:rPr lang="en-US" altLang="zh-CN" sz="2000" dirty="0">
                <a:latin typeface="Times New Roman" pitchFamily="18" charset="0"/>
                <a:ea typeface="SimSun" pitchFamily="2" charset="-122"/>
                <a:cs typeface="Times New Roman" pitchFamily="18" charset="0"/>
              </a:rPr>
              <a:t> </a:t>
            </a:r>
            <a:r>
              <a:rPr lang="en-US" altLang="zh-CN" sz="2000" dirty="0" smtClean="0">
                <a:latin typeface="Times New Roman" pitchFamily="18" charset="0"/>
                <a:ea typeface="SimSun" pitchFamily="2" charset="-122"/>
                <a:cs typeface="Times New Roman" pitchFamily="18" charset="0"/>
              </a:rPr>
              <a:t>	</a:t>
            </a:r>
            <a:r>
              <a:rPr lang="en-US" altLang="zh-CN" sz="2000" dirty="0" err="1">
                <a:solidFill>
                  <a:srgbClr val="C00000"/>
                </a:solidFill>
                <a:latin typeface="Times New Roman" pitchFamily="18" charset="0"/>
                <a:ea typeface="SimSun" pitchFamily="2" charset="-122"/>
                <a:cs typeface="Times New Roman" pitchFamily="18" charset="0"/>
              </a:rPr>
              <a:t>Eg</a:t>
            </a:r>
            <a:r>
              <a:rPr lang="en-US" altLang="zh-CN" sz="2000" dirty="0">
                <a:solidFill>
                  <a:srgbClr val="C00000"/>
                </a:solidFill>
                <a:latin typeface="Times New Roman" pitchFamily="18" charset="0"/>
                <a:ea typeface="SimSun" pitchFamily="2" charset="-122"/>
                <a:cs typeface="Times New Roman" pitchFamily="18" charset="0"/>
              </a:rPr>
              <a:t>: Add R4,R2,R3</a:t>
            </a:r>
          </a:p>
          <a:p>
            <a:pPr algn="just">
              <a:defRPr/>
            </a:pPr>
            <a:endParaRPr lang="en-US" altLang="zh-CN" sz="2000" dirty="0" smtClean="0">
              <a:solidFill>
                <a:srgbClr val="C00000"/>
              </a:solidFill>
              <a:latin typeface="Times New Roman" pitchFamily="18" charset="0"/>
              <a:ea typeface="SimSun" pitchFamily="2" charset="-122"/>
              <a:cs typeface="Times New Roman" pitchFamily="18" charset="0"/>
            </a:endParaRPr>
          </a:p>
        </p:txBody>
      </p:sp>
    </p:spTree>
    <p:extLst>
      <p:ext uri="{BB962C8B-B14F-4D97-AF65-F5344CB8AC3E}">
        <p14:creationId xmlns:p14="http://schemas.microsoft.com/office/powerpoint/2010/main" val="35359320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188640"/>
            <a:ext cx="8640960" cy="3724096"/>
          </a:xfrm>
          <a:prstGeom prst="rect">
            <a:avLst/>
          </a:prstGeom>
        </p:spPr>
        <p:txBody>
          <a:bodyPr wrap="square">
            <a:spAutoFit/>
          </a:bodyPr>
          <a:lstStyle/>
          <a:p>
            <a:pPr algn="just">
              <a:defRPr/>
            </a:pPr>
            <a:r>
              <a:rPr lang="en-US" altLang="zh-CN" sz="2000" b="1" dirty="0">
                <a:solidFill>
                  <a:srgbClr val="C00000"/>
                </a:solidFill>
                <a:latin typeface="Times New Roman" pitchFamily="18" charset="0"/>
                <a:ea typeface="SimSun" pitchFamily="2" charset="-122"/>
                <a:cs typeface="Times New Roman" pitchFamily="18" charset="0"/>
              </a:rPr>
              <a:t>Absolute </a:t>
            </a:r>
            <a:r>
              <a:rPr lang="en-US" sz="2000" b="1" dirty="0">
                <a:solidFill>
                  <a:srgbClr val="C00000"/>
                </a:solidFill>
                <a:latin typeface="Times New Roman" pitchFamily="18" charset="0"/>
                <a:cs typeface="Times New Roman" pitchFamily="18" charset="0"/>
              </a:rPr>
              <a:t>Addressing Mode </a:t>
            </a:r>
            <a:r>
              <a:rPr lang="en-US" altLang="zh-CN" sz="2000" dirty="0">
                <a:solidFill>
                  <a:srgbClr val="C00000"/>
                </a:solidFill>
                <a:latin typeface="Times New Roman" pitchFamily="18" charset="0"/>
                <a:ea typeface="SimSun" pitchFamily="2" charset="-122"/>
                <a:cs typeface="Times New Roman" pitchFamily="18" charset="0"/>
              </a:rPr>
              <a:t>: </a:t>
            </a:r>
          </a:p>
          <a:p>
            <a:pPr marL="285750" indent="-285750" algn="just">
              <a:buFont typeface="Arial" panose="020B0604020202020204" pitchFamily="34" charset="0"/>
              <a:buChar char="•"/>
              <a:defRPr/>
            </a:pPr>
            <a:r>
              <a:rPr lang="en-US" altLang="zh-CN" sz="2000" dirty="0">
                <a:latin typeface="Times New Roman" pitchFamily="18" charset="0"/>
                <a:ea typeface="SimSun" pitchFamily="2" charset="-122"/>
                <a:cs typeface="Times New Roman" pitchFamily="18" charset="0"/>
              </a:rPr>
              <a:t>The operand is in the memory location</a:t>
            </a:r>
          </a:p>
          <a:p>
            <a:pPr marL="285750" indent="-285750" algn="just">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The address field of the instruction contains the effective address of the operand. </a:t>
            </a:r>
          </a:p>
          <a:p>
            <a:pPr marL="285750" indent="-285750" algn="just">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Only one reference to memory is required to fetch the operand. </a:t>
            </a:r>
            <a:endParaRPr lang="en-US" altLang="zh-CN" sz="2000" dirty="0">
              <a:latin typeface="Times New Roman" pitchFamily="18" charset="0"/>
              <a:ea typeface="SimSun" pitchFamily="2" charset="-122"/>
              <a:cs typeface="Times New Roman" pitchFamily="18" charset="0"/>
            </a:endParaRPr>
          </a:p>
          <a:p>
            <a:pPr algn="just">
              <a:defRPr/>
            </a:pPr>
            <a:r>
              <a:rPr lang="en-US" altLang="zh-CN" sz="2000" dirty="0">
                <a:latin typeface="Times New Roman" pitchFamily="18" charset="0"/>
                <a:ea typeface="SimSun" pitchFamily="2" charset="-122"/>
                <a:cs typeface="Times New Roman" pitchFamily="18" charset="0"/>
              </a:rPr>
              <a:t>		</a:t>
            </a:r>
            <a:r>
              <a:rPr lang="en-US" altLang="zh-CN" sz="2000" dirty="0" err="1">
                <a:solidFill>
                  <a:srgbClr val="C00000"/>
                </a:solidFill>
                <a:latin typeface="Times New Roman" pitchFamily="18" charset="0"/>
                <a:ea typeface="SimSun" pitchFamily="2" charset="-122"/>
                <a:cs typeface="Times New Roman" pitchFamily="18" charset="0"/>
              </a:rPr>
              <a:t>Eg</a:t>
            </a:r>
            <a:r>
              <a:rPr lang="en-US" altLang="zh-CN" sz="2000" dirty="0">
                <a:solidFill>
                  <a:srgbClr val="C00000"/>
                </a:solidFill>
                <a:latin typeface="Times New Roman" pitchFamily="18" charset="0"/>
                <a:ea typeface="SimSun" pitchFamily="2" charset="-122"/>
                <a:cs typeface="Times New Roman" pitchFamily="18" charset="0"/>
              </a:rPr>
              <a:t>: Load R2, NUM1</a:t>
            </a:r>
          </a:p>
          <a:p>
            <a:pPr algn="just">
              <a:defRPr/>
            </a:pPr>
            <a:r>
              <a:rPr lang="en-US" altLang="zh-CN" sz="2000" dirty="0">
                <a:solidFill>
                  <a:srgbClr val="C00000"/>
                </a:solidFill>
                <a:latin typeface="Times New Roman" pitchFamily="18" charset="0"/>
                <a:ea typeface="SimSun" pitchFamily="2" charset="-122"/>
                <a:cs typeface="Times New Roman" pitchFamily="18" charset="0"/>
              </a:rPr>
              <a:t>		       Store R1, </a:t>
            </a:r>
            <a:r>
              <a:rPr lang="en-US" altLang="zh-CN" sz="2000" dirty="0" err="1" smtClean="0">
                <a:solidFill>
                  <a:srgbClr val="C00000"/>
                </a:solidFill>
                <a:latin typeface="Times New Roman" pitchFamily="18" charset="0"/>
                <a:ea typeface="SimSun" pitchFamily="2" charset="-122"/>
                <a:cs typeface="Times New Roman" pitchFamily="18" charset="0"/>
              </a:rPr>
              <a:t>Loc</a:t>
            </a:r>
            <a:endParaRPr lang="en-US" altLang="zh-CN" sz="2000" dirty="0" smtClean="0">
              <a:solidFill>
                <a:srgbClr val="C00000"/>
              </a:solidFill>
              <a:latin typeface="Times New Roman" pitchFamily="18" charset="0"/>
              <a:ea typeface="SimSun" pitchFamily="2" charset="-122"/>
              <a:cs typeface="Times New Roman" pitchFamily="18" charset="0"/>
            </a:endParaRPr>
          </a:p>
          <a:p>
            <a:pPr algn="just">
              <a:defRPr/>
            </a:pPr>
            <a:endParaRPr lang="en-US" altLang="zh-CN" sz="2000" dirty="0">
              <a:solidFill>
                <a:srgbClr val="C00000"/>
              </a:solidFill>
              <a:latin typeface="Times New Roman" pitchFamily="18" charset="0"/>
              <a:ea typeface="SimSun" pitchFamily="2" charset="-122"/>
              <a:cs typeface="Times New Roman" pitchFamily="18" charset="0"/>
            </a:endParaRPr>
          </a:p>
          <a:p>
            <a:endParaRPr lang="en-US" sz="2000" dirty="0" smtClean="0">
              <a:solidFill>
                <a:srgbClr val="C00000"/>
              </a:solidFill>
              <a:latin typeface="Times New Roman" panose="02020603050405020304" pitchFamily="18" charset="0"/>
              <a:cs typeface="Times New Roman" panose="02020603050405020304" pitchFamily="18" charset="0"/>
            </a:endParaRPr>
          </a:p>
          <a:p>
            <a:endParaRPr lang="en-US" sz="2000" dirty="0">
              <a:solidFill>
                <a:srgbClr val="C00000"/>
              </a:solidFill>
              <a:latin typeface="Times New Roman" panose="02020603050405020304" pitchFamily="18" charset="0"/>
              <a:cs typeface="Times New Roman" panose="02020603050405020304" pitchFamily="18" charset="0"/>
            </a:endParaRPr>
          </a:p>
          <a:p>
            <a:endParaRPr lang="en-US" dirty="0">
              <a:solidFill>
                <a:srgbClr val="C00000"/>
              </a:solidFill>
              <a:latin typeface="Times New Roman" panose="02020603050405020304" pitchFamily="18" charset="0"/>
              <a:cs typeface="Times New Roman" panose="02020603050405020304" pitchFamily="18" charset="0"/>
            </a:endParaRPr>
          </a:p>
          <a:p>
            <a:endParaRPr lang="en-US" dirty="0"/>
          </a:p>
        </p:txBody>
      </p:sp>
      <p:pic>
        <p:nvPicPr>
          <p:cNvPr id="2" name="Picture 1"/>
          <p:cNvPicPr>
            <a:picLocks noChangeAspect="1"/>
          </p:cNvPicPr>
          <p:nvPr/>
        </p:nvPicPr>
        <p:blipFill>
          <a:blip r:embed="rId2"/>
          <a:stretch>
            <a:fillRect/>
          </a:stretch>
        </p:blipFill>
        <p:spPr>
          <a:xfrm>
            <a:off x="827584" y="2852936"/>
            <a:ext cx="7253551" cy="3024224"/>
          </a:xfrm>
          <a:prstGeom prst="rect">
            <a:avLst/>
          </a:prstGeom>
        </p:spPr>
      </p:pic>
    </p:spTree>
    <p:extLst>
      <p:ext uri="{BB962C8B-B14F-4D97-AF65-F5344CB8AC3E}">
        <p14:creationId xmlns:p14="http://schemas.microsoft.com/office/powerpoint/2010/main" val="18951869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260648"/>
            <a:ext cx="8568952" cy="5078313"/>
          </a:xfrm>
          <a:prstGeom prst="rect">
            <a:avLst/>
          </a:prstGeom>
        </p:spPr>
        <p:txBody>
          <a:bodyPr wrap="square">
            <a:spAutoFit/>
          </a:bodyPr>
          <a:lstStyle/>
          <a:p>
            <a:r>
              <a:rPr lang="en-US" dirty="0">
                <a:solidFill>
                  <a:schemeClr val="accent1"/>
                </a:solidFill>
                <a:latin typeface="Times New Roman" panose="02020603050405020304" pitchFamily="18" charset="0"/>
                <a:cs typeface="Times New Roman" panose="02020603050405020304" pitchFamily="18" charset="0"/>
              </a:rPr>
              <a:t>Write a RISC-style program to compute the value of W=25+33-X</a:t>
            </a:r>
          </a:p>
          <a:p>
            <a:endParaRPr lang="en-US" dirty="0">
              <a:solidFill>
                <a:srgbClr val="C0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Clear R1</a:t>
            </a:r>
          </a:p>
          <a:p>
            <a:r>
              <a:rPr lang="en-US" dirty="0">
                <a:latin typeface="Times New Roman" panose="02020603050405020304" pitchFamily="18" charset="0"/>
                <a:cs typeface="Times New Roman" panose="02020603050405020304" pitchFamily="18" charset="0"/>
              </a:rPr>
              <a:t>	Move R2, #33</a:t>
            </a:r>
          </a:p>
          <a:p>
            <a:r>
              <a:rPr lang="en-US" dirty="0">
                <a:latin typeface="Times New Roman" panose="02020603050405020304" pitchFamily="18" charset="0"/>
                <a:cs typeface="Times New Roman" panose="02020603050405020304" pitchFamily="18" charset="0"/>
              </a:rPr>
              <a:t>	Add R1, R2, #25</a:t>
            </a:r>
          </a:p>
          <a:p>
            <a:r>
              <a:rPr lang="en-US" dirty="0">
                <a:latin typeface="Times New Roman" panose="02020603050405020304" pitchFamily="18" charset="0"/>
                <a:cs typeface="Times New Roman" panose="02020603050405020304" pitchFamily="18" charset="0"/>
              </a:rPr>
              <a:t>	Load R2, X</a:t>
            </a:r>
          </a:p>
          <a:p>
            <a:r>
              <a:rPr lang="en-US" dirty="0">
                <a:latin typeface="Times New Roman" panose="02020603050405020304" pitchFamily="18" charset="0"/>
                <a:cs typeface="Times New Roman" panose="02020603050405020304" pitchFamily="18" charset="0"/>
              </a:rPr>
              <a:t>	Sub R1, R1, R2</a:t>
            </a:r>
          </a:p>
          <a:p>
            <a:r>
              <a:rPr lang="en-US" dirty="0">
                <a:latin typeface="Times New Roman" panose="02020603050405020304" pitchFamily="18" charset="0"/>
                <a:cs typeface="Times New Roman" panose="02020603050405020304" pitchFamily="18" charset="0"/>
              </a:rPr>
              <a:t>	Store R1, W</a:t>
            </a:r>
          </a:p>
          <a:p>
            <a:endParaRPr lang="en-US" dirty="0">
              <a:latin typeface="Times New Roman" panose="02020603050405020304" pitchFamily="18" charset="0"/>
              <a:cs typeface="Times New Roman" panose="02020603050405020304" pitchFamily="18" charset="0"/>
            </a:endParaRPr>
          </a:p>
          <a:p>
            <a:r>
              <a:rPr lang="en-US" dirty="0">
                <a:solidFill>
                  <a:schemeClr val="accent1"/>
                </a:solidFill>
                <a:latin typeface="Times New Roman" panose="02020603050405020304" pitchFamily="18" charset="0"/>
                <a:cs typeface="Times New Roman" panose="02020603050405020304" pitchFamily="18" charset="0"/>
              </a:rPr>
              <a:t>Write a RISC-style program to compute the value of </a:t>
            </a:r>
            <a:r>
              <a:rPr lang="en-US" dirty="0" smtClean="0">
                <a:solidFill>
                  <a:schemeClr val="accent1"/>
                </a:solidFill>
                <a:latin typeface="Times New Roman" panose="02020603050405020304" pitchFamily="18" charset="0"/>
                <a:cs typeface="Times New Roman" panose="02020603050405020304" pitchFamily="18" charset="0"/>
              </a:rPr>
              <a:t>W=X+Y+Z</a:t>
            </a:r>
          </a:p>
          <a:p>
            <a:endParaRPr lang="en-US" dirty="0">
              <a:solidFill>
                <a:schemeClr val="accent1"/>
              </a:solidFill>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Load R1, </a:t>
            </a:r>
            <a:r>
              <a:rPr lang="en-US" dirty="0">
                <a:latin typeface="Times New Roman" panose="02020603050405020304" pitchFamily="18" charset="0"/>
                <a:cs typeface="Times New Roman" panose="02020603050405020304" pitchFamily="18" charset="0"/>
              </a:rPr>
              <a:t>X</a:t>
            </a:r>
          </a:p>
          <a:p>
            <a:r>
              <a:rPr lang="en-US" dirty="0" smtClean="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Load R2, </a:t>
            </a:r>
            <a:r>
              <a:rPr lang="en-US" dirty="0" smtClean="0">
                <a:latin typeface="Times New Roman" panose="02020603050405020304" pitchFamily="18" charset="0"/>
                <a:cs typeface="Times New Roman" panose="02020603050405020304" pitchFamily="18" charset="0"/>
              </a:rPr>
              <a:t>Y</a:t>
            </a:r>
          </a:p>
          <a:p>
            <a:r>
              <a:rPr lang="en-US" dirty="0" smtClean="0">
                <a:latin typeface="Times New Roman" panose="02020603050405020304" pitchFamily="18" charset="0"/>
                <a:cs typeface="Times New Roman" panose="02020603050405020304" pitchFamily="18" charset="0"/>
              </a:rPr>
              <a:t>	Add R1, R1, R2</a:t>
            </a:r>
            <a:endParaRPr lang="en-US" dirty="0">
              <a:latin typeface="Times New Roman" panose="02020603050405020304" pitchFamily="18" charset="0"/>
              <a:cs typeface="Times New Roman" panose="02020603050405020304" pitchFamily="18" charset="0"/>
            </a:endParaRPr>
          </a:p>
          <a:p>
            <a:r>
              <a:rPr lang="en-US" dirty="0" smtClean="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Load R2, </a:t>
            </a:r>
            <a:r>
              <a:rPr lang="en-US" dirty="0" smtClean="0">
                <a:latin typeface="Times New Roman" panose="02020603050405020304" pitchFamily="18" charset="0"/>
                <a:cs typeface="Times New Roman" panose="02020603050405020304" pitchFamily="18" charset="0"/>
              </a:rPr>
              <a:t>Z</a:t>
            </a:r>
            <a:endParaRPr lang="en-US" dirty="0">
              <a:latin typeface="Times New Roman" panose="02020603050405020304" pitchFamily="18" charset="0"/>
              <a:cs typeface="Times New Roman" panose="02020603050405020304" pitchFamily="18" charset="0"/>
            </a:endParaRPr>
          </a:p>
          <a:p>
            <a:r>
              <a:rPr lang="en-US" dirty="0" smtClean="0">
                <a:solidFill>
                  <a:schemeClr val="accent1"/>
                </a:solidFill>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Add </a:t>
            </a:r>
            <a:r>
              <a:rPr lang="en-US" dirty="0">
                <a:latin typeface="Times New Roman" panose="02020603050405020304" pitchFamily="18" charset="0"/>
                <a:cs typeface="Times New Roman" panose="02020603050405020304" pitchFamily="18" charset="0"/>
              </a:rPr>
              <a:t>R1, R1, R2</a:t>
            </a:r>
            <a:endParaRPr lang="en-US" dirty="0" smtClean="0">
              <a:solidFill>
                <a:schemeClr val="accent1"/>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Store R1, </a:t>
            </a:r>
            <a:r>
              <a:rPr lang="en-US" dirty="0" smtClean="0">
                <a:latin typeface="Times New Roman" panose="02020603050405020304" pitchFamily="18" charset="0"/>
                <a:cs typeface="Times New Roman" panose="02020603050405020304" pitchFamily="18" charset="0"/>
              </a:rPr>
              <a:t>W</a:t>
            </a:r>
            <a:endParaRPr lang="en-US" dirty="0">
              <a:latin typeface="Times New Roman" panose="02020603050405020304" pitchFamily="18" charset="0"/>
              <a:cs typeface="Times New Roman" panose="02020603050405020304" pitchFamily="18" charset="0"/>
            </a:endParaRPr>
          </a:p>
          <a:p>
            <a:endParaRPr lang="en-US"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43589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260648"/>
            <a:ext cx="8280920" cy="2862322"/>
          </a:xfrm>
          <a:prstGeom prst="rect">
            <a:avLst/>
          </a:prstGeom>
        </p:spPr>
        <p:txBody>
          <a:bodyPr wrap="square">
            <a:spAutoFit/>
          </a:bodyPr>
          <a:lstStyle/>
          <a:p>
            <a:r>
              <a:rPr lang="en-US" dirty="0">
                <a:solidFill>
                  <a:schemeClr val="accent1"/>
                </a:solidFill>
                <a:latin typeface="Times New Roman" panose="02020603050405020304" pitchFamily="18" charset="0"/>
                <a:cs typeface="Times New Roman" panose="02020603050405020304" pitchFamily="18" charset="0"/>
              </a:rPr>
              <a:t>Write a RISC-style program to compute the value of  </a:t>
            </a:r>
            <a:r>
              <a:rPr lang="en-US" dirty="0" smtClean="0">
                <a:solidFill>
                  <a:schemeClr val="accent1"/>
                </a:solidFill>
                <a:latin typeface="Times New Roman" panose="02020603050405020304" pitchFamily="18" charset="0"/>
                <a:cs typeface="Times New Roman" panose="02020603050405020304" pitchFamily="18" charset="0"/>
              </a:rPr>
              <a:t>X=A-B+C+98</a:t>
            </a:r>
          </a:p>
          <a:p>
            <a:endParaRPr lang="en-US" dirty="0" smtClean="0">
              <a:solidFill>
                <a:schemeClr val="accent1"/>
              </a:solidFill>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Load R1, A</a:t>
            </a:r>
            <a:endParaRPr lang="en-US" dirty="0">
              <a:latin typeface="Times New Roman" panose="02020603050405020304" pitchFamily="18" charset="0"/>
              <a:cs typeface="Times New Roman" panose="02020603050405020304" pitchFamily="18" charset="0"/>
            </a:endParaRPr>
          </a:p>
          <a:p>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Load R2, </a:t>
            </a:r>
            <a:r>
              <a:rPr lang="en-US" dirty="0" smtClean="0">
                <a:latin typeface="Times New Roman" panose="02020603050405020304" pitchFamily="18" charset="0"/>
                <a:cs typeface="Times New Roman" panose="02020603050405020304" pitchFamily="18" charset="0"/>
              </a:rPr>
              <a:t>B</a:t>
            </a:r>
          </a:p>
          <a:p>
            <a:r>
              <a:rPr lang="en-US" dirty="0" smtClean="0">
                <a:latin typeface="Times New Roman" panose="02020603050405020304" pitchFamily="18" charset="0"/>
                <a:cs typeface="Times New Roman" panose="02020603050405020304" pitchFamily="18" charset="0"/>
              </a:rPr>
              <a:t>	Sub R1, R1, R2</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Load R2, </a:t>
            </a:r>
            <a:r>
              <a:rPr lang="en-US" dirty="0" smtClean="0">
                <a:latin typeface="Times New Roman" panose="02020603050405020304" pitchFamily="18" charset="0"/>
                <a:cs typeface="Times New Roman" panose="02020603050405020304" pitchFamily="18" charset="0"/>
              </a:rPr>
              <a:t>C</a:t>
            </a:r>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Add R1, R1, R2</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Add R1, R1, </a:t>
            </a:r>
            <a:r>
              <a:rPr lang="en-US" dirty="0" smtClean="0">
                <a:latin typeface="Times New Roman" panose="02020603050405020304" pitchFamily="18" charset="0"/>
                <a:cs typeface="Times New Roman" panose="02020603050405020304" pitchFamily="18" charset="0"/>
              </a:rPr>
              <a:t>#98</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Store R1, </a:t>
            </a:r>
            <a:r>
              <a:rPr lang="en-US" dirty="0" smtClean="0">
                <a:latin typeface="Times New Roman" panose="02020603050405020304" pitchFamily="18" charset="0"/>
                <a:cs typeface="Times New Roman" panose="02020603050405020304" pitchFamily="18" charset="0"/>
              </a:rPr>
              <a:t>X</a:t>
            </a:r>
            <a:endParaRPr lang="en-US" dirty="0">
              <a:latin typeface="Times New Roman" panose="02020603050405020304" pitchFamily="18" charset="0"/>
              <a:cs typeface="Times New Roman" panose="02020603050405020304" pitchFamily="18" charset="0"/>
            </a:endParaRPr>
          </a:p>
          <a:p>
            <a:endParaRPr lang="en-US"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8096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lstStyle/>
          <a:p>
            <a:pPr marL="0" indent="0">
              <a:buFont typeface="Wingdings" pitchFamily="2" charset="2"/>
              <a:buNone/>
              <a:defRPr/>
            </a:pPr>
            <a:r>
              <a:rPr lang="en-US" sz="2000" b="1" dirty="0" smtClean="0">
                <a:solidFill>
                  <a:srgbClr val="C00000"/>
                </a:solidFill>
                <a:latin typeface="Times New Roman" pitchFamily="18" charset="0"/>
                <a:cs typeface="Times New Roman" pitchFamily="18" charset="0"/>
              </a:rPr>
              <a:t>Indirect Addressing Mode:</a:t>
            </a:r>
          </a:p>
          <a:p>
            <a:pPr>
              <a:defRPr/>
            </a:pP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this addressing mode, the address field of the instruction specifies the address of memory location that contains the effective address of the operand. </a:t>
            </a:r>
            <a:endParaRPr lang="en-US" sz="2000" dirty="0" smtClean="0">
              <a:latin typeface="Times New Roman" panose="02020603050405020304" pitchFamily="18" charset="0"/>
              <a:cs typeface="Times New Roman" panose="02020603050405020304" pitchFamily="18" charset="0"/>
            </a:endParaRPr>
          </a:p>
          <a:p>
            <a:pPr>
              <a:defRPr/>
            </a:pPr>
            <a:r>
              <a:rPr lang="en-US" sz="2000" dirty="0" smtClean="0">
                <a:latin typeface="Times New Roman" panose="02020603050405020304" pitchFamily="18" charset="0"/>
                <a:cs typeface="Times New Roman" panose="02020603050405020304" pitchFamily="18" charset="0"/>
              </a:rPr>
              <a:t>Two </a:t>
            </a:r>
            <a:r>
              <a:rPr lang="en-US" sz="2000" dirty="0">
                <a:latin typeface="Times New Roman" panose="02020603050405020304" pitchFamily="18" charset="0"/>
                <a:cs typeface="Times New Roman" panose="02020603050405020304" pitchFamily="18" charset="0"/>
              </a:rPr>
              <a:t>references to memory are required to fetch the operand.</a:t>
            </a:r>
            <a:endParaRPr lang="en-US" sz="2000" b="1" dirty="0" smtClean="0">
              <a:solidFill>
                <a:srgbClr val="C00000"/>
              </a:solidFill>
              <a:latin typeface="Times New Roman" pitchFamily="18" charset="0"/>
              <a:cs typeface="Times New Roman" pitchFamily="18" charset="0"/>
            </a:endParaRPr>
          </a:p>
          <a:p>
            <a:pPr>
              <a:defRPr/>
            </a:pPr>
            <a:r>
              <a:rPr lang="en-US" sz="2000" dirty="0" smtClean="0">
                <a:latin typeface="Times New Roman" pitchFamily="18" charset="0"/>
                <a:cs typeface="Times New Roman" pitchFamily="18" charset="0"/>
              </a:rPr>
              <a:t>We denote the indirection by placing the name of the registers in the parenthesis</a:t>
            </a:r>
          </a:p>
          <a:p>
            <a:pPr marL="0" indent="0">
              <a:buNone/>
              <a:defRPr/>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Ex: Load R2, (R1)</a:t>
            </a:r>
          </a:p>
          <a:p>
            <a:pPr marL="0" indent="0">
              <a:buNone/>
              <a:defRPr/>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2996952"/>
            <a:ext cx="5554200" cy="3528392"/>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1481" y="0"/>
            <a:ext cx="8229600" cy="485756"/>
          </a:xfrm>
        </p:spPr>
        <p:txBody>
          <a:bodyPr>
            <a:normAutofit fontScale="90000"/>
          </a:bodyPr>
          <a:lstStyle/>
          <a:p>
            <a:r>
              <a:rPr lang="en-IN" sz="2800" b="1" dirty="0" smtClean="0">
                <a:solidFill>
                  <a:srgbClr val="C00000"/>
                </a:solidFill>
                <a:latin typeface="Times New Roman" panose="02020603050405020304" pitchFamily="18" charset="0"/>
                <a:cs typeface="Times New Roman" panose="02020603050405020304" pitchFamily="18" charset="0"/>
              </a:rPr>
              <a:t>Adding a list of numbers</a:t>
            </a:r>
            <a:endParaRPr lang="en-IN" sz="2800" b="1" dirty="0">
              <a:solidFill>
                <a:srgbClr val="C0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720" y="642918"/>
            <a:ext cx="8501122" cy="5967434"/>
          </a:xfrm>
        </p:spPr>
      </p:pic>
    </p:spTree>
    <p:extLst>
      <p:ext uri="{BB962C8B-B14F-4D97-AF65-F5344CB8AC3E}">
        <p14:creationId xmlns:p14="http://schemas.microsoft.com/office/powerpoint/2010/main" val="152413199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188640"/>
            <a:ext cx="8229600" cy="6408712"/>
          </a:xfrm>
        </p:spPr>
        <p:txBody>
          <a:bodyPr>
            <a:normAutofit/>
          </a:bodyPr>
          <a:lstStyle/>
          <a:p>
            <a:pPr marL="0" indent="0">
              <a:buFont typeface="Wingdings" pitchFamily="2" charset="2"/>
              <a:buNone/>
              <a:defRPr/>
            </a:pPr>
            <a:r>
              <a:rPr lang="en-US" sz="2400" b="1" dirty="0" smtClean="0">
                <a:solidFill>
                  <a:srgbClr val="C00000"/>
                </a:solidFill>
                <a:latin typeface="Times New Roman" pitchFamily="18" charset="0"/>
                <a:cs typeface="Times New Roman" pitchFamily="18" charset="0"/>
              </a:rPr>
              <a:t>Indexed </a:t>
            </a:r>
            <a:r>
              <a:rPr lang="en-US" sz="2400" b="1" dirty="0">
                <a:solidFill>
                  <a:srgbClr val="C00000"/>
                </a:solidFill>
                <a:latin typeface="Times New Roman" pitchFamily="18" charset="0"/>
                <a:cs typeface="Times New Roman" pitchFamily="18" charset="0"/>
              </a:rPr>
              <a:t>Addressing Mode</a:t>
            </a:r>
            <a:r>
              <a:rPr lang="en-US" sz="2400" b="1" dirty="0" smtClean="0">
                <a:solidFill>
                  <a:srgbClr val="C00000"/>
                </a:solidFill>
                <a:latin typeface="Times New Roman" pitchFamily="18" charset="0"/>
                <a:cs typeface="Times New Roman" pitchFamily="18" charset="0"/>
              </a:rPr>
              <a:t>:</a:t>
            </a:r>
          </a:p>
          <a:p>
            <a:pPr>
              <a:defRPr/>
            </a:pPr>
            <a:r>
              <a:rPr lang="en-US" sz="2400" dirty="0">
                <a:latin typeface="Times New Roman" panose="02020603050405020304" pitchFamily="18" charset="0"/>
                <a:cs typeface="Times New Roman" panose="02020603050405020304" pitchFamily="18" charset="0"/>
              </a:rPr>
              <a:t>In this mode the content of an index register is added to the address part of the instruction to obtain the effective </a:t>
            </a:r>
            <a:r>
              <a:rPr lang="en-US" sz="2400" dirty="0" smtClean="0">
                <a:latin typeface="Times New Roman" panose="02020603050405020304" pitchFamily="18" charset="0"/>
                <a:cs typeface="Times New Roman" panose="02020603050405020304" pitchFamily="18" charset="0"/>
              </a:rPr>
              <a:t>address.</a:t>
            </a:r>
          </a:p>
          <a:p>
            <a:pPr>
              <a:defRPr/>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index register is a special CPU register that contains an index value. </a:t>
            </a:r>
            <a:endParaRPr lang="en-US" sz="2400" dirty="0" smtClean="0">
              <a:latin typeface="Times New Roman" panose="02020603050405020304" pitchFamily="18" charset="0"/>
              <a:cs typeface="Times New Roman" panose="02020603050405020304" pitchFamily="18" charset="0"/>
            </a:endParaRPr>
          </a:p>
          <a:p>
            <a:pPr>
              <a:defRPr/>
            </a:pPr>
            <a:r>
              <a:rPr lang="en-US" sz="2400" dirty="0" smtClean="0">
                <a:latin typeface="Times New Roman" panose="02020603050405020304" pitchFamily="18" charset="0"/>
                <a:cs typeface="Times New Roman" panose="02020603050405020304" pitchFamily="18" charset="0"/>
              </a:rPr>
              <a:t>It is useful for dealing with lists &amp; arrays</a:t>
            </a:r>
          </a:p>
          <a:p>
            <a:pPr>
              <a:defRPr/>
            </a:pPr>
            <a:r>
              <a:rPr lang="en-US" sz="2400" dirty="0" smtClean="0">
                <a:latin typeface="Times New Roman" panose="02020603050405020304" pitchFamily="18" charset="0"/>
                <a:cs typeface="Times New Roman" panose="02020603050405020304" pitchFamily="18" charset="0"/>
              </a:rPr>
              <a:t>In Index mode, EA of the operand is generated by adding a constant value to a contents of register</a:t>
            </a:r>
          </a:p>
          <a:p>
            <a:r>
              <a:rPr lang="en-US" sz="2400" dirty="0" smtClean="0">
                <a:latin typeface="Times New Roman" panose="02020603050405020304" pitchFamily="18" charset="0"/>
                <a:cs typeface="Times New Roman" panose="02020603050405020304" pitchFamily="18" charset="0"/>
              </a:rPr>
              <a:t>Symbolically </a:t>
            </a:r>
            <a:r>
              <a:rPr lang="en-US" sz="2400" dirty="0">
                <a:latin typeface="Times New Roman" pitchFamily="18" charset="0"/>
                <a:cs typeface="Times New Roman" pitchFamily="18" charset="0"/>
              </a:rPr>
              <a:t>represented </a:t>
            </a:r>
            <a:r>
              <a:rPr lang="en-US" sz="2400" dirty="0" smtClean="0">
                <a:latin typeface="Times New Roman" pitchFamily="18" charset="0"/>
                <a:cs typeface="Times New Roman" pitchFamily="18" charset="0"/>
              </a:rPr>
              <a:t>as:</a:t>
            </a:r>
          </a:p>
          <a:p>
            <a:pPr marL="0" indent="0">
              <a:buNone/>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x(</a:t>
            </a:r>
            <a:r>
              <a:rPr lang="en-US" sz="2400" dirty="0" err="1">
                <a:latin typeface="Times New Roman" pitchFamily="18" charset="0"/>
                <a:cs typeface="Times New Roman" pitchFamily="18" charset="0"/>
              </a:rPr>
              <a:t>Ri</a:t>
            </a:r>
            <a:r>
              <a:rPr lang="en-US" sz="2400" dirty="0">
                <a:latin typeface="Times New Roman" pitchFamily="18" charset="0"/>
                <a:cs typeface="Times New Roman" pitchFamily="18" charset="0"/>
              </a:rPr>
              <a:t>)</a:t>
            </a:r>
          </a:p>
          <a:p>
            <a:pPr marL="0" indent="0">
              <a:buNone/>
            </a:pPr>
            <a:r>
              <a:rPr lang="en-US" sz="2400" dirty="0" smtClean="0">
                <a:latin typeface="Times New Roman" pitchFamily="18" charset="0"/>
                <a:cs typeface="Times New Roman" pitchFamily="18" charset="0"/>
              </a:rPr>
              <a:t>	x </a:t>
            </a:r>
            <a:r>
              <a:rPr lang="en-US" sz="2400" dirty="0" smtClean="0">
                <a:latin typeface="Times New Roman" pitchFamily="18" charset="0"/>
                <a:cs typeface="Times New Roman" pitchFamily="18" charset="0"/>
                <a:sym typeface="Wingdings" pitchFamily="2" charset="2"/>
              </a:rPr>
              <a:t> denotes </a:t>
            </a:r>
            <a:r>
              <a:rPr lang="en-US" sz="2400" dirty="0">
                <a:latin typeface="Times New Roman" pitchFamily="18" charset="0"/>
                <a:cs typeface="Times New Roman" pitchFamily="18" charset="0"/>
                <a:sym typeface="Wingdings" pitchFamily="2" charset="2"/>
              </a:rPr>
              <a:t>constant </a:t>
            </a:r>
            <a:r>
              <a:rPr lang="en-US" sz="2400" dirty="0" smtClean="0">
                <a:latin typeface="Times New Roman" pitchFamily="18" charset="0"/>
                <a:cs typeface="Times New Roman" pitchFamily="18" charset="0"/>
                <a:sym typeface="Wingdings" pitchFamily="2" charset="2"/>
              </a:rPr>
              <a:t>value</a:t>
            </a:r>
          </a:p>
          <a:p>
            <a:pPr marL="0" indent="0">
              <a:buNone/>
            </a:pPr>
            <a:r>
              <a:rPr lang="en-US" sz="2400" dirty="0" smtClean="0">
                <a:latin typeface="Times New Roman" pitchFamily="18" charset="0"/>
                <a:cs typeface="Times New Roman" pitchFamily="18" charset="0"/>
                <a:sym typeface="Wingdings" pitchFamily="2" charset="2"/>
              </a:rPr>
              <a:t>	EA=x</a:t>
            </a:r>
            <a:r>
              <a:rPr lang="en-US" sz="2400" dirty="0">
                <a:latin typeface="Times New Roman" pitchFamily="18" charset="0"/>
                <a:cs typeface="Times New Roman" pitchFamily="18" charset="0"/>
                <a:sym typeface="Wingdings" pitchFamily="2" charset="2"/>
              </a:rPr>
              <a:t>+[</a:t>
            </a:r>
            <a:r>
              <a:rPr lang="en-US" sz="2400" dirty="0" err="1">
                <a:latin typeface="Times New Roman" pitchFamily="18" charset="0"/>
                <a:cs typeface="Times New Roman" pitchFamily="18" charset="0"/>
                <a:sym typeface="Wingdings" pitchFamily="2" charset="2"/>
              </a:rPr>
              <a:t>Ri</a:t>
            </a:r>
            <a:r>
              <a:rPr lang="en-US" sz="2400" dirty="0" smtClean="0">
                <a:latin typeface="Times New Roman" pitchFamily="18" charset="0"/>
                <a:cs typeface="Times New Roman" pitchFamily="18" charset="0"/>
                <a:sym typeface="Wingdings" pitchFamily="2" charset="2"/>
              </a:rPr>
              <a:t>]</a:t>
            </a:r>
          </a:p>
          <a:p>
            <a:pPr marL="0" indent="0">
              <a:buNone/>
            </a:pPr>
            <a:r>
              <a:rPr lang="en-US" sz="2400" dirty="0" smtClean="0">
                <a:solidFill>
                  <a:srgbClr val="C00000"/>
                </a:solidFill>
                <a:latin typeface="Times New Roman" pitchFamily="18" charset="0"/>
                <a:cs typeface="Times New Roman" pitchFamily="18" charset="0"/>
                <a:sym typeface="Wingdings" pitchFamily="2" charset="2"/>
              </a:rPr>
              <a:t>		</a:t>
            </a:r>
          </a:p>
          <a:p>
            <a:pPr marL="0" indent="0">
              <a:buNone/>
            </a:pPr>
            <a:r>
              <a:rPr lang="en-US" sz="2400" dirty="0">
                <a:solidFill>
                  <a:srgbClr val="C00000"/>
                </a:solidFill>
                <a:latin typeface="Times New Roman" pitchFamily="18" charset="0"/>
                <a:cs typeface="Times New Roman" pitchFamily="18" charset="0"/>
                <a:sym typeface="Wingdings" pitchFamily="2" charset="2"/>
              </a:rPr>
              <a:t>	</a:t>
            </a:r>
            <a:r>
              <a:rPr lang="en-US" sz="2400" dirty="0" smtClean="0">
                <a:solidFill>
                  <a:srgbClr val="C00000"/>
                </a:solidFill>
                <a:latin typeface="Times New Roman" pitchFamily="18" charset="0"/>
                <a:cs typeface="Times New Roman" pitchFamily="18" charset="0"/>
                <a:sym typeface="Wingdings" pitchFamily="2" charset="2"/>
              </a:rPr>
              <a:t>Ex:   </a:t>
            </a:r>
            <a:r>
              <a:rPr lang="en-US" sz="2400" dirty="0" smtClean="0">
                <a:solidFill>
                  <a:srgbClr val="C00000"/>
                </a:solidFill>
                <a:latin typeface="Times New Roman" pitchFamily="18" charset="0"/>
                <a:cs typeface="Times New Roman" pitchFamily="18" charset="0"/>
              </a:rPr>
              <a:t>Load R1, 50(R5)</a:t>
            </a:r>
          </a:p>
          <a:p>
            <a:pPr marL="0" indent="0">
              <a:buNone/>
            </a:pPr>
            <a:r>
              <a:rPr lang="en-US" sz="2400" dirty="0" smtClean="0">
                <a:solidFill>
                  <a:srgbClr val="C00000"/>
                </a:solidFill>
                <a:latin typeface="Times New Roman" pitchFamily="18" charset="0"/>
                <a:cs typeface="Times New Roman" pitchFamily="18" charset="0"/>
              </a:rPr>
              <a:t>	        Load R2, 1000(R6)</a:t>
            </a:r>
            <a:endParaRPr lang="en-US" sz="2400" dirty="0">
              <a:solidFill>
                <a:srgbClr val="C00000"/>
              </a:solidFill>
              <a:latin typeface="Times New Roman" pitchFamily="18" charset="0"/>
              <a:cs typeface="Times New Roman" pitchFamily="18" charset="0"/>
            </a:endParaRPr>
          </a:p>
          <a:p>
            <a:pPr marL="0" indent="0">
              <a:buNone/>
            </a:pPr>
            <a:endParaRPr lang="en-US" sz="2400"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282" y="642918"/>
            <a:ext cx="8643998" cy="607223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19" y="188640"/>
            <a:ext cx="8421557" cy="6740307"/>
          </a:xfrm>
          <a:prstGeom prst="rect">
            <a:avLst/>
          </a:prstGeom>
        </p:spPr>
        <p:txBody>
          <a:bodyPr wrap="square">
            <a:spAutoFit/>
          </a:bodyPr>
          <a:lstStyle/>
          <a:p>
            <a:r>
              <a:rPr lang="en-US" sz="2400" b="1" dirty="0" smtClean="0">
                <a:solidFill>
                  <a:srgbClr val="C00000"/>
                </a:solidFill>
                <a:latin typeface="Times New Roman" panose="02020603050405020304" pitchFamily="18" charset="0"/>
                <a:cs typeface="Times New Roman" panose="02020603050405020304" pitchFamily="18" charset="0"/>
              </a:rPr>
              <a:t>Base Indexed Addressing Mode:</a:t>
            </a:r>
          </a:p>
          <a:p>
            <a:pPr marL="342900" indent="-342900">
              <a:buFont typeface="Arial" panose="020B0604020202020204" pitchFamily="34" charset="0"/>
              <a:buChar char="•"/>
            </a:pPr>
            <a:r>
              <a:rPr lang="en-US" sz="2400" dirty="0">
                <a:solidFill>
                  <a:srgbClr val="0E0F25"/>
                </a:solidFill>
                <a:latin typeface="Times New Roman" panose="02020603050405020304" pitchFamily="18" charset="0"/>
                <a:cs typeface="Times New Roman" panose="02020603050405020304" pitchFamily="18" charset="0"/>
              </a:rPr>
              <a:t> In this mode the content of a base register is added to the address part of the instruction to obtain the effective address. </a:t>
            </a:r>
            <a:endParaRPr lang="en-US" sz="2400" dirty="0" smtClean="0">
              <a:solidFill>
                <a:srgbClr val="0E0F25"/>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solidFill>
                  <a:srgbClr val="0E0F25"/>
                </a:solidFill>
                <a:latin typeface="Times New Roman" panose="02020603050405020304" pitchFamily="18" charset="0"/>
                <a:cs typeface="Times New Roman" panose="02020603050405020304" pitchFamily="18" charset="0"/>
              </a:rPr>
              <a:t>This </a:t>
            </a:r>
            <a:r>
              <a:rPr lang="en-US" sz="2400" dirty="0">
                <a:solidFill>
                  <a:srgbClr val="0E0F25"/>
                </a:solidFill>
                <a:latin typeface="Times New Roman" panose="02020603050405020304" pitchFamily="18" charset="0"/>
                <a:cs typeface="Times New Roman" panose="02020603050405020304" pitchFamily="18" charset="0"/>
              </a:rPr>
              <a:t>is similar to the indexed addressing mode except that the register is now called a base register instead of an index </a:t>
            </a:r>
            <a:r>
              <a:rPr lang="en-US" sz="2400" dirty="0" smtClean="0">
                <a:solidFill>
                  <a:srgbClr val="0E0F25"/>
                </a:solidFill>
                <a:latin typeface="Times New Roman" panose="02020603050405020304" pitchFamily="18" charset="0"/>
                <a:cs typeface="Times New Roman" panose="02020603050405020304" pitchFamily="18" charset="0"/>
              </a:rPr>
              <a:t>register.</a:t>
            </a:r>
          </a:p>
          <a:p>
            <a:pPr marL="342900" indent="-342900">
              <a:buFont typeface="Arial" panose="020B0604020202020204" pitchFamily="34" charset="0"/>
              <a:buChar char="•"/>
            </a:pPr>
            <a:r>
              <a:rPr lang="en-US" sz="2400" dirty="0" smtClean="0">
                <a:solidFill>
                  <a:srgbClr val="0E0F25"/>
                </a:solidFill>
                <a:latin typeface="Times New Roman" panose="02020603050405020304" pitchFamily="18" charset="0"/>
                <a:cs typeface="Times New Roman" panose="02020603050405020304" pitchFamily="18" charset="0"/>
              </a:rPr>
              <a:t>An </a:t>
            </a:r>
            <a:r>
              <a:rPr lang="en-US" sz="2400" dirty="0">
                <a:solidFill>
                  <a:srgbClr val="0E0F25"/>
                </a:solidFill>
                <a:latin typeface="Times New Roman" panose="02020603050405020304" pitchFamily="18" charset="0"/>
                <a:cs typeface="Times New Roman" panose="02020603050405020304" pitchFamily="18" charset="0"/>
              </a:rPr>
              <a:t>index register is assumed to hold an index number that is relative to the address part of the instruction. </a:t>
            </a:r>
          </a:p>
          <a:p>
            <a:pPr marL="342900" indent="-342900">
              <a:buFont typeface="Arial" panose="020B0604020202020204" pitchFamily="34" charset="0"/>
              <a:buChar char="•"/>
            </a:pPr>
            <a:r>
              <a:rPr lang="en-US" sz="2400" dirty="0" smtClean="0">
                <a:solidFill>
                  <a:srgbClr val="0E0F25"/>
                </a:solidFill>
                <a:latin typeface="Times New Roman" panose="02020603050405020304" pitchFamily="18" charset="0"/>
                <a:cs typeface="Times New Roman" panose="02020603050405020304" pitchFamily="18" charset="0"/>
              </a:rPr>
              <a:t>A </a:t>
            </a:r>
            <a:r>
              <a:rPr lang="en-US" sz="2400" dirty="0">
                <a:solidFill>
                  <a:srgbClr val="0E0F25"/>
                </a:solidFill>
                <a:latin typeface="Times New Roman" panose="02020603050405020304" pitchFamily="18" charset="0"/>
                <a:cs typeface="Times New Roman" panose="02020603050405020304" pitchFamily="18" charset="0"/>
              </a:rPr>
              <a:t>base register is assumed to hold a base address and the address field of the instruction gives a displacement relative to this base address. </a:t>
            </a:r>
            <a:endParaRPr lang="en-US" sz="2400" dirty="0" smtClean="0">
              <a:solidFill>
                <a:srgbClr val="0E0F25"/>
              </a:solidFill>
              <a:latin typeface="Times New Roman" panose="02020603050405020304" pitchFamily="18" charset="0"/>
              <a:cs typeface="Times New Roman" panose="02020603050405020304" pitchFamily="18" charset="0"/>
            </a:endParaRPr>
          </a:p>
          <a:p>
            <a:r>
              <a:rPr lang="en-US" sz="2400" dirty="0" smtClean="0">
                <a:latin typeface="Times New Roman" pitchFamily="18" charset="0"/>
                <a:cs typeface="Times New Roman" pitchFamily="18" charset="0"/>
                <a:sym typeface="Wingdings" pitchFamily="2" charset="2"/>
              </a:rPr>
              <a:t>	EA=  [</a:t>
            </a:r>
            <a:r>
              <a:rPr lang="en-US" sz="2400" dirty="0" err="1" smtClean="0">
                <a:latin typeface="Times New Roman" pitchFamily="18" charset="0"/>
                <a:cs typeface="Times New Roman" pitchFamily="18" charset="0"/>
                <a:sym typeface="Wingdings" pitchFamily="2" charset="2"/>
              </a:rPr>
              <a:t>Ri</a:t>
            </a:r>
            <a:r>
              <a:rPr lang="en-US" sz="2400" dirty="0" smtClean="0">
                <a:latin typeface="Times New Roman" pitchFamily="18" charset="0"/>
                <a:cs typeface="Times New Roman" pitchFamily="18" charset="0"/>
                <a:sym typeface="Wingdings" pitchFamily="2" charset="2"/>
              </a:rPr>
              <a:t>]+[</a:t>
            </a:r>
            <a:r>
              <a:rPr lang="en-US" sz="2400" dirty="0" err="1" smtClean="0">
                <a:latin typeface="Times New Roman" pitchFamily="18" charset="0"/>
                <a:cs typeface="Times New Roman" pitchFamily="18" charset="0"/>
                <a:sym typeface="Wingdings" pitchFamily="2" charset="2"/>
              </a:rPr>
              <a:t>Rj</a:t>
            </a:r>
            <a:r>
              <a:rPr lang="en-US" sz="2400" dirty="0" smtClean="0">
                <a:latin typeface="Times New Roman" pitchFamily="18" charset="0"/>
                <a:cs typeface="Times New Roman" pitchFamily="18" charset="0"/>
                <a:sym typeface="Wingdings" pitchFamily="2" charset="2"/>
              </a:rPr>
              <a:t>]</a:t>
            </a:r>
          </a:p>
          <a:p>
            <a:r>
              <a:rPr lang="en-IN" sz="2400" dirty="0">
                <a:latin typeface="Times New Roman" panose="02020603050405020304" pitchFamily="18" charset="0"/>
                <a:cs typeface="Times New Roman" panose="02020603050405020304" pitchFamily="18" charset="0"/>
              </a:rPr>
              <a:t>For example, a second register </a:t>
            </a:r>
            <a:r>
              <a:rPr lang="en-IN" sz="2400" dirty="0" err="1">
                <a:latin typeface="Times New Roman" panose="02020603050405020304" pitchFamily="18" charset="0"/>
                <a:cs typeface="Times New Roman" panose="02020603050405020304" pitchFamily="18" charset="0"/>
              </a:rPr>
              <a:t>R</a:t>
            </a:r>
            <a:r>
              <a:rPr lang="en-IN" sz="2400" i="1" dirty="0" err="1">
                <a:latin typeface="Times New Roman" panose="02020603050405020304" pitchFamily="18" charset="0"/>
                <a:cs typeface="Times New Roman" panose="02020603050405020304" pitchFamily="18" charset="0"/>
              </a:rPr>
              <a:t>j</a:t>
            </a:r>
            <a:r>
              <a:rPr lang="en-IN" sz="2400" i="1" dirty="0">
                <a:latin typeface="Times New Roman" panose="02020603050405020304" pitchFamily="18" charset="0"/>
                <a:cs typeface="Times New Roman" panose="02020603050405020304" pitchFamily="18" charset="0"/>
              </a:rPr>
              <a:t> may be used to contain the offset </a:t>
            </a:r>
            <a:r>
              <a:rPr lang="en-IN" sz="2400" dirty="0">
                <a:latin typeface="Times New Roman" panose="02020603050405020304" pitchFamily="18" charset="0"/>
                <a:cs typeface="Times New Roman" panose="02020603050405020304" pitchFamily="18" charset="0"/>
              </a:rPr>
              <a:t>X, in which case we can write the Index mode as (</a:t>
            </a:r>
            <a:r>
              <a:rPr lang="en-IN" sz="2400" dirty="0" err="1">
                <a:latin typeface="Times New Roman" panose="02020603050405020304" pitchFamily="18" charset="0"/>
                <a:cs typeface="Times New Roman" panose="02020603050405020304" pitchFamily="18" charset="0"/>
              </a:rPr>
              <a:t>R</a:t>
            </a:r>
            <a:r>
              <a:rPr lang="en-IN" sz="2400" i="1" dirty="0" err="1">
                <a:latin typeface="Times New Roman" panose="02020603050405020304" pitchFamily="18" charset="0"/>
                <a:cs typeface="Times New Roman" panose="02020603050405020304" pitchFamily="18" charset="0"/>
              </a:rPr>
              <a:t>i,Rj</a:t>
            </a:r>
            <a:r>
              <a:rPr lang="en-IN" sz="2400" i="1" dirty="0" smtClean="0">
                <a:latin typeface="Times New Roman" panose="02020603050405020304" pitchFamily="18" charset="0"/>
                <a:cs typeface="Times New Roman" panose="02020603050405020304" pitchFamily="18" charset="0"/>
              </a:rPr>
              <a:t>)</a:t>
            </a:r>
          </a:p>
          <a:p>
            <a:r>
              <a:rPr lang="en-IN" sz="2400" i="1" dirty="0" smtClean="0">
                <a:latin typeface="Times New Roman" panose="02020603050405020304" pitchFamily="18" charset="0"/>
                <a:cs typeface="Times New Roman" panose="02020603050405020304" pitchFamily="18" charset="0"/>
              </a:rPr>
              <a:t>	Or</a:t>
            </a:r>
          </a:p>
          <a:p>
            <a:r>
              <a:rPr lang="en-IN" sz="2400" dirty="0" smtClean="0">
                <a:latin typeface="Times New Roman" panose="02020603050405020304" pitchFamily="18" charset="0"/>
                <a:cs typeface="Times New Roman" panose="02020603050405020304" pitchFamily="18" charset="0"/>
              </a:rPr>
              <a:t>	X(</a:t>
            </a:r>
            <a:r>
              <a:rPr lang="en-IN" sz="2400" dirty="0" err="1" smtClean="0">
                <a:latin typeface="Times New Roman" panose="02020603050405020304" pitchFamily="18" charset="0"/>
                <a:cs typeface="Times New Roman" panose="02020603050405020304" pitchFamily="18" charset="0"/>
              </a:rPr>
              <a:t>R</a:t>
            </a:r>
            <a:r>
              <a:rPr lang="en-IN" sz="2400" i="1" dirty="0" err="1" smtClean="0">
                <a:latin typeface="Times New Roman" panose="02020603050405020304" pitchFamily="18" charset="0"/>
                <a:cs typeface="Times New Roman" panose="02020603050405020304" pitchFamily="18" charset="0"/>
              </a:rPr>
              <a:t>i,Rj</a:t>
            </a:r>
            <a:r>
              <a:rPr lang="en-IN" sz="2400" i="1" dirty="0">
                <a:latin typeface="Times New Roman" panose="02020603050405020304" pitchFamily="18" charset="0"/>
                <a:cs typeface="Times New Roman" panose="02020603050405020304" pitchFamily="18" charset="0"/>
              </a:rPr>
              <a:t>)</a:t>
            </a:r>
          </a:p>
          <a:p>
            <a:endParaRPr lang="en-US" sz="2400" dirty="0" smtClean="0">
              <a:latin typeface="Times New Roman" pitchFamily="18" charset="0"/>
              <a:cs typeface="Times New Roman" pitchFamily="18" charset="0"/>
              <a:sym typeface="Wingdings" pitchFamily="2" charset="2"/>
            </a:endParaRPr>
          </a:p>
          <a:p>
            <a:endParaRPr lang="en-US" sz="2400" dirty="0" smtClean="0">
              <a:latin typeface="Times New Roman" pitchFamily="18" charset="0"/>
              <a:cs typeface="Times New Roman" pitchFamily="18" charset="0"/>
              <a:sym typeface="Wingdings" pitchFamily="2" charset="2"/>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8454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2195512" y="891381"/>
            <a:ext cx="4752975" cy="47720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16632"/>
            <a:ext cx="8640960" cy="4247317"/>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Analyze the given code snippet for N=3 and the memory </a:t>
            </a:r>
            <a:r>
              <a:rPr lang="en-US" dirty="0" smtClean="0">
                <a:latin typeface="Times New Roman" panose="02020603050405020304" pitchFamily="18" charset="0"/>
                <a:cs typeface="Times New Roman" panose="02020603050405020304" pitchFamily="18" charset="0"/>
              </a:rPr>
              <a:t>locations </a:t>
            </a:r>
          </a:p>
          <a:p>
            <a:r>
              <a:rPr lang="en-US" dirty="0" smtClean="0">
                <a:latin typeface="Times New Roman" panose="02020603050405020304" pitchFamily="18" charset="0"/>
                <a:cs typeface="Times New Roman" panose="02020603050405020304" pitchFamily="18" charset="0"/>
              </a:rPr>
              <a:t>NUM1=10</a:t>
            </a:r>
            <a:r>
              <a:rPr lang="en-US" dirty="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NUM1+4=12</a:t>
            </a:r>
          </a:p>
          <a:p>
            <a:r>
              <a:rPr lang="en-US" dirty="0" smtClean="0">
                <a:latin typeface="Times New Roman" panose="02020603050405020304" pitchFamily="18" charset="0"/>
                <a:cs typeface="Times New Roman" panose="02020603050405020304" pitchFamily="18" charset="0"/>
              </a:rPr>
              <a:t>NUM1+8 </a:t>
            </a:r>
            <a:r>
              <a:rPr lang="en-US" dirty="0">
                <a:latin typeface="Times New Roman" panose="02020603050405020304" pitchFamily="18" charset="0"/>
                <a:cs typeface="Times New Roman" panose="02020603050405020304" pitchFamily="18" charset="0"/>
              </a:rPr>
              <a:t>= 22.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Find </a:t>
            </a:r>
            <a:r>
              <a:rPr lang="en-US" dirty="0">
                <a:latin typeface="Times New Roman" panose="02020603050405020304" pitchFamily="18" charset="0"/>
                <a:cs typeface="Times New Roman" panose="02020603050405020304" pitchFamily="18" charset="0"/>
              </a:rPr>
              <a:t>the value stored in Sum memory </a:t>
            </a:r>
            <a:r>
              <a:rPr lang="en-US" dirty="0" smtClean="0">
                <a:latin typeface="Times New Roman" panose="02020603050405020304" pitchFamily="18" charset="0"/>
                <a:cs typeface="Times New Roman" panose="02020603050405020304" pitchFamily="18" charset="0"/>
              </a:rPr>
              <a:t>location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Load R2, N</a:t>
            </a:r>
          </a:p>
          <a:p>
            <a:r>
              <a:rPr lang="en-US" dirty="0">
                <a:latin typeface="Times New Roman" panose="02020603050405020304" pitchFamily="18" charset="0"/>
                <a:cs typeface="Times New Roman" panose="02020603050405020304" pitchFamily="18" charset="0"/>
              </a:rPr>
              <a:t>Clear R3</a:t>
            </a:r>
          </a:p>
          <a:p>
            <a:r>
              <a:rPr lang="en-US" dirty="0">
                <a:latin typeface="Times New Roman" panose="02020603050405020304" pitchFamily="18" charset="0"/>
                <a:cs typeface="Times New Roman" panose="02020603050405020304" pitchFamily="18" charset="0"/>
              </a:rPr>
              <a:t>Move R4, #NUM1</a:t>
            </a:r>
          </a:p>
          <a:p>
            <a:r>
              <a:rPr lang="en-US" dirty="0">
                <a:latin typeface="Times New Roman" panose="02020603050405020304" pitchFamily="18" charset="0"/>
                <a:cs typeface="Times New Roman" panose="02020603050405020304" pitchFamily="18" charset="0"/>
              </a:rPr>
              <a:t>LOOP: Load R5, (R4)</a:t>
            </a:r>
          </a:p>
          <a:p>
            <a:r>
              <a:rPr lang="en-US" dirty="0">
                <a:latin typeface="Times New Roman" panose="02020603050405020304" pitchFamily="18" charset="0"/>
                <a:cs typeface="Times New Roman" panose="02020603050405020304" pitchFamily="18" charset="0"/>
              </a:rPr>
              <a:t>Add R3, R3, R5</a:t>
            </a:r>
          </a:p>
          <a:p>
            <a:r>
              <a:rPr lang="en-US" dirty="0">
                <a:latin typeface="Times New Roman" panose="02020603050405020304" pitchFamily="18" charset="0"/>
                <a:cs typeface="Times New Roman" panose="02020603050405020304" pitchFamily="18" charset="0"/>
              </a:rPr>
              <a:t>Add R4, R4, #4</a:t>
            </a:r>
          </a:p>
          <a:p>
            <a:r>
              <a:rPr lang="en-US" dirty="0">
                <a:latin typeface="Times New Roman" panose="02020603050405020304" pitchFamily="18" charset="0"/>
                <a:cs typeface="Times New Roman" panose="02020603050405020304" pitchFamily="18" charset="0"/>
              </a:rPr>
              <a:t>Subtract R2, R2, #1</a:t>
            </a:r>
          </a:p>
          <a:p>
            <a:r>
              <a:rPr lang="en-US" dirty="0" err="1">
                <a:latin typeface="Times New Roman" panose="02020603050405020304" pitchFamily="18" charset="0"/>
                <a:cs typeface="Times New Roman" panose="02020603050405020304" pitchFamily="18" charset="0"/>
              </a:rPr>
              <a:t>Branch_if</a:t>
            </a:r>
            <a:r>
              <a:rPr lang="en-US" dirty="0">
                <a:latin typeface="Times New Roman" panose="02020603050405020304" pitchFamily="18" charset="0"/>
                <a:cs typeface="Times New Roman" panose="02020603050405020304" pitchFamily="18" charset="0"/>
              </a:rPr>
              <a:t>_[R2]&gt;0 LOOP</a:t>
            </a:r>
          </a:p>
          <a:p>
            <a:r>
              <a:rPr lang="en-US" dirty="0">
                <a:latin typeface="Times New Roman" panose="02020603050405020304" pitchFamily="18" charset="0"/>
                <a:cs typeface="Times New Roman" panose="02020603050405020304" pitchFamily="18" charset="0"/>
              </a:rPr>
              <a:t>Store R3, SUM</a:t>
            </a:r>
          </a:p>
        </p:txBody>
      </p:sp>
    </p:spTree>
    <p:extLst>
      <p:ext uri="{BB962C8B-B14F-4D97-AF65-F5344CB8AC3E}">
        <p14:creationId xmlns:p14="http://schemas.microsoft.com/office/powerpoint/2010/main" val="30422461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466754" y="500042"/>
            <a:ext cx="7910107" cy="56436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5536" y="116632"/>
            <a:ext cx="8640960" cy="4247317"/>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Analyze the given code snippet for N=3 and the memory </a:t>
            </a:r>
            <a:r>
              <a:rPr lang="en-US" dirty="0" smtClean="0">
                <a:latin typeface="Times New Roman" panose="02020603050405020304" pitchFamily="18" charset="0"/>
                <a:cs typeface="Times New Roman" panose="02020603050405020304" pitchFamily="18" charset="0"/>
              </a:rPr>
              <a:t>locations </a:t>
            </a:r>
          </a:p>
          <a:p>
            <a:r>
              <a:rPr lang="en-US" dirty="0" smtClean="0">
                <a:latin typeface="Times New Roman" panose="02020603050405020304" pitchFamily="18" charset="0"/>
                <a:cs typeface="Times New Roman" panose="02020603050405020304" pitchFamily="18" charset="0"/>
              </a:rPr>
              <a:t>NUM1=10</a:t>
            </a:r>
            <a:r>
              <a:rPr lang="en-US" dirty="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NUM1+4=12</a:t>
            </a:r>
          </a:p>
          <a:p>
            <a:r>
              <a:rPr lang="en-US" dirty="0" smtClean="0">
                <a:latin typeface="Times New Roman" panose="02020603050405020304" pitchFamily="18" charset="0"/>
                <a:cs typeface="Times New Roman" panose="02020603050405020304" pitchFamily="18" charset="0"/>
              </a:rPr>
              <a:t>NUM1+8 </a:t>
            </a:r>
            <a:r>
              <a:rPr lang="en-US" dirty="0">
                <a:latin typeface="Times New Roman" panose="02020603050405020304" pitchFamily="18" charset="0"/>
                <a:cs typeface="Times New Roman" panose="02020603050405020304" pitchFamily="18" charset="0"/>
              </a:rPr>
              <a:t>= 22.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Find </a:t>
            </a:r>
            <a:r>
              <a:rPr lang="en-US" dirty="0">
                <a:latin typeface="Times New Roman" panose="02020603050405020304" pitchFamily="18" charset="0"/>
                <a:cs typeface="Times New Roman" panose="02020603050405020304" pitchFamily="18" charset="0"/>
              </a:rPr>
              <a:t>the value stored in Sum memory </a:t>
            </a:r>
            <a:r>
              <a:rPr lang="en-US" dirty="0" smtClean="0">
                <a:latin typeface="Times New Roman" panose="02020603050405020304" pitchFamily="18" charset="0"/>
                <a:cs typeface="Times New Roman" panose="02020603050405020304" pitchFamily="18" charset="0"/>
              </a:rPr>
              <a:t>location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Load R2, N</a:t>
            </a:r>
          </a:p>
          <a:p>
            <a:r>
              <a:rPr lang="en-US" dirty="0">
                <a:latin typeface="Times New Roman" panose="02020603050405020304" pitchFamily="18" charset="0"/>
                <a:cs typeface="Times New Roman" panose="02020603050405020304" pitchFamily="18" charset="0"/>
              </a:rPr>
              <a:t>Clear R3</a:t>
            </a:r>
          </a:p>
          <a:p>
            <a:r>
              <a:rPr lang="en-US" dirty="0">
                <a:latin typeface="Times New Roman" panose="02020603050405020304" pitchFamily="18" charset="0"/>
                <a:cs typeface="Times New Roman" panose="02020603050405020304" pitchFamily="18" charset="0"/>
              </a:rPr>
              <a:t>Move R4, #NUM1</a:t>
            </a:r>
          </a:p>
          <a:p>
            <a:r>
              <a:rPr lang="en-US" dirty="0">
                <a:latin typeface="Times New Roman" panose="02020603050405020304" pitchFamily="18" charset="0"/>
                <a:cs typeface="Times New Roman" panose="02020603050405020304" pitchFamily="18" charset="0"/>
              </a:rPr>
              <a:t>LOOP: Load R5, (R4)</a:t>
            </a:r>
          </a:p>
          <a:p>
            <a:r>
              <a:rPr lang="en-US" dirty="0">
                <a:latin typeface="Times New Roman" panose="02020603050405020304" pitchFamily="18" charset="0"/>
                <a:cs typeface="Times New Roman" panose="02020603050405020304" pitchFamily="18" charset="0"/>
              </a:rPr>
              <a:t>Add R3, R3, R5</a:t>
            </a:r>
          </a:p>
          <a:p>
            <a:r>
              <a:rPr lang="en-US" dirty="0">
                <a:latin typeface="Times New Roman" panose="02020603050405020304" pitchFamily="18" charset="0"/>
                <a:cs typeface="Times New Roman" panose="02020603050405020304" pitchFamily="18" charset="0"/>
              </a:rPr>
              <a:t>Add R4, R4, #4</a:t>
            </a:r>
          </a:p>
          <a:p>
            <a:r>
              <a:rPr lang="en-US" dirty="0">
                <a:latin typeface="Times New Roman" panose="02020603050405020304" pitchFamily="18" charset="0"/>
                <a:cs typeface="Times New Roman" panose="02020603050405020304" pitchFamily="18" charset="0"/>
              </a:rPr>
              <a:t>Subtract R2, R2, #1</a:t>
            </a:r>
          </a:p>
          <a:p>
            <a:r>
              <a:rPr lang="en-US" dirty="0" err="1">
                <a:latin typeface="Times New Roman" panose="02020603050405020304" pitchFamily="18" charset="0"/>
                <a:cs typeface="Times New Roman" panose="02020603050405020304" pitchFamily="18" charset="0"/>
              </a:rPr>
              <a:t>Branch_if</a:t>
            </a:r>
            <a:r>
              <a:rPr lang="en-US" dirty="0">
                <a:latin typeface="Times New Roman" panose="02020603050405020304" pitchFamily="18" charset="0"/>
                <a:cs typeface="Times New Roman" panose="02020603050405020304" pitchFamily="18" charset="0"/>
              </a:rPr>
              <a:t>_[R2]&gt;0 LOOP</a:t>
            </a:r>
          </a:p>
          <a:p>
            <a:r>
              <a:rPr lang="en-US" dirty="0">
                <a:latin typeface="Times New Roman" panose="02020603050405020304" pitchFamily="18" charset="0"/>
                <a:cs typeface="Times New Roman" panose="02020603050405020304" pitchFamily="18" charset="0"/>
              </a:rPr>
              <a:t>Store R3, SUM</a:t>
            </a:r>
          </a:p>
        </p:txBody>
      </p:sp>
    </p:spTree>
    <p:extLst>
      <p:ext uri="{BB962C8B-B14F-4D97-AF65-F5344CB8AC3E}">
        <p14:creationId xmlns:p14="http://schemas.microsoft.com/office/powerpoint/2010/main" val="20045157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490066"/>
          </a:xfrm>
        </p:spPr>
        <p:txBody>
          <a:bodyPr>
            <a:normAutofit fontScale="90000"/>
          </a:bodyPr>
          <a:lstStyle/>
          <a:p>
            <a:r>
              <a:rPr lang="en-IN" b="1" dirty="0">
                <a:solidFill>
                  <a:srgbClr val="C00000"/>
                </a:solidFill>
                <a:latin typeface="Times New Roman" panose="02020603050405020304" pitchFamily="18" charset="0"/>
                <a:cs typeface="Times New Roman" panose="02020603050405020304" pitchFamily="18" charset="0"/>
              </a:rPr>
              <a:t>Assembler Directives</a:t>
            </a: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764704"/>
            <a:ext cx="8229600" cy="5976664"/>
          </a:xfrm>
        </p:spPr>
        <p:txBody>
          <a:bodyPr>
            <a:normAutofit fontScale="92500" lnSpcReduction="10000"/>
          </a:bodyPr>
          <a:lstStyle/>
          <a:p>
            <a:pPr algn="just" fontAlgn="auto"/>
            <a:r>
              <a:rPr lang="en-US" sz="2400" dirty="0">
                <a:latin typeface="Times New Roman" panose="02020603050405020304" pitchFamily="18" charset="0"/>
                <a:cs typeface="Times New Roman" panose="02020603050405020304" pitchFamily="18" charset="0"/>
              </a:rPr>
              <a:t>To assemble a program automatically the </a:t>
            </a:r>
            <a:r>
              <a:rPr lang="en-US" sz="2400" dirty="0" smtClean="0">
                <a:latin typeface="Times New Roman" panose="02020603050405020304" pitchFamily="18" charset="0"/>
                <a:cs typeface="Times New Roman" panose="02020603050405020304" pitchFamily="18" charset="0"/>
              </a:rPr>
              <a:t>assembler needs  information </a:t>
            </a:r>
            <a:r>
              <a:rPr lang="en-US" sz="2400" dirty="0">
                <a:latin typeface="Times New Roman" panose="02020603050405020304" pitchFamily="18" charset="0"/>
                <a:cs typeface="Times New Roman" panose="02020603050405020304" pitchFamily="18" charset="0"/>
              </a:rPr>
              <a:t>in the form of assembler directives that controls the </a:t>
            </a:r>
            <a:r>
              <a:rPr lang="en-US" sz="2400" dirty="0" smtClean="0">
                <a:latin typeface="Times New Roman" panose="02020603050405020304" pitchFamily="18" charset="0"/>
                <a:cs typeface="Times New Roman" panose="02020603050405020304" pitchFamily="18" charset="0"/>
              </a:rPr>
              <a:t> assembly</a:t>
            </a:r>
            <a:r>
              <a:rPr lang="en-US" sz="2400" dirty="0">
                <a:latin typeface="Times New Roman" panose="02020603050405020304" pitchFamily="18" charset="0"/>
                <a:cs typeface="Times New Roman" panose="02020603050405020304" pitchFamily="18" charset="0"/>
              </a:rPr>
              <a:t>. </a:t>
            </a:r>
          </a:p>
          <a:p>
            <a:pPr algn="just" fontAlgn="auto"/>
            <a:r>
              <a:rPr lang="en-US" sz="2400" dirty="0" smtClean="0">
                <a:latin typeface="Times New Roman" panose="02020603050405020304" pitchFamily="18" charset="0"/>
                <a:cs typeface="Times New Roman" panose="02020603050405020304" pitchFamily="18" charset="0"/>
              </a:rPr>
              <a:t>These </a:t>
            </a:r>
            <a:r>
              <a:rPr lang="en-US" sz="2400" dirty="0">
                <a:latin typeface="Times New Roman" panose="02020603050405020304" pitchFamily="18" charset="0"/>
                <a:cs typeface="Times New Roman" panose="02020603050405020304" pitchFamily="18" charset="0"/>
              </a:rPr>
              <a:t>assembler directives are </a:t>
            </a:r>
            <a:r>
              <a:rPr lang="en-US" sz="2400" dirty="0" smtClean="0">
                <a:latin typeface="Times New Roman" panose="02020603050405020304" pitchFamily="18" charset="0"/>
                <a:cs typeface="Times New Roman" panose="02020603050405020304" pitchFamily="18" charset="0"/>
              </a:rPr>
              <a:t>command </a:t>
            </a:r>
            <a:r>
              <a:rPr lang="en-US" sz="2400" dirty="0">
                <a:latin typeface="Times New Roman" panose="02020603050405020304" pitchFamily="18" charset="0"/>
                <a:cs typeface="Times New Roman" panose="02020603050405020304" pitchFamily="18" charset="0"/>
              </a:rPr>
              <a:t>placed in the program by the designer that provides </a:t>
            </a:r>
            <a:r>
              <a:rPr lang="en-US" sz="2400" dirty="0" smtClean="0">
                <a:latin typeface="Times New Roman" panose="02020603050405020304" pitchFamily="18" charset="0"/>
                <a:cs typeface="Times New Roman" panose="02020603050405020304" pitchFamily="18" charset="0"/>
              </a:rPr>
              <a:t>information </a:t>
            </a:r>
            <a:r>
              <a:rPr lang="en-US" sz="2400" dirty="0">
                <a:latin typeface="Times New Roman" panose="02020603050405020304" pitchFamily="18" charset="0"/>
                <a:cs typeface="Times New Roman" panose="02020603050405020304" pitchFamily="18" charset="0"/>
              </a:rPr>
              <a:t>to the assembler.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They </a:t>
            </a:r>
            <a:r>
              <a:rPr lang="en-US" sz="2400" dirty="0">
                <a:latin typeface="Times New Roman" panose="02020603050405020304" pitchFamily="18" charset="0"/>
                <a:cs typeface="Times New Roman" panose="02020603050405020304" pitchFamily="18" charset="0"/>
              </a:rPr>
              <a:t>do not become part of the final </a:t>
            </a:r>
            <a:r>
              <a:rPr lang="en-US" sz="2400" dirty="0" smtClean="0">
                <a:latin typeface="Times New Roman" panose="02020603050405020304" pitchFamily="18" charset="0"/>
                <a:cs typeface="Times New Roman" panose="02020603050405020304" pitchFamily="18" charset="0"/>
              </a:rPr>
              <a:t>program </a:t>
            </a:r>
            <a:r>
              <a:rPr lang="en-US" sz="2400" dirty="0">
                <a:latin typeface="Times New Roman" panose="02020603050405020304" pitchFamily="18" charset="0"/>
                <a:cs typeface="Times New Roman" panose="02020603050405020304" pitchFamily="18" charset="0"/>
              </a:rPr>
              <a:t>as they are not the part of the instruction set of the </a:t>
            </a:r>
            <a:r>
              <a:rPr lang="en-US" sz="2400" dirty="0" smtClean="0">
                <a:latin typeface="Times New Roman" panose="02020603050405020304" pitchFamily="18" charset="0"/>
                <a:cs typeface="Times New Roman" panose="02020603050405020304" pitchFamily="18" charset="0"/>
              </a:rPr>
              <a:t>microprocessor </a:t>
            </a:r>
            <a:r>
              <a:rPr lang="en-US" sz="2400" dirty="0">
                <a:latin typeface="Times New Roman" panose="02020603050405020304" pitchFamily="18" charset="0"/>
                <a:cs typeface="Times New Roman" panose="02020603050405020304" pitchFamily="18" charset="0"/>
              </a:rPr>
              <a:t>nor did they translate into executable code. </a:t>
            </a:r>
          </a:p>
          <a:p>
            <a:pPr algn="just" fontAlgn="auto"/>
            <a:r>
              <a:rPr lang="en-US" sz="2400" dirty="0" smtClean="0">
                <a:latin typeface="Times New Roman" panose="02020603050405020304" pitchFamily="18" charset="0"/>
                <a:cs typeface="Times New Roman" panose="02020603050405020304" pitchFamily="18" charset="0"/>
              </a:rPr>
              <a:t>They </a:t>
            </a:r>
            <a:r>
              <a:rPr lang="en-US" sz="2400" dirty="0">
                <a:latin typeface="Times New Roman" panose="02020603050405020304" pitchFamily="18" charset="0"/>
                <a:cs typeface="Times New Roman" panose="02020603050405020304" pitchFamily="18" charset="0"/>
              </a:rPr>
              <a:t>are also known as pseudo-instruction </a:t>
            </a:r>
            <a:r>
              <a:rPr lang="en-US" sz="2400" dirty="0" smtClean="0">
                <a:latin typeface="Times New Roman" panose="02020603050405020304" pitchFamily="18" charset="0"/>
                <a:cs typeface="Times New Roman" panose="02020603050405020304" pitchFamily="18" charset="0"/>
              </a:rPr>
              <a:t>or </a:t>
            </a:r>
            <a:r>
              <a:rPr lang="en-US" sz="2400" dirty="0">
                <a:latin typeface="Times New Roman" panose="02020603050405020304" pitchFamily="18" charset="0"/>
                <a:cs typeface="Times New Roman" panose="02020603050405020304" pitchFamily="18" charset="0"/>
              </a:rPr>
              <a:t>false </a:t>
            </a:r>
            <a:r>
              <a:rPr lang="en-US" sz="2400" dirty="0" smtClean="0">
                <a:latin typeface="Times New Roman" panose="02020603050405020304" pitchFamily="18" charset="0"/>
                <a:cs typeface="Times New Roman" panose="02020603050405020304" pitchFamily="18" charset="0"/>
              </a:rPr>
              <a:t>instructions.</a:t>
            </a:r>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In </a:t>
            </a:r>
            <a:r>
              <a:rPr lang="en-IN" sz="2400" dirty="0">
                <a:latin typeface="Times New Roman" panose="02020603050405020304" pitchFamily="18" charset="0"/>
                <a:cs typeface="Times New Roman" panose="02020603050405020304" pitchFamily="18" charset="0"/>
              </a:rPr>
              <a:t>addition to providing a mechanism for representing instructions in a program, </a:t>
            </a:r>
            <a:r>
              <a:rPr lang="en-IN" sz="2400" dirty="0" smtClean="0">
                <a:latin typeface="Times New Roman" panose="02020603050405020304" pitchFamily="18" charset="0"/>
                <a:cs typeface="Times New Roman" panose="02020603050405020304" pitchFamily="18" charset="0"/>
              </a:rPr>
              <a:t>assembly language </a:t>
            </a:r>
            <a:r>
              <a:rPr lang="en-IN" sz="2400" dirty="0">
                <a:latin typeface="Times New Roman" panose="02020603050405020304" pitchFamily="18" charset="0"/>
                <a:cs typeface="Times New Roman" panose="02020603050405020304" pitchFamily="18" charset="0"/>
              </a:rPr>
              <a:t>allows the programmer to specify other information needed to translate the </a:t>
            </a:r>
            <a:r>
              <a:rPr lang="en-IN" sz="2400" dirty="0" smtClean="0">
                <a:latin typeface="Times New Roman" panose="02020603050405020304" pitchFamily="18" charset="0"/>
                <a:cs typeface="Times New Roman" panose="02020603050405020304" pitchFamily="18" charset="0"/>
              </a:rPr>
              <a:t>source program </a:t>
            </a:r>
            <a:r>
              <a:rPr lang="en-IN" sz="2400" dirty="0">
                <a:latin typeface="Times New Roman" panose="02020603050405020304" pitchFamily="18" charset="0"/>
                <a:cs typeface="Times New Roman" panose="02020603050405020304" pitchFamily="18" charset="0"/>
              </a:rPr>
              <a:t>into the object </a:t>
            </a:r>
            <a:r>
              <a:rPr lang="en-IN" sz="2400" dirty="0" smtClean="0">
                <a:latin typeface="Times New Roman" panose="02020603050405020304" pitchFamily="18" charset="0"/>
                <a:cs typeface="Times New Roman" panose="02020603050405020304" pitchFamily="18" charset="0"/>
              </a:rPr>
              <a:t>program using </a:t>
            </a:r>
            <a:r>
              <a:rPr lang="en-IN" sz="2400" dirty="0" smtClean="0">
                <a:solidFill>
                  <a:srgbClr val="C00000"/>
                </a:solidFill>
                <a:latin typeface="Times New Roman" panose="02020603050405020304" pitchFamily="18" charset="0"/>
                <a:cs typeface="Times New Roman" panose="02020603050405020304" pitchFamily="18" charset="0"/>
              </a:rPr>
              <a:t>Assembler Directives.</a:t>
            </a:r>
          </a:p>
          <a:p>
            <a:pPr algn="just" fontAlgn="auto"/>
            <a:r>
              <a:rPr lang="en-US" sz="2400" dirty="0">
                <a:latin typeface="Times New Roman" panose="02020603050405020304" pitchFamily="18" charset="0"/>
                <a:cs typeface="Times New Roman" panose="02020603050405020304" pitchFamily="18" charset="0"/>
              </a:rPr>
              <a:t>Each assembler has its own unique pseudo instructions or </a:t>
            </a:r>
            <a:r>
              <a:rPr lang="en-US" sz="2400" dirty="0" smtClean="0">
                <a:latin typeface="Times New Roman" panose="02020603050405020304" pitchFamily="18" charset="0"/>
                <a:cs typeface="Times New Roman" panose="02020603050405020304" pitchFamily="18" charset="0"/>
              </a:rPr>
              <a:t>assembler </a:t>
            </a:r>
            <a:r>
              <a:rPr lang="en-US" sz="2400" dirty="0">
                <a:latin typeface="Times New Roman" panose="02020603050405020304" pitchFamily="18" charset="0"/>
                <a:cs typeface="Times New Roman" panose="02020603050405020304" pitchFamily="18" charset="0"/>
              </a:rPr>
              <a:t>directives. </a:t>
            </a:r>
            <a:endParaRPr lang="en-US" sz="2400" dirty="0" smtClean="0">
              <a:latin typeface="Times New Roman" panose="02020603050405020304" pitchFamily="18" charset="0"/>
              <a:cs typeface="Times New Roman" panose="02020603050405020304" pitchFamily="18" charset="0"/>
            </a:endParaRPr>
          </a:p>
          <a:p>
            <a:pPr algn="just" fontAlgn="auto"/>
            <a:r>
              <a:rPr lang="en-US" sz="2400" dirty="0" smtClean="0">
                <a:latin typeface="Times New Roman" panose="02020603050405020304" pitchFamily="18" charset="0"/>
                <a:cs typeface="Times New Roman" panose="02020603050405020304" pitchFamily="18" charset="0"/>
              </a:rPr>
              <a:t>These </a:t>
            </a:r>
            <a:r>
              <a:rPr lang="en-US" sz="2400" dirty="0">
                <a:latin typeface="Times New Roman" panose="02020603050405020304" pitchFamily="18" charset="0"/>
                <a:cs typeface="Times New Roman" panose="02020603050405020304" pitchFamily="18" charset="0"/>
              </a:rPr>
              <a:t>instructions differ from assembler to </a:t>
            </a:r>
            <a:r>
              <a:rPr lang="en-US" sz="2400" dirty="0" smtClean="0">
                <a:latin typeface="Times New Roman" panose="02020603050405020304" pitchFamily="18" charset="0"/>
                <a:cs typeface="Times New Roman" panose="02020603050405020304" pitchFamily="18" charset="0"/>
              </a:rPr>
              <a:t>assembler </a:t>
            </a:r>
            <a:r>
              <a:rPr lang="en-US" sz="2400" dirty="0">
                <a:latin typeface="Times New Roman" panose="02020603050405020304" pitchFamily="18" charset="0"/>
                <a:cs typeface="Times New Roman" panose="02020603050405020304" pitchFamily="18" charset="0"/>
              </a:rPr>
              <a:t>but most of the assembler contains an equivalent set of </a:t>
            </a:r>
            <a:r>
              <a:rPr lang="en-US" sz="2400" dirty="0" smtClean="0">
                <a:latin typeface="Times New Roman" panose="02020603050405020304" pitchFamily="18" charset="0"/>
                <a:cs typeface="Times New Roman" panose="02020603050405020304" pitchFamily="18" charset="0"/>
              </a:rPr>
              <a:t>pseudo </a:t>
            </a:r>
            <a:r>
              <a:rPr lang="en-US" sz="2400" dirty="0">
                <a:latin typeface="Times New Roman" panose="02020603050405020304" pitchFamily="18" charset="0"/>
                <a:cs typeface="Times New Roman" panose="02020603050405020304" pitchFamily="18" charset="0"/>
              </a:rPr>
              <a:t>instructions written in assembly language format.</a:t>
            </a:r>
          </a:p>
          <a:p>
            <a:pPr algn="just"/>
            <a:endParaRPr lang="en-IN" sz="2400" dirty="0" smtClean="0">
              <a:solidFill>
                <a:srgbClr val="C00000"/>
              </a:solidFill>
              <a:latin typeface="Times New Roman" panose="02020603050405020304" pitchFamily="18" charset="0"/>
              <a:cs typeface="Times New Roman" panose="02020603050405020304" pitchFamily="18" charset="0"/>
            </a:endParaRPr>
          </a:p>
          <a:p>
            <a:pPr algn="just"/>
            <a:endParaRPr lang="en-IN" sz="24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88640"/>
            <a:ext cx="8712968" cy="5293757"/>
          </a:xfrm>
          <a:prstGeom prst="rect">
            <a:avLst/>
          </a:prstGeom>
        </p:spPr>
        <p:txBody>
          <a:bodyPr wrap="square">
            <a:spAutoFit/>
          </a:bodyPr>
          <a:lstStyle/>
          <a:p>
            <a:pPr algn="just"/>
            <a:endParaRPr lang="en-IN" dirty="0" smtClean="0">
              <a:latin typeface="Times New Roman" panose="02020603050405020304" pitchFamily="18" charset="0"/>
              <a:cs typeface="Times New Roman" panose="02020603050405020304" pitchFamily="18" charset="0"/>
            </a:endParaRPr>
          </a:p>
          <a:p>
            <a:pPr algn="just" fontAlgn="auto"/>
            <a:r>
              <a:rPr lang="en-US" sz="2000" dirty="0">
                <a:solidFill>
                  <a:srgbClr val="C00000"/>
                </a:solidFill>
                <a:latin typeface="Times New Roman" panose="02020603050405020304" pitchFamily="18" charset="0"/>
                <a:cs typeface="Times New Roman" panose="02020603050405020304" pitchFamily="18" charset="0"/>
              </a:rPr>
              <a:t>ORG: </a:t>
            </a:r>
            <a:endParaRPr lang="en-US" sz="2000" dirty="0" smtClean="0">
              <a:solidFill>
                <a:srgbClr val="C00000"/>
              </a:solidFill>
              <a:latin typeface="Times New Roman" panose="02020603050405020304" pitchFamily="18" charset="0"/>
              <a:cs typeface="Times New Roman" panose="02020603050405020304" pitchFamily="18" charset="0"/>
            </a:endParaRPr>
          </a:p>
          <a:p>
            <a:pPr marL="342900" indent="-342900" algn="just" fontAlgn="auto">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origin (ORG) instruction tells the assembler the </a:t>
            </a:r>
            <a:r>
              <a:rPr lang="en-US" sz="2000" dirty="0" smtClean="0">
                <a:latin typeface="Times New Roman" panose="02020603050405020304" pitchFamily="18" charset="0"/>
                <a:cs typeface="Times New Roman" panose="02020603050405020304" pitchFamily="18" charset="0"/>
              </a:rPr>
              <a:t>address </a:t>
            </a:r>
            <a:r>
              <a:rPr lang="en-US" sz="2000" dirty="0">
                <a:latin typeface="Times New Roman" panose="02020603050405020304" pitchFamily="18" charset="0"/>
                <a:cs typeface="Times New Roman" panose="02020603050405020304" pitchFamily="18" charset="0"/>
              </a:rPr>
              <a:t>of the memory location for the next instruction or data byte </a:t>
            </a:r>
            <a:r>
              <a:rPr lang="en-US" sz="2000" dirty="0" smtClean="0">
                <a:latin typeface="Times New Roman" panose="02020603050405020304" pitchFamily="18" charset="0"/>
                <a:cs typeface="Times New Roman" panose="02020603050405020304" pitchFamily="18" charset="0"/>
              </a:rPr>
              <a:t>should </a:t>
            </a:r>
            <a:r>
              <a:rPr lang="en-US" sz="2000" dirty="0">
                <a:latin typeface="Times New Roman" panose="02020603050405020304" pitchFamily="18" charset="0"/>
                <a:cs typeface="Times New Roman" panose="02020603050405020304" pitchFamily="18" charset="0"/>
              </a:rPr>
              <a:t>be assembled. </a:t>
            </a:r>
            <a:endParaRPr lang="en-US" sz="2000" dirty="0" smtClean="0">
              <a:latin typeface="Times New Roman" panose="02020603050405020304" pitchFamily="18" charset="0"/>
              <a:cs typeface="Times New Roman" panose="02020603050405020304" pitchFamily="18" charset="0"/>
            </a:endParaRPr>
          </a:p>
          <a:p>
            <a:pPr marL="342900" indent="-342900" algn="just" fontAlgn="auto">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ORG </a:t>
            </a:r>
            <a:r>
              <a:rPr lang="en-US" sz="2000" dirty="0">
                <a:latin typeface="Times New Roman" panose="02020603050405020304" pitchFamily="18" charset="0"/>
                <a:cs typeface="Times New Roman" panose="02020603050405020304" pitchFamily="18" charset="0"/>
              </a:rPr>
              <a:t>is entered at the beginning of a program</a:t>
            </a:r>
            <a:r>
              <a:rPr lang="en-US" sz="2000" dirty="0" smtClean="0">
                <a:latin typeface="Times New Roman" panose="02020603050405020304" pitchFamily="18" charset="0"/>
                <a:cs typeface="Times New Roman" panose="02020603050405020304" pitchFamily="18" charset="0"/>
              </a:rPr>
              <a:t>.</a:t>
            </a:r>
          </a:p>
          <a:p>
            <a:pPr marL="342900" indent="-342900" algn="just" fontAlgn="auto">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origin instruction has </a:t>
            </a: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following form, </a:t>
            </a:r>
          </a:p>
          <a:p>
            <a:pPr algn="just" fontAlgn="auto"/>
            <a:r>
              <a:rPr lang="en-US" sz="2000" dirty="0" smtClean="0">
                <a:latin typeface="Times New Roman" panose="02020603050405020304" pitchFamily="18" charset="0"/>
                <a:cs typeface="Times New Roman" panose="02020603050405020304" pitchFamily="18" charset="0"/>
              </a:rPr>
              <a:t>	</a:t>
            </a:r>
            <a:r>
              <a:rPr lang="en-US" sz="2000" dirty="0" smtClean="0">
                <a:solidFill>
                  <a:srgbClr val="C00000"/>
                </a:solidFill>
                <a:latin typeface="Times New Roman" panose="02020603050405020304" pitchFamily="18" charset="0"/>
                <a:cs typeface="Times New Roman" panose="02020603050405020304" pitchFamily="18" charset="0"/>
              </a:rPr>
              <a:t>ORG expression</a:t>
            </a:r>
          </a:p>
          <a:p>
            <a:pPr fontAlgn="auto"/>
            <a:r>
              <a:rPr lang="en-US" sz="2000" dirty="0" smtClean="0">
                <a:latin typeface="Times New Roman" panose="02020603050405020304" pitchFamily="18" charset="0"/>
                <a:cs typeface="Times New Roman" panose="02020603050405020304" pitchFamily="18" charset="0"/>
              </a:rPr>
              <a:t>	where </a:t>
            </a:r>
            <a:r>
              <a:rPr lang="en-US" sz="2000" dirty="0">
                <a:latin typeface="Times New Roman" panose="02020603050405020304" pitchFamily="18" charset="0"/>
                <a:cs typeface="Times New Roman" panose="02020603050405020304" pitchFamily="18" charset="0"/>
              </a:rPr>
              <a:t>expression evaluates to a 16-bit address, i.e., ORG is </a:t>
            </a:r>
            <a:r>
              <a:rPr lang="en-US" sz="2000" dirty="0" smtClean="0">
                <a:latin typeface="Times New Roman" panose="02020603050405020304" pitchFamily="18" charset="0"/>
                <a:cs typeface="Times New Roman" panose="02020603050405020304" pitchFamily="18" charset="0"/>
              </a:rPr>
              <a:t>followed </a:t>
            </a:r>
            <a:r>
              <a:rPr lang="en-US" sz="2000" dirty="0">
                <a:latin typeface="Times New Roman" panose="02020603050405020304" pitchFamily="18" charset="0"/>
                <a:cs typeface="Times New Roman" panose="02020603050405020304" pitchFamily="18" charset="0"/>
              </a:rPr>
              <a:t>by </a:t>
            </a:r>
            <a:r>
              <a:rPr lang="en-US" sz="2000" dirty="0" smtClean="0">
                <a:latin typeface="Times New Roman" panose="02020603050405020304" pitchFamily="18" charset="0"/>
                <a:cs typeface="Times New Roman" panose="02020603050405020304" pitchFamily="18" charset="0"/>
              </a:rPr>
              <a:t>	an </a:t>
            </a:r>
            <a:r>
              <a:rPr lang="en-US" sz="2000" dirty="0">
                <a:latin typeface="Times New Roman" panose="02020603050405020304" pitchFamily="18" charset="0"/>
                <a:cs typeface="Times New Roman" panose="02020603050405020304" pitchFamily="18" charset="0"/>
              </a:rPr>
              <a:t>address</a:t>
            </a:r>
            <a:r>
              <a:rPr lang="en-US" sz="2000" dirty="0" smtClean="0">
                <a:latin typeface="Times New Roman" panose="02020603050405020304" pitchFamily="18" charset="0"/>
                <a:cs typeface="Times New Roman" panose="02020603050405020304" pitchFamily="18" charset="0"/>
              </a:rPr>
              <a:t>.</a:t>
            </a:r>
          </a:p>
          <a:p>
            <a:pPr marL="342900" indent="-342900" fontAlgn="auto">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If no origin pseudo instruction appears before </a:t>
            </a: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first instruction in the program, assembly will begin, by default, at </a:t>
            </a:r>
            <a:r>
              <a:rPr lang="en-US" sz="2000" dirty="0" smtClean="0">
                <a:latin typeface="Times New Roman" panose="02020603050405020304" pitchFamily="18" charset="0"/>
                <a:cs typeface="Times New Roman" panose="02020603050405020304" pitchFamily="18" charset="0"/>
              </a:rPr>
              <a:t>memory </a:t>
            </a:r>
            <a:r>
              <a:rPr lang="en-US" sz="2000" dirty="0">
                <a:latin typeface="Times New Roman" panose="02020603050405020304" pitchFamily="18" charset="0"/>
                <a:cs typeface="Times New Roman" panose="02020603050405020304" pitchFamily="18" charset="0"/>
              </a:rPr>
              <a:t>location 0000H.</a:t>
            </a:r>
          </a:p>
          <a:p>
            <a:pPr fontAlgn="auto"/>
            <a:r>
              <a:rPr lang="en-US" sz="2000" dirty="0" smtClean="0">
                <a:solidFill>
                  <a:srgbClr val="C0000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For </a:t>
            </a:r>
            <a:r>
              <a:rPr lang="en-US" sz="2000" dirty="0" smtClean="0">
                <a:solidFill>
                  <a:srgbClr val="C00000"/>
                </a:solidFill>
                <a:latin typeface="Times New Roman" panose="02020603050405020304" pitchFamily="18" charset="0"/>
                <a:cs typeface="Times New Roman" panose="02020603050405020304" pitchFamily="18" charset="0"/>
              </a:rPr>
              <a:t>example:</a:t>
            </a:r>
          </a:p>
          <a:p>
            <a:pPr fontAlgn="auto"/>
            <a:r>
              <a:rPr lang="en-US" sz="2000" dirty="0">
                <a:solidFill>
                  <a:srgbClr val="C00000"/>
                </a:solidFill>
                <a:latin typeface="Times New Roman" panose="02020603050405020304" pitchFamily="18" charset="0"/>
                <a:cs typeface="Times New Roman" panose="02020603050405020304" pitchFamily="18" charset="0"/>
              </a:rPr>
              <a:t>	</a:t>
            </a:r>
            <a:r>
              <a:rPr lang="en-US" sz="2000" dirty="0" smtClean="0">
                <a:solidFill>
                  <a:srgbClr val="C00000"/>
                </a:solidFill>
                <a:latin typeface="Times New Roman" panose="02020603050405020304" pitchFamily="18" charset="0"/>
                <a:cs typeface="Times New Roman" panose="02020603050405020304" pitchFamily="18" charset="0"/>
              </a:rPr>
              <a:t>ORG </a:t>
            </a:r>
            <a:r>
              <a:rPr lang="en-US" sz="2000" dirty="0">
                <a:solidFill>
                  <a:srgbClr val="C00000"/>
                </a:solidFill>
                <a:latin typeface="Times New Roman" panose="02020603050405020304" pitchFamily="18" charset="0"/>
                <a:cs typeface="Times New Roman" panose="02020603050405020304" pitchFamily="18" charset="0"/>
              </a:rPr>
              <a:t>0100H </a:t>
            </a:r>
            <a:endParaRPr lang="en-US" sz="2000" dirty="0" smtClean="0">
              <a:solidFill>
                <a:srgbClr val="C00000"/>
              </a:solidFill>
              <a:latin typeface="Times New Roman" panose="02020603050405020304" pitchFamily="18" charset="0"/>
              <a:cs typeface="Times New Roman" panose="02020603050405020304" pitchFamily="18" charset="0"/>
            </a:endParaRPr>
          </a:p>
          <a:p>
            <a:pPr fontAlgn="auto"/>
            <a:r>
              <a:rPr lang="en-US" sz="2000" dirty="0">
                <a:solidFill>
                  <a:srgbClr val="C0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a:t>
            </a:r>
            <a:r>
              <a:rPr lang="en-US" sz="2000" dirty="0" smtClean="0">
                <a:latin typeface="Times New Roman" panose="02020603050405020304" pitchFamily="18" charset="0"/>
                <a:cs typeface="Times New Roman" panose="02020603050405020304" pitchFamily="18" charset="0"/>
              </a:rPr>
              <a:t>his tells </a:t>
            </a:r>
            <a:r>
              <a:rPr lang="en-US" sz="2000" dirty="0">
                <a:latin typeface="Times New Roman" panose="02020603050405020304" pitchFamily="18" charset="0"/>
                <a:cs typeface="Times New Roman" panose="02020603050405020304" pitchFamily="18" charset="0"/>
              </a:rPr>
              <a:t>the assembler to start assembling the </a:t>
            </a:r>
            <a:r>
              <a:rPr lang="en-US" sz="2000" dirty="0" smtClean="0">
                <a:latin typeface="Times New Roman" panose="02020603050405020304" pitchFamily="18" charset="0"/>
                <a:cs typeface="Times New Roman" panose="02020603050405020304" pitchFamily="18" charset="0"/>
              </a:rPr>
              <a:t>immediately </a:t>
            </a:r>
            <a:r>
              <a:rPr lang="en-US" sz="2000" dirty="0">
                <a:latin typeface="Times New Roman" panose="02020603050405020304" pitchFamily="18" charset="0"/>
                <a:cs typeface="Times New Roman" panose="02020603050405020304" pitchFamily="18" charset="0"/>
              </a:rPr>
              <a:t>following program at 0100H in memory. </a:t>
            </a:r>
          </a:p>
          <a:p>
            <a:pPr algn="just" fontAlgn="auto"/>
            <a:endParaRPr lang="en-US" sz="2000" dirty="0">
              <a:solidFill>
                <a:srgbClr val="C00000"/>
              </a:solidFill>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8643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88640"/>
            <a:ext cx="8533456" cy="5262979"/>
          </a:xfrm>
          <a:prstGeom prst="rect">
            <a:avLst/>
          </a:prstGeom>
        </p:spPr>
        <p:txBody>
          <a:bodyPr wrap="square">
            <a:spAutoFit/>
          </a:bodyPr>
          <a:lstStyle/>
          <a:p>
            <a:pPr lvl="0" eaLnBrk="0" fontAlgn="base" hangingPunct="0">
              <a:spcBef>
                <a:spcPct val="0"/>
              </a:spcBef>
              <a:spcAft>
                <a:spcPct val="0"/>
              </a:spcAft>
            </a:pPr>
            <a:r>
              <a:rPr lang="en-US" altLang="en-US" sz="2000" b="1" dirty="0" smtClean="0">
                <a:solidFill>
                  <a:srgbClr val="C00000"/>
                </a:solidFill>
                <a:latin typeface="Times New Roman" panose="02020603050405020304" pitchFamily="18" charset="0"/>
                <a:cs typeface="Times New Roman" panose="02020603050405020304" pitchFamily="18" charset="0"/>
              </a:rPr>
              <a:t>EQU </a:t>
            </a:r>
            <a:r>
              <a:rPr lang="en-US" altLang="en-US" sz="2000" b="1" dirty="0">
                <a:solidFill>
                  <a:srgbClr val="C00000"/>
                </a:solidFill>
                <a:latin typeface="Times New Roman" panose="02020603050405020304" pitchFamily="18" charset="0"/>
                <a:cs typeface="Times New Roman" panose="02020603050405020304" pitchFamily="18" charset="0"/>
              </a:rPr>
              <a:t>assembler </a:t>
            </a:r>
            <a:r>
              <a:rPr lang="en-US" altLang="en-US" sz="2000" b="1" dirty="0" smtClean="0">
                <a:solidFill>
                  <a:srgbClr val="C00000"/>
                </a:solidFill>
                <a:latin typeface="Times New Roman" panose="02020603050405020304" pitchFamily="18" charset="0"/>
                <a:cs typeface="Times New Roman" panose="02020603050405020304" pitchFamily="18" charset="0"/>
              </a:rPr>
              <a:t>directive:</a:t>
            </a:r>
          </a:p>
          <a:p>
            <a:pPr marL="285750" indent="-285750" eaLnBrk="0" fontAlgn="base" hangingPunct="0">
              <a:spcBef>
                <a:spcPct val="0"/>
              </a:spcBef>
              <a:spcAft>
                <a:spcPct val="0"/>
              </a:spcAft>
              <a:buFont typeface="Arial" panose="020B0604020202020204" pitchFamily="34" charset="0"/>
              <a:buChar char="•"/>
            </a:pPr>
            <a:r>
              <a:rPr lang="en-US" altLang="en-US" sz="2000" dirty="0" smtClean="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EQU assembler </a:t>
            </a:r>
            <a:r>
              <a:rPr lang="en-US" altLang="en-US" sz="2000" dirty="0" smtClean="0">
                <a:latin typeface="Times New Roman" panose="02020603050405020304" pitchFamily="18" charset="0"/>
                <a:cs typeface="Times New Roman" panose="02020603050405020304" pitchFamily="18" charset="0"/>
              </a:rPr>
              <a:t>directive (</a:t>
            </a:r>
            <a:r>
              <a:rPr lang="en-US" altLang="en-US" sz="2000" dirty="0">
                <a:latin typeface="Times New Roman" panose="02020603050405020304" pitchFamily="18" charset="0"/>
                <a:cs typeface="Times New Roman" panose="02020603050405020304" pitchFamily="18" charset="0"/>
              </a:rPr>
              <a:t>short for </a:t>
            </a:r>
            <a:r>
              <a:rPr lang="en-US" altLang="en-US" sz="2000" i="1" dirty="0">
                <a:latin typeface="Times New Roman" panose="02020603050405020304" pitchFamily="18" charset="0"/>
                <a:cs typeface="Times New Roman" panose="02020603050405020304" pitchFamily="18" charset="0"/>
              </a:rPr>
              <a:t>equate</a:t>
            </a:r>
            <a:r>
              <a:rPr lang="en-US" altLang="en-US" sz="2000" dirty="0">
                <a:latin typeface="Times New Roman" panose="02020603050405020304" pitchFamily="18" charset="0"/>
                <a:cs typeface="Times New Roman" panose="02020603050405020304" pitchFamily="18" charset="0"/>
              </a:rPr>
              <a:t>) is used in assembly language programming to </a:t>
            </a:r>
            <a:r>
              <a:rPr lang="en-US" altLang="en-US" sz="2000" dirty="0" smtClean="0">
                <a:latin typeface="Times New Roman" panose="02020603050405020304" pitchFamily="18" charset="0"/>
                <a:cs typeface="Times New Roman" panose="02020603050405020304" pitchFamily="18" charset="0"/>
              </a:rPr>
              <a:t>assign </a:t>
            </a:r>
            <a:r>
              <a:rPr lang="en-US" altLang="en-US" sz="2000" dirty="0">
                <a:latin typeface="Times New Roman" panose="02020603050405020304" pitchFamily="18" charset="0"/>
                <a:cs typeface="Times New Roman" panose="02020603050405020304" pitchFamily="18" charset="0"/>
              </a:rPr>
              <a:t>a constant value, label</a:t>
            </a:r>
            <a:r>
              <a:rPr lang="en-US" altLang="en-US" sz="2000" b="1" dirty="0">
                <a:latin typeface="Times New Roman" panose="02020603050405020304" pitchFamily="18" charset="0"/>
                <a:cs typeface="Times New Roman" panose="02020603050405020304" pitchFamily="18" charset="0"/>
              </a:rPr>
              <a:t>, or expression to a symbol</a:t>
            </a:r>
            <a:r>
              <a:rPr lang="en-US" altLang="en-US" sz="2000" dirty="0">
                <a:latin typeface="Times New Roman" panose="02020603050405020304" pitchFamily="18" charset="0"/>
                <a:cs typeface="Times New Roman" panose="02020603050405020304" pitchFamily="18" charset="0"/>
              </a:rPr>
              <a:t>. </a:t>
            </a:r>
            <a:endParaRPr lang="en-US" altLang="en-US" sz="2000" dirty="0" smtClean="0">
              <a:latin typeface="Times New Roman" panose="02020603050405020304" pitchFamily="18" charset="0"/>
              <a:cs typeface="Times New Roman" panose="02020603050405020304" pitchFamily="18" charset="0"/>
            </a:endParaRPr>
          </a:p>
          <a:p>
            <a:pPr marL="285750" indent="-285750" eaLnBrk="0" fontAlgn="base" hangingPunct="0">
              <a:spcBef>
                <a:spcPct val="0"/>
              </a:spcBef>
              <a:spcAft>
                <a:spcPct val="0"/>
              </a:spcAft>
              <a:buFont typeface="Arial" panose="020B0604020202020204" pitchFamily="34" charset="0"/>
              <a:buChar char="•"/>
            </a:pPr>
            <a:r>
              <a:rPr lang="en-US" altLang="en-US" sz="2000" dirty="0" smtClean="0">
                <a:latin typeface="Times New Roman" panose="02020603050405020304" pitchFamily="18" charset="0"/>
                <a:cs typeface="Times New Roman" panose="02020603050405020304" pitchFamily="18" charset="0"/>
              </a:rPr>
              <a:t>Once </a:t>
            </a:r>
            <a:r>
              <a:rPr lang="en-US" altLang="en-US" sz="2000" dirty="0">
                <a:latin typeface="Times New Roman" panose="02020603050405020304" pitchFamily="18" charset="0"/>
                <a:cs typeface="Times New Roman" panose="02020603050405020304" pitchFamily="18" charset="0"/>
              </a:rPr>
              <a:t>defined, </a:t>
            </a:r>
            <a:r>
              <a:rPr lang="en-US" altLang="en-US" sz="2000" dirty="0" smtClean="0">
                <a:latin typeface="Times New Roman" panose="02020603050405020304" pitchFamily="18" charset="0"/>
                <a:cs typeface="Times New Roman" panose="02020603050405020304" pitchFamily="18" charset="0"/>
              </a:rPr>
              <a:t>the </a:t>
            </a:r>
            <a:r>
              <a:rPr lang="en-US" altLang="en-US" sz="2000" dirty="0">
                <a:latin typeface="Times New Roman" panose="02020603050405020304" pitchFamily="18" charset="0"/>
                <a:cs typeface="Times New Roman" panose="02020603050405020304" pitchFamily="18" charset="0"/>
              </a:rPr>
              <a:t>symbol </a:t>
            </a:r>
            <a:r>
              <a:rPr lang="en-US" altLang="en-US" sz="2000" dirty="0" smtClean="0">
                <a:latin typeface="Times New Roman" panose="02020603050405020304" pitchFamily="18" charset="0"/>
                <a:cs typeface="Times New Roman" panose="02020603050405020304" pitchFamily="18" charset="0"/>
              </a:rPr>
              <a:t>can </a:t>
            </a:r>
            <a:r>
              <a:rPr lang="en-US" altLang="en-US" sz="2000" dirty="0">
                <a:latin typeface="Times New Roman" panose="02020603050405020304" pitchFamily="18" charset="0"/>
                <a:cs typeface="Times New Roman" panose="02020603050405020304" pitchFamily="18" charset="0"/>
              </a:rPr>
              <a:t>be used throughout the program instead of writing the constant directly. </a:t>
            </a:r>
            <a:endParaRPr lang="en-US" altLang="en-US" sz="2000" dirty="0" smtClean="0">
              <a:latin typeface="Times New Roman" panose="02020603050405020304" pitchFamily="18" charset="0"/>
              <a:cs typeface="Times New Roman" panose="02020603050405020304" pitchFamily="18" charset="0"/>
            </a:endParaRPr>
          </a:p>
          <a:p>
            <a:pPr marL="285750" indent="-28575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Suppose </a:t>
            </a:r>
            <a:r>
              <a:rPr lang="en-IN" sz="2000" dirty="0">
                <a:latin typeface="Times New Roman" panose="02020603050405020304" pitchFamily="18" charset="0"/>
                <a:cs typeface="Times New Roman" panose="02020603050405020304" pitchFamily="18" charset="0"/>
              </a:rPr>
              <a:t>that the name TWENTY is used to present the value 20. This fact may be conveyed to the assembler program through an </a:t>
            </a:r>
            <a:r>
              <a:rPr lang="en-IN" sz="2000" i="1" dirty="0">
                <a:latin typeface="Times New Roman" panose="02020603050405020304" pitchFamily="18" charset="0"/>
                <a:cs typeface="Times New Roman" panose="02020603050405020304" pitchFamily="18" charset="0"/>
              </a:rPr>
              <a:t>equate statement such as </a:t>
            </a:r>
          </a:p>
          <a:p>
            <a:pPr algn="just">
              <a:buNone/>
            </a:pPr>
            <a:r>
              <a:rPr lang="en-IN" sz="2000" i="1"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Ex:  TWENTY </a:t>
            </a:r>
            <a:r>
              <a:rPr lang="en-IN" sz="2000" dirty="0">
                <a:latin typeface="Times New Roman" panose="02020603050405020304" pitchFamily="18" charset="0"/>
                <a:cs typeface="Times New Roman" panose="02020603050405020304" pitchFamily="18" charset="0"/>
              </a:rPr>
              <a:t>EQU </a:t>
            </a:r>
            <a:r>
              <a:rPr lang="en-IN" sz="2000" dirty="0" smtClean="0">
                <a:latin typeface="Times New Roman" panose="02020603050405020304" pitchFamily="18" charset="0"/>
                <a:cs typeface="Times New Roman" panose="02020603050405020304" pitchFamily="18" charset="0"/>
              </a:rPr>
              <a:t>20</a:t>
            </a: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Assembler directives does not denote an instruction that will be executed when the object program is run; in fact, it will not even appear in the object program. It simply informs the assembler that the name TWENTY should be replaced by the value 20 wherever it appears in the program</a:t>
            </a:r>
            <a:r>
              <a:rPr lang="en-IN" sz="2000" dirty="0" smtClean="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Such statements, called </a:t>
            </a:r>
            <a:r>
              <a:rPr lang="en-IN" sz="2000" i="1" dirty="0">
                <a:solidFill>
                  <a:schemeClr val="accent2"/>
                </a:solidFill>
                <a:latin typeface="Times New Roman" panose="02020603050405020304" pitchFamily="18" charset="0"/>
                <a:cs typeface="Times New Roman" panose="02020603050405020304" pitchFamily="18" charset="0"/>
              </a:rPr>
              <a:t>assembler directives </a:t>
            </a:r>
            <a:r>
              <a:rPr lang="en-IN" sz="2000" i="1" dirty="0">
                <a:latin typeface="Times New Roman" panose="02020603050405020304" pitchFamily="18" charset="0"/>
                <a:cs typeface="Times New Roman" panose="02020603050405020304" pitchFamily="18" charset="0"/>
              </a:rPr>
              <a:t>(or commands), are used by the </a:t>
            </a:r>
            <a:r>
              <a:rPr lang="en-IN" sz="2000" dirty="0">
                <a:latin typeface="Times New Roman" panose="02020603050405020304" pitchFamily="18" charset="0"/>
                <a:cs typeface="Times New Roman" panose="02020603050405020304" pitchFamily="18" charset="0"/>
              </a:rPr>
              <a:t>assembler while it translates a source program into an object program.</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22502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07504" y="105599"/>
            <a:ext cx="8568952" cy="744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DATAWORD Assembler Directive: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DATAWORD directive is used to reserve memory locations and initialize them with 16-bit (word) data values.</a:t>
            </a:r>
          </a:p>
          <a:p>
            <a:pPr lvl="0" eaLnBrk="0" fontAlgn="base" hangingPunct="0">
              <a:spcBef>
                <a:spcPct val="0"/>
              </a:spcBef>
              <a:spcAft>
                <a:spcPct val="0"/>
              </a:spcAft>
            </a:pPr>
            <a:r>
              <a:rPr lang="en-US" altLang="en-US" dirty="0" smtClean="0">
                <a:latin typeface="Times New Roman" panose="02020603050405020304" pitchFamily="18" charset="0"/>
                <a:cs typeface="Times New Roman" panose="02020603050405020304" pitchFamily="18" charset="0"/>
              </a:rPr>
              <a:t>	Syntax</a:t>
            </a:r>
            <a:r>
              <a:rPr lang="en-US" altLang="en-US" dirty="0">
                <a:latin typeface="Times New Roman" panose="02020603050405020304" pitchFamily="18" charset="0"/>
                <a:cs typeface="Times New Roman" panose="02020603050405020304" pitchFamily="18" charset="0"/>
              </a:rPr>
              <a:t>: LABEL   DATAWORD   value1, value2, </a:t>
            </a:r>
            <a:r>
              <a:rPr lang="en-US" altLang="en-US" dirty="0" smtClean="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lang="en-US" altLang="en-US" b="1" dirty="0" smtClean="0">
                <a:latin typeface="Times New Roman" panose="02020603050405020304" pitchFamily="18" charset="0"/>
                <a:cs typeface="Times New Roman" panose="02020603050405020304" pitchFamily="18" charset="0"/>
              </a:rPr>
              <a:t> LABEL</a:t>
            </a:r>
            <a:r>
              <a:rPr lang="en-US" altLang="en-US" dirty="0" smtClean="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Optional name given to the first memory location.</a:t>
            </a:r>
          </a:p>
          <a:p>
            <a:pPr lvl="1" eaLnBrk="0" fontAlgn="base" hangingPunct="0">
              <a:spcBef>
                <a:spcPct val="0"/>
              </a:spcBef>
              <a:spcAft>
                <a:spcPct val="0"/>
              </a:spcAft>
              <a:buFontTx/>
              <a:buChar char="•"/>
            </a:pPr>
            <a:r>
              <a:rPr lang="en-US" altLang="en-US" b="1" dirty="0" smtClean="0">
                <a:latin typeface="Times New Roman" panose="02020603050405020304" pitchFamily="18" charset="0"/>
                <a:cs typeface="Times New Roman" panose="02020603050405020304" pitchFamily="18" charset="0"/>
              </a:rPr>
              <a:t> DATAWORD</a:t>
            </a:r>
            <a:r>
              <a:rPr lang="en-US" altLang="en-US" dirty="0" smtClean="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Directive to store </a:t>
            </a:r>
            <a:r>
              <a:rPr lang="en-US" altLang="en-US" b="1" dirty="0">
                <a:latin typeface="Times New Roman" panose="02020603050405020304" pitchFamily="18" charset="0"/>
                <a:cs typeface="Times New Roman" panose="02020603050405020304" pitchFamily="18" charset="0"/>
              </a:rPr>
              <a:t>word-sized data (16 bits = 2 bytes)</a:t>
            </a:r>
            <a:r>
              <a:rPr lang="en-US" altLang="en-US" dirty="0">
                <a:latin typeface="Times New Roman" panose="02020603050405020304" pitchFamily="18" charset="0"/>
                <a:cs typeface="Times New Roman" panose="02020603050405020304" pitchFamily="18" charset="0"/>
              </a:rPr>
              <a:t>.</a:t>
            </a:r>
          </a:p>
          <a:p>
            <a:pPr lvl="1" eaLnBrk="0" fontAlgn="base" hangingPunct="0">
              <a:spcBef>
                <a:spcPct val="0"/>
              </a:spcBef>
              <a:spcAft>
                <a:spcPct val="0"/>
              </a:spcAft>
              <a:buFontTx/>
              <a:buChar char="•"/>
            </a:pPr>
            <a:r>
              <a:rPr lang="en-US" altLang="en-US" b="1" dirty="0" smtClean="0">
                <a:latin typeface="Times New Roman" panose="02020603050405020304" pitchFamily="18" charset="0"/>
                <a:cs typeface="Times New Roman" panose="02020603050405020304" pitchFamily="18" charset="0"/>
              </a:rPr>
              <a:t> value1</a:t>
            </a:r>
            <a:r>
              <a:rPr lang="en-US" altLang="en-US" b="1" dirty="0">
                <a:latin typeface="Times New Roman" panose="02020603050405020304" pitchFamily="18" charset="0"/>
                <a:cs typeface="Times New Roman" panose="02020603050405020304" pitchFamily="18" charset="0"/>
              </a:rPr>
              <a:t>, value2, …</a:t>
            </a:r>
            <a:r>
              <a:rPr lang="en-US" altLang="en-US" dirty="0">
                <a:latin typeface="Times New Roman" panose="02020603050405020304" pitchFamily="18" charset="0"/>
                <a:cs typeface="Times New Roman" panose="02020603050405020304" pitchFamily="18" charset="0"/>
              </a:rPr>
              <a:t> → The actual values (constants) to be stored</a:t>
            </a:r>
            <a:r>
              <a:rPr lang="en-US" altLang="en-US" dirty="0" smtClean="0">
                <a:latin typeface="Times New Roman" panose="02020603050405020304" pitchFamily="18" charset="0"/>
                <a:cs typeface="Times New Roman" panose="02020603050405020304" pitchFamily="18" charset="0"/>
              </a:rPr>
              <a:t>.</a:t>
            </a:r>
          </a:p>
          <a:p>
            <a:pPr lvl="1" eaLnBrk="0" fontAlgn="base" hangingPunct="0">
              <a:spcBef>
                <a:spcPct val="0"/>
              </a:spcBef>
              <a:spcAft>
                <a:spcPct val="0"/>
              </a:spcAft>
              <a:buFontTx/>
              <a:buChar char="•"/>
            </a:pP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dirty="0" smtClean="0">
                <a:latin typeface="Times New Roman" panose="02020603050405020304" pitchFamily="18" charset="0"/>
                <a:cs typeface="Times New Roman" panose="02020603050405020304" pitchFamily="18" charset="0"/>
              </a:rPr>
              <a:t> Each </a:t>
            </a:r>
            <a:r>
              <a:rPr lang="en-US" altLang="en-US" dirty="0">
                <a:latin typeface="Times New Roman" panose="02020603050405020304" pitchFamily="18" charset="0"/>
                <a:cs typeface="Times New Roman" panose="02020603050405020304" pitchFamily="18" charset="0"/>
              </a:rPr>
              <a:t>DATAWORD allocates </a:t>
            </a:r>
            <a:r>
              <a:rPr lang="en-US" altLang="en-US" b="1" dirty="0">
                <a:latin typeface="Times New Roman" panose="02020603050405020304" pitchFamily="18" charset="0"/>
                <a:cs typeface="Times New Roman" panose="02020603050405020304" pitchFamily="18" charset="0"/>
              </a:rPr>
              <a:t>2 bytes per value</a:t>
            </a:r>
            <a:r>
              <a:rPr lang="en-US" altLang="en-US" dirty="0">
                <a:latin typeface="Times New Roman" panose="02020603050405020304" pitchFamily="18" charset="0"/>
                <a:cs typeface="Times New Roman" panose="02020603050405020304" pitchFamily="18" charset="0"/>
              </a:rPr>
              <a:t> in memory.</a:t>
            </a:r>
          </a:p>
          <a:p>
            <a:pPr lvl="0" eaLnBrk="0" fontAlgn="base" hangingPunct="0">
              <a:spcBef>
                <a:spcPct val="0"/>
              </a:spcBef>
              <a:spcAft>
                <a:spcPct val="0"/>
              </a:spcAft>
              <a:buFontTx/>
              <a:buChar char="•"/>
            </a:pPr>
            <a:r>
              <a:rPr lang="en-US" altLang="en-US" dirty="0" smtClean="0">
                <a:latin typeface="Times New Roman" panose="02020603050405020304" pitchFamily="18" charset="0"/>
                <a:cs typeface="Times New Roman" panose="02020603050405020304" pitchFamily="18" charset="0"/>
              </a:rPr>
              <a:t> If </a:t>
            </a:r>
            <a:r>
              <a:rPr lang="en-US" altLang="en-US" dirty="0">
                <a:latin typeface="Times New Roman" panose="02020603050405020304" pitchFamily="18" charset="0"/>
                <a:cs typeface="Times New Roman" panose="02020603050405020304" pitchFamily="18" charset="0"/>
              </a:rPr>
              <a:t>multiple values are specified, they are stored in consecutive words.</a:t>
            </a:r>
          </a:p>
          <a:p>
            <a:pPr lvl="0" eaLnBrk="0" fontAlgn="base" hangingPunct="0">
              <a:spcBef>
                <a:spcPct val="0"/>
              </a:spcBef>
              <a:spcAft>
                <a:spcPct val="0"/>
              </a:spcAft>
              <a:buFontTx/>
              <a:buChar char="•"/>
            </a:pPr>
            <a:r>
              <a:rPr lang="en-US" altLang="en-US" dirty="0" smtClean="0">
                <a:latin typeface="Times New Roman" panose="02020603050405020304" pitchFamily="18" charset="0"/>
                <a:cs typeface="Times New Roman" panose="02020603050405020304" pitchFamily="18" charset="0"/>
              </a:rPr>
              <a:t> The </a:t>
            </a:r>
            <a:r>
              <a:rPr lang="en-US" altLang="en-US" b="1" dirty="0">
                <a:latin typeface="Times New Roman" panose="02020603050405020304" pitchFamily="18" charset="0"/>
                <a:cs typeface="Times New Roman" panose="02020603050405020304" pitchFamily="18" charset="0"/>
              </a:rPr>
              <a:t>label</a:t>
            </a:r>
            <a:r>
              <a:rPr lang="en-US" altLang="en-US" dirty="0">
                <a:latin typeface="Times New Roman" panose="02020603050405020304" pitchFamily="18" charset="0"/>
                <a:cs typeface="Times New Roman" panose="02020603050405020304" pitchFamily="18" charset="0"/>
              </a:rPr>
              <a:t> can be used in the program to refer to the starting address</a:t>
            </a:r>
            <a:r>
              <a:rPr lang="en-US" altLang="en-US" dirty="0" smtClean="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FontTx/>
              <a:buChar char="•"/>
            </a:pP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dirty="0">
                <a:solidFill>
                  <a:srgbClr val="FF0000"/>
                </a:solidFill>
                <a:latin typeface="Times New Roman" panose="02020603050405020304" pitchFamily="18" charset="0"/>
                <a:cs typeface="Times New Roman" panose="02020603050405020304" pitchFamily="18" charset="0"/>
              </a:rPr>
              <a:t>Example 1: Single </a:t>
            </a:r>
            <a:r>
              <a:rPr lang="en-US" dirty="0" smtClean="0">
                <a:solidFill>
                  <a:srgbClr val="FF0000"/>
                </a:solidFill>
                <a:latin typeface="Times New Roman" panose="02020603050405020304" pitchFamily="18" charset="0"/>
                <a:cs typeface="Times New Roman" panose="02020603050405020304" pitchFamily="18" charset="0"/>
              </a:rPr>
              <a:t>word</a:t>
            </a:r>
          </a:p>
          <a:p>
            <a:pPr lvl="0" eaLnBrk="0" fontAlgn="base" hangingPunct="0">
              <a:spcBef>
                <a:spcPct val="0"/>
              </a:spcBef>
              <a:spcAft>
                <a:spcPct val="0"/>
              </a:spcAft>
            </a:pPr>
            <a:r>
              <a:rPr lang="en-US" altLang="en-US" dirty="0" smtClean="0">
                <a:latin typeface="Times New Roman" panose="02020603050405020304" pitchFamily="18" charset="0"/>
                <a:cs typeface="Times New Roman" panose="02020603050405020304" pitchFamily="18" charset="0"/>
              </a:rPr>
              <a:t>	NUM   </a:t>
            </a:r>
            <a:r>
              <a:rPr lang="en-US" altLang="en-US" dirty="0">
                <a:latin typeface="Times New Roman" panose="02020603050405020304" pitchFamily="18" charset="0"/>
                <a:cs typeface="Times New Roman" panose="02020603050405020304" pitchFamily="18" charset="0"/>
              </a:rPr>
              <a:t>DATAWORD   </a:t>
            </a:r>
            <a:r>
              <a:rPr lang="en-US" altLang="en-US" dirty="0" smtClean="0">
                <a:latin typeface="Times New Roman" panose="02020603050405020304" pitchFamily="18" charset="0"/>
                <a:cs typeface="Times New Roman" panose="02020603050405020304" pitchFamily="18" charset="0"/>
              </a:rPr>
              <a:t>1234H</a:t>
            </a:r>
          </a:p>
          <a:p>
            <a:pPr lvl="0" eaLnBrk="0" fontAlgn="base" hangingPunct="0">
              <a:spcBef>
                <a:spcPct val="0"/>
              </a:spcBef>
              <a:spcAft>
                <a:spcPct val="0"/>
              </a:spcAft>
            </a:pPr>
            <a:r>
              <a:rPr lang="en-US" altLang="en-US" dirty="0" smtClean="0">
                <a:latin typeface="Times New Roman" panose="02020603050405020304" pitchFamily="18" charset="0"/>
                <a:cs typeface="Times New Roman" panose="02020603050405020304" pitchFamily="18" charset="0"/>
              </a:rPr>
              <a:t>	Reserves </a:t>
            </a:r>
            <a:r>
              <a:rPr lang="en-US" altLang="en-US" b="1" dirty="0">
                <a:latin typeface="Times New Roman" panose="02020603050405020304" pitchFamily="18" charset="0"/>
                <a:cs typeface="Times New Roman" panose="02020603050405020304" pitchFamily="18" charset="0"/>
              </a:rPr>
              <a:t>2 bytes</a:t>
            </a:r>
            <a:r>
              <a:rPr lang="en-US" altLang="en-US" dirty="0">
                <a:latin typeface="Times New Roman" panose="02020603050405020304" pitchFamily="18" charset="0"/>
                <a:cs typeface="Times New Roman" panose="02020603050405020304" pitchFamily="18" charset="0"/>
              </a:rPr>
              <a:t> of memory.</a:t>
            </a:r>
          </a:p>
          <a:p>
            <a:pPr lvl="0" eaLnBrk="0" fontAlgn="base" hangingPunct="0">
              <a:spcBef>
                <a:spcPct val="0"/>
              </a:spcBef>
              <a:spcAft>
                <a:spcPct val="0"/>
              </a:spcAft>
            </a:pPr>
            <a:r>
              <a:rPr lang="en-US" altLang="en-US" dirty="0" smtClean="0">
                <a:latin typeface="Times New Roman" panose="02020603050405020304" pitchFamily="18" charset="0"/>
                <a:cs typeface="Times New Roman" panose="02020603050405020304" pitchFamily="18" charset="0"/>
              </a:rPr>
              <a:t>	Stores </a:t>
            </a:r>
            <a:r>
              <a:rPr lang="en-US" altLang="en-US" dirty="0">
                <a:latin typeface="Times New Roman" panose="02020603050405020304" pitchFamily="18" charset="0"/>
                <a:cs typeface="Times New Roman" panose="02020603050405020304" pitchFamily="18" charset="0"/>
              </a:rPr>
              <a:t>1234H (low byte 34H, high byte 12H).</a:t>
            </a:r>
          </a:p>
          <a:p>
            <a:pPr lvl="0" eaLnBrk="0" fontAlgn="base" hangingPunct="0">
              <a:spcBef>
                <a:spcPct val="0"/>
              </a:spcBef>
              <a:spcAft>
                <a:spcPct val="0"/>
              </a:spcAft>
            </a:pPr>
            <a:r>
              <a:rPr lang="en-US" altLang="en-US" dirty="0" smtClean="0">
                <a:latin typeface="Times New Roman" panose="02020603050405020304" pitchFamily="18" charset="0"/>
                <a:cs typeface="Times New Roman" panose="02020603050405020304" pitchFamily="18" charset="0"/>
              </a:rPr>
              <a:t>	NUM </a:t>
            </a:r>
            <a:r>
              <a:rPr lang="en-US" altLang="en-US" dirty="0">
                <a:latin typeface="Times New Roman" panose="02020603050405020304" pitchFamily="18" charset="0"/>
                <a:cs typeface="Times New Roman" panose="02020603050405020304" pitchFamily="18" charset="0"/>
              </a:rPr>
              <a:t>points to the </a:t>
            </a:r>
            <a:r>
              <a:rPr lang="en-US" altLang="en-US" b="1" dirty="0">
                <a:latin typeface="Times New Roman" panose="02020603050405020304" pitchFamily="18" charset="0"/>
                <a:cs typeface="Times New Roman" panose="02020603050405020304" pitchFamily="18" charset="0"/>
              </a:rPr>
              <a:t>first byte</a:t>
            </a:r>
            <a:r>
              <a:rPr lang="en-US" altLang="en-US" dirty="0" smtClean="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FontTx/>
              <a:buChar char="•"/>
            </a:pPr>
            <a:endParaRPr lang="en-US" altLang="en-US" sz="2000" dirty="0">
              <a:latin typeface="Arial" panose="020B0604020202020204" pitchFamily="34" charset="0"/>
            </a:endParaRPr>
          </a:p>
          <a:p>
            <a:pPr lvl="0" eaLnBrk="0" fontAlgn="base" hangingPunct="0">
              <a:spcBef>
                <a:spcPct val="0"/>
              </a:spcBef>
              <a:spcAft>
                <a:spcPct val="0"/>
              </a:spcAft>
              <a:buFontTx/>
              <a:buChar char="•"/>
            </a:pPr>
            <a:endParaRPr lang="en-US" altLang="en-US" sz="2000" dirty="0" smtClean="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endParaRPr lang="en-US" altLang="en-US" sz="2000" dirty="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endParaRPr lang="en-US" altLang="en-US" sz="2000" dirty="0" smtClean="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altLang="en-US" dirty="0" smtClean="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altLang="en-US" dirty="0" smtClean="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444340333"/>
              </p:ext>
            </p:extLst>
          </p:nvPr>
        </p:nvGraphicFramePr>
        <p:xfrm>
          <a:off x="446856" y="5229200"/>
          <a:ext cx="8229600" cy="1097280"/>
        </p:xfrm>
        <a:graphic>
          <a:graphicData uri="http://schemas.openxmlformats.org/drawingml/2006/table">
            <a:tbl>
              <a:tblPr/>
              <a:tblGrid>
                <a:gridCol w="4114800"/>
                <a:gridCol w="4114800"/>
              </a:tblGrid>
              <a:tr h="0">
                <a:tc>
                  <a:txBody>
                    <a:bodyPr/>
                    <a:lstStyle/>
                    <a:p>
                      <a:r>
                        <a:rPr lang="en-US" dirty="0">
                          <a:latin typeface="Times New Roman" panose="02020603050405020304" pitchFamily="18" charset="0"/>
                          <a:cs typeface="Times New Roman" panose="02020603050405020304" pitchFamily="18" charset="0"/>
                        </a:rPr>
                        <a:t>Address</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Content</a:t>
                      </a:r>
                    </a:p>
                  </a:txBody>
                  <a:tcPr anchor="ctr">
                    <a:lnL>
                      <a:noFill/>
                    </a:lnL>
                    <a:lnR>
                      <a:noFill/>
                    </a:lnR>
                    <a:lnT>
                      <a:noFill/>
                    </a:lnT>
                    <a:lnB>
                      <a:noFill/>
                    </a:lnB>
                  </a:tcPr>
                </a:tc>
              </a:tr>
              <a:tr h="0">
                <a:tc>
                  <a:txBody>
                    <a:bodyPr/>
                    <a:lstStyle/>
                    <a:p>
                      <a:r>
                        <a:rPr lang="en-US" dirty="0">
                          <a:latin typeface="Times New Roman" panose="02020603050405020304" pitchFamily="18" charset="0"/>
                          <a:cs typeface="Times New Roman" panose="02020603050405020304" pitchFamily="18" charset="0"/>
                        </a:rPr>
                        <a:t>2000H</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34H</a:t>
                      </a:r>
                    </a:p>
                  </a:txBody>
                  <a:tcPr anchor="ctr">
                    <a:lnL>
                      <a:noFill/>
                    </a:lnL>
                    <a:lnR>
                      <a:noFill/>
                    </a:lnR>
                    <a:lnT>
                      <a:noFill/>
                    </a:lnT>
                    <a:lnB>
                      <a:noFill/>
                    </a:lnB>
                  </a:tcPr>
                </a:tc>
              </a:tr>
              <a:tr h="0">
                <a:tc>
                  <a:txBody>
                    <a:bodyPr/>
                    <a:lstStyle/>
                    <a:p>
                      <a:r>
                        <a:rPr lang="en-US" dirty="0">
                          <a:latin typeface="Times New Roman" panose="02020603050405020304" pitchFamily="18" charset="0"/>
                          <a:cs typeface="Times New Roman" panose="02020603050405020304" pitchFamily="18" charset="0"/>
                        </a:rPr>
                        <a:t>2001H</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12H</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7902660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34435" y="260648"/>
            <a:ext cx="8976047" cy="7571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RESERVE Assembler Directive: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RESERVE directive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is used to </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allocate memory locations without initializing them</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simply reserves the required number of bytes (or words), but the contents remain </a:t>
            </a:r>
          </a:p>
          <a:p>
            <a:pPr marR="0" lvl="0" algn="l" defTabSz="914400" rtl="0" eaLnBrk="0" fontAlgn="base" latinLnBrk="0" hangingPunct="0">
              <a:lnSpc>
                <a:spcPct val="100000"/>
              </a:lnSpc>
              <a:spcBef>
                <a:spcPct val="0"/>
              </a:spcBef>
              <a:spcAft>
                <a:spcPct val="0"/>
              </a:spcAft>
              <a:buClrTx/>
              <a:buSzTx/>
              <a:tabLst/>
            </a:pPr>
            <a:r>
              <a:rPr lang="en-US" altLang="en-US" dirty="0" smtClean="0">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undefined until the program modifies them.</a:t>
            </a:r>
          </a:p>
          <a:p>
            <a:pPr marR="0" lvl="0" algn="l" defTabSz="914400" rtl="0" eaLnBrk="0" fontAlgn="base" latinLnBrk="0" hangingPunct="0">
              <a:lnSpc>
                <a:spcPct val="100000"/>
              </a:lnSpc>
              <a:spcBef>
                <a:spcPct val="0"/>
              </a:spcBef>
              <a:spcAft>
                <a:spcPct val="0"/>
              </a:spcAft>
              <a:buClrTx/>
              <a:buSzTx/>
              <a:tabLst/>
            </a:pPr>
            <a:endParaRPr lang="en-US" altLang="en-US" dirty="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lang="en-US" altLang="en-US" b="1" dirty="0" smtClean="0">
                <a:latin typeface="Times New Roman" panose="02020603050405020304" pitchFamily="18" charset="0"/>
                <a:cs typeface="Times New Roman" panose="02020603050405020304" pitchFamily="18" charset="0"/>
              </a:rPr>
              <a:t> LABEL</a:t>
            </a:r>
            <a:r>
              <a:rPr lang="en-US" altLang="en-US" dirty="0" smtClean="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(optional) name pointing to the first reserved location.</a:t>
            </a:r>
          </a:p>
          <a:p>
            <a:pPr lvl="1" eaLnBrk="0" fontAlgn="base" hangingPunct="0">
              <a:spcBef>
                <a:spcPct val="0"/>
              </a:spcBef>
              <a:spcAft>
                <a:spcPct val="0"/>
              </a:spcAft>
              <a:buFontTx/>
              <a:buChar char="•"/>
            </a:pPr>
            <a:r>
              <a:rPr lang="en-US" altLang="en-US" b="1" dirty="0" smtClean="0">
                <a:latin typeface="Times New Roman" panose="02020603050405020304" pitchFamily="18" charset="0"/>
                <a:cs typeface="Times New Roman" panose="02020603050405020304" pitchFamily="18" charset="0"/>
              </a:rPr>
              <a:t> RESERVE</a:t>
            </a:r>
            <a:r>
              <a:rPr lang="en-US" altLang="en-US" dirty="0" smtClean="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Directive to allocate space.</a:t>
            </a:r>
          </a:p>
          <a:p>
            <a:pPr lvl="1" eaLnBrk="0" fontAlgn="base" hangingPunct="0">
              <a:spcBef>
                <a:spcPct val="0"/>
              </a:spcBef>
              <a:spcAft>
                <a:spcPct val="0"/>
              </a:spcAft>
              <a:buFontTx/>
              <a:buChar char="•"/>
            </a:pPr>
            <a:r>
              <a:rPr lang="en-US" altLang="en-US" b="1" dirty="0" smtClean="0">
                <a:latin typeface="Times New Roman" panose="02020603050405020304" pitchFamily="18" charset="0"/>
                <a:cs typeface="Times New Roman" panose="02020603050405020304" pitchFamily="18" charset="0"/>
              </a:rPr>
              <a:t> n</a:t>
            </a:r>
            <a:r>
              <a:rPr lang="en-US" altLang="en-US" dirty="0" smtClean="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Number of memory locations to be reserved</a:t>
            </a:r>
            <a:r>
              <a:rPr lang="en-US" altLang="en-US" dirty="0" smtClean="0">
                <a:latin typeface="Times New Roman" panose="02020603050405020304" pitchFamily="18" charset="0"/>
                <a:cs typeface="Times New Roman" panose="02020603050405020304" pitchFamily="18" charset="0"/>
              </a:rPr>
              <a:t>.</a:t>
            </a:r>
          </a:p>
          <a:p>
            <a:pPr lvl="1" eaLnBrk="0" fontAlgn="base" hangingPunct="0">
              <a:spcBef>
                <a:spcPct val="0"/>
              </a:spcBef>
              <a:spcAft>
                <a:spcPct val="0"/>
              </a:spcAft>
              <a:buFontTx/>
              <a:buChar char="•"/>
            </a:pP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dirty="0" smtClean="0">
                <a:latin typeface="Times New Roman" panose="02020603050405020304" pitchFamily="18" charset="0"/>
                <a:cs typeface="Times New Roman" panose="02020603050405020304" pitchFamily="18" charset="0"/>
              </a:rPr>
              <a:t> The </a:t>
            </a:r>
            <a:r>
              <a:rPr lang="en-US" altLang="en-US" dirty="0">
                <a:latin typeface="Times New Roman" panose="02020603050405020304" pitchFamily="18" charset="0"/>
                <a:cs typeface="Times New Roman" panose="02020603050405020304" pitchFamily="18" charset="0"/>
              </a:rPr>
              <a:t>memory is </a:t>
            </a:r>
            <a:r>
              <a:rPr lang="en-US" altLang="en-US" b="1" dirty="0">
                <a:latin typeface="Times New Roman" panose="02020603050405020304" pitchFamily="18" charset="0"/>
                <a:cs typeface="Times New Roman" panose="02020603050405020304" pitchFamily="18" charset="0"/>
              </a:rPr>
              <a:t>allocated but not initialized</a:t>
            </a:r>
            <a:r>
              <a:rPr lang="en-US" altLang="en-US" dirty="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FontTx/>
              <a:buChar char="•"/>
            </a:pPr>
            <a:r>
              <a:rPr lang="en-US" altLang="en-US" dirty="0" smtClean="0">
                <a:latin typeface="Times New Roman" panose="02020603050405020304" pitchFamily="18" charset="0"/>
                <a:cs typeface="Times New Roman" panose="02020603050405020304" pitchFamily="18" charset="0"/>
              </a:rPr>
              <a:t> Useful </a:t>
            </a:r>
            <a:r>
              <a:rPr lang="en-US" altLang="en-US" dirty="0">
                <a:latin typeface="Times New Roman" panose="02020603050405020304" pitchFamily="18" charset="0"/>
                <a:cs typeface="Times New Roman" panose="02020603050405020304" pitchFamily="18" charset="0"/>
              </a:rPr>
              <a:t>when space is required for variables, buffers, arrays, or stack.</a:t>
            </a:r>
          </a:p>
          <a:p>
            <a:pPr lvl="0" eaLnBrk="0" fontAlgn="base" hangingPunct="0">
              <a:spcBef>
                <a:spcPct val="0"/>
              </a:spcBef>
              <a:spcAft>
                <a:spcPct val="0"/>
              </a:spcAft>
              <a:buFontTx/>
              <a:buChar char="•"/>
            </a:pPr>
            <a:r>
              <a:rPr lang="en-US" altLang="en-US" dirty="0" smtClean="0">
                <a:latin typeface="Times New Roman" panose="02020603050405020304" pitchFamily="18" charset="0"/>
                <a:cs typeface="Times New Roman" panose="02020603050405020304" pitchFamily="18" charset="0"/>
              </a:rPr>
              <a:t> The </a:t>
            </a:r>
            <a:r>
              <a:rPr lang="en-US" altLang="en-US" dirty="0">
                <a:latin typeface="Times New Roman" panose="02020603050405020304" pitchFamily="18" charset="0"/>
                <a:cs typeface="Times New Roman" panose="02020603050405020304" pitchFamily="18" charset="0"/>
              </a:rPr>
              <a:t>assembler </a:t>
            </a:r>
            <a:r>
              <a:rPr lang="en-US" altLang="en-US" b="1" dirty="0">
                <a:latin typeface="Times New Roman" panose="02020603050405020304" pitchFamily="18" charset="0"/>
                <a:cs typeface="Times New Roman" panose="02020603050405020304" pitchFamily="18" charset="0"/>
              </a:rPr>
              <a:t>only sets aside memory</a:t>
            </a:r>
            <a:r>
              <a:rPr lang="en-US" altLang="en-US" dirty="0">
                <a:latin typeface="Times New Roman" panose="02020603050405020304" pitchFamily="18" charset="0"/>
                <a:cs typeface="Times New Roman" panose="02020603050405020304" pitchFamily="18" charset="0"/>
              </a:rPr>
              <a:t>, the programmer must later store values</a:t>
            </a:r>
            <a:r>
              <a:rPr lang="en-US" altLang="en-US" dirty="0" smtClean="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pPr>
            <a:r>
              <a:rPr lang="en-US" altLang="en-US" b="1" dirty="0" smtClean="0">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 </a:t>
            </a:r>
            <a:r>
              <a:rPr lang="en-US" altLang="en-US" b="1" dirty="0" smtClean="0">
                <a:latin typeface="Times New Roman" panose="02020603050405020304" pitchFamily="18" charset="0"/>
                <a:cs typeface="Times New Roman" panose="02020603050405020304" pitchFamily="18" charset="0"/>
              </a:rPr>
              <a:t>     Example </a:t>
            </a:r>
            <a:r>
              <a:rPr lang="en-US" altLang="en-US" b="1" dirty="0">
                <a:latin typeface="Times New Roman" panose="02020603050405020304" pitchFamily="18" charset="0"/>
                <a:cs typeface="Times New Roman" panose="02020603050405020304" pitchFamily="18" charset="0"/>
              </a:rPr>
              <a:t>1</a:t>
            </a:r>
            <a:r>
              <a:rPr lang="en-US" altLang="en-US" b="1" dirty="0" smtClean="0">
                <a:latin typeface="Times New Roman" panose="02020603050405020304" pitchFamily="18" charset="0"/>
                <a:cs typeface="Times New Roman" panose="02020603050405020304" pitchFamily="18" charset="0"/>
              </a:rPr>
              <a:t>: Reserve bytes</a:t>
            </a:r>
          </a:p>
          <a:p>
            <a:pPr lvl="0" eaLnBrk="0" fontAlgn="base" hangingPunct="0">
              <a:spcBef>
                <a:spcPct val="0"/>
              </a:spcBef>
              <a:spcAft>
                <a:spcPct val="0"/>
              </a:spcAft>
            </a:pPr>
            <a:endParaRPr lang="en-US" altLang="en-US" b="1"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a:t>
            </a:r>
            <a:r>
              <a:rPr lang="en-US" altLang="en-US" dirty="0" smtClean="0">
                <a:latin typeface="Times New Roman" panose="02020603050405020304" pitchFamily="18" charset="0"/>
                <a:cs typeface="Times New Roman" panose="02020603050405020304" pitchFamily="18" charset="0"/>
              </a:rPr>
              <a:t>       </a:t>
            </a:r>
            <a:r>
              <a:rPr lang="en-US" altLang="en-US" dirty="0" smtClean="0">
                <a:solidFill>
                  <a:srgbClr val="C00000"/>
                </a:solidFill>
                <a:latin typeface="Times New Roman" panose="02020603050405020304" pitchFamily="18" charset="0"/>
                <a:cs typeface="Times New Roman" panose="02020603050405020304" pitchFamily="18" charset="0"/>
              </a:rPr>
              <a:t>BUFFER </a:t>
            </a:r>
            <a:r>
              <a:rPr lang="en-US" altLang="en-US" dirty="0">
                <a:solidFill>
                  <a:srgbClr val="C00000"/>
                </a:solidFill>
                <a:latin typeface="Times New Roman" panose="02020603050405020304" pitchFamily="18" charset="0"/>
                <a:cs typeface="Times New Roman" panose="02020603050405020304" pitchFamily="18" charset="0"/>
              </a:rPr>
              <a:t>RESERVE 20 </a:t>
            </a:r>
          </a:p>
          <a:p>
            <a:pPr lvl="1" eaLnBrk="0" fontAlgn="base" hangingPunct="0">
              <a:spcBef>
                <a:spcPct val="0"/>
              </a:spcBef>
              <a:spcAft>
                <a:spcPct val="0"/>
              </a:spcAft>
              <a:buFontTx/>
              <a:buChar char="•"/>
            </a:pPr>
            <a:r>
              <a:rPr lang="en-US" altLang="en-US" dirty="0" smtClean="0">
                <a:latin typeface="Times New Roman" panose="02020603050405020304" pitchFamily="18" charset="0"/>
                <a:cs typeface="Times New Roman" panose="02020603050405020304" pitchFamily="18" charset="0"/>
              </a:rPr>
              <a:t> This </a:t>
            </a:r>
            <a:r>
              <a:rPr lang="en-US" altLang="en-US" dirty="0">
                <a:latin typeface="Times New Roman" panose="02020603050405020304" pitchFamily="18" charset="0"/>
                <a:cs typeface="Times New Roman" panose="02020603050405020304" pitchFamily="18" charset="0"/>
              </a:rPr>
              <a:t>reserves </a:t>
            </a:r>
            <a:r>
              <a:rPr lang="en-US" altLang="en-US" b="1" dirty="0">
                <a:latin typeface="Times New Roman" panose="02020603050405020304" pitchFamily="18" charset="0"/>
                <a:cs typeface="Times New Roman" panose="02020603050405020304" pitchFamily="18" charset="0"/>
              </a:rPr>
              <a:t>20 consecutive bytes</a:t>
            </a:r>
            <a:r>
              <a:rPr lang="en-US" altLang="en-US" dirty="0">
                <a:latin typeface="Times New Roman" panose="02020603050405020304" pitchFamily="18" charset="0"/>
                <a:cs typeface="Times New Roman" panose="02020603050405020304" pitchFamily="18" charset="0"/>
              </a:rPr>
              <a:t> of memory.</a:t>
            </a:r>
          </a:p>
          <a:p>
            <a:pPr lvl="1" eaLnBrk="0" fontAlgn="base" hangingPunct="0">
              <a:spcBef>
                <a:spcPct val="0"/>
              </a:spcBef>
              <a:spcAft>
                <a:spcPct val="0"/>
              </a:spcAft>
              <a:buFontTx/>
              <a:buChar char="•"/>
            </a:pPr>
            <a:r>
              <a:rPr lang="en-US" altLang="en-US" dirty="0" smtClean="0">
                <a:latin typeface="Times New Roman" panose="02020603050405020304" pitchFamily="18" charset="0"/>
                <a:cs typeface="Times New Roman" panose="02020603050405020304" pitchFamily="18" charset="0"/>
              </a:rPr>
              <a:t> BUFFER </a:t>
            </a:r>
            <a:r>
              <a:rPr lang="en-US" altLang="en-US" dirty="0">
                <a:latin typeface="Times New Roman" panose="02020603050405020304" pitchFamily="18" charset="0"/>
                <a:cs typeface="Times New Roman" panose="02020603050405020304" pitchFamily="18" charset="0"/>
              </a:rPr>
              <a:t>points to the </a:t>
            </a:r>
            <a:r>
              <a:rPr lang="en-US" altLang="en-US" b="1" dirty="0">
                <a:latin typeface="Times New Roman" panose="02020603050405020304" pitchFamily="18" charset="0"/>
                <a:cs typeface="Times New Roman" panose="02020603050405020304" pitchFamily="18" charset="0"/>
              </a:rPr>
              <a:t>first byte</a:t>
            </a:r>
            <a:r>
              <a:rPr lang="en-US" altLang="en-US" dirty="0" smtClean="0">
                <a:latin typeface="Times New Roman" panose="02020603050405020304" pitchFamily="18" charset="0"/>
                <a:cs typeface="Times New Roman" panose="02020603050405020304" pitchFamily="18" charset="0"/>
              </a:rPr>
              <a:t>.</a:t>
            </a:r>
          </a:p>
          <a:p>
            <a:pPr lvl="1" eaLnBrk="0" fontAlgn="base" hangingPunct="0">
              <a:spcBef>
                <a:spcPct val="0"/>
              </a:spcBef>
              <a:spcAft>
                <a:spcPct val="0"/>
              </a:spcAft>
            </a:pPr>
            <a:endParaRPr lang="en-US" dirty="0" smtClean="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lang="en-US" b="1" dirty="0" smtClean="0">
                <a:latin typeface="Times New Roman" panose="02020603050405020304" pitchFamily="18" charset="0"/>
                <a:cs typeface="Times New Roman" panose="02020603050405020304" pitchFamily="18" charset="0"/>
              </a:rPr>
              <a:t>Example </a:t>
            </a:r>
            <a:r>
              <a:rPr lang="en-US" b="1" dirty="0">
                <a:latin typeface="Times New Roman" panose="02020603050405020304" pitchFamily="18" charset="0"/>
                <a:cs typeface="Times New Roman" panose="02020603050405020304" pitchFamily="18" charset="0"/>
              </a:rPr>
              <a:t>2: Reserve </a:t>
            </a:r>
            <a:r>
              <a:rPr lang="en-US" b="1" dirty="0" smtClean="0">
                <a:latin typeface="Times New Roman" panose="02020603050405020304" pitchFamily="18" charset="0"/>
                <a:cs typeface="Times New Roman" panose="02020603050405020304" pitchFamily="18" charset="0"/>
              </a:rPr>
              <a:t>words</a:t>
            </a:r>
            <a:endParaRPr lang="en-US" altLang="en-US" b="1" dirty="0" smtClean="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dirty="0" smtClean="0">
                <a:latin typeface="Times New Roman" panose="02020603050405020304" pitchFamily="18" charset="0"/>
                <a:cs typeface="Times New Roman" panose="02020603050405020304" pitchFamily="18" charset="0"/>
              </a:rPr>
              <a:t>	</a:t>
            </a:r>
            <a:r>
              <a:rPr lang="en-US" altLang="en-US" dirty="0" smtClean="0">
                <a:solidFill>
                  <a:srgbClr val="C00000"/>
                </a:solidFill>
                <a:latin typeface="Times New Roman" panose="02020603050405020304" pitchFamily="18" charset="0"/>
                <a:cs typeface="Times New Roman" panose="02020603050405020304" pitchFamily="18" charset="0"/>
              </a:rPr>
              <a:t>ARR   </a:t>
            </a:r>
            <a:r>
              <a:rPr lang="en-US" altLang="en-US" dirty="0">
                <a:solidFill>
                  <a:srgbClr val="C00000"/>
                </a:solidFill>
                <a:latin typeface="Times New Roman" panose="02020603050405020304" pitchFamily="18" charset="0"/>
                <a:cs typeface="Times New Roman" panose="02020603050405020304" pitchFamily="18" charset="0"/>
              </a:rPr>
              <a:t>RESW   10</a:t>
            </a:r>
          </a:p>
          <a:p>
            <a:pPr lvl="0" eaLnBrk="0" fontAlgn="base" hangingPunct="0">
              <a:spcBef>
                <a:spcPct val="0"/>
              </a:spcBef>
              <a:spcAft>
                <a:spcPct val="0"/>
              </a:spcAft>
            </a:pPr>
            <a:r>
              <a:rPr lang="en-US" altLang="en-US" dirty="0" smtClean="0">
                <a:latin typeface="Times New Roman" panose="02020603050405020304" pitchFamily="18" charset="0"/>
                <a:cs typeface="Times New Roman" panose="02020603050405020304" pitchFamily="18" charset="0"/>
              </a:rPr>
              <a:t>	Reserves </a:t>
            </a:r>
            <a:r>
              <a:rPr lang="en-US" altLang="en-US" dirty="0">
                <a:latin typeface="Times New Roman" panose="02020603050405020304" pitchFamily="18" charset="0"/>
                <a:cs typeface="Times New Roman" panose="02020603050405020304" pitchFamily="18" charset="0"/>
              </a:rPr>
              <a:t>space for 10 words (20 bytes).</a:t>
            </a:r>
          </a:p>
          <a:p>
            <a:pPr lvl="1" eaLnBrk="0" fontAlgn="base" hangingPunct="0">
              <a:spcBef>
                <a:spcPct val="0"/>
              </a:spcBef>
              <a:spcAft>
                <a:spcPct val="0"/>
              </a:spcAft>
              <a:buFontTx/>
              <a:buChar char="•"/>
            </a:pPr>
            <a:endParaRPr lang="en-US" altLang="en-US" dirty="0" smtClean="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endParaRPr lang="en-US" altLang="en-US" dirty="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endParaRPr lang="en-US" altLang="en-US"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69685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79512" y="281554"/>
            <a:ext cx="8712968" cy="276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endParaRPr lang="en-US" altLang="en-US" sz="16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b="1" dirty="0" smtClean="0">
                <a:solidFill>
                  <a:srgbClr val="C00000"/>
                </a:solidFill>
                <a:latin typeface="Times New Roman" panose="02020603050405020304" pitchFamily="18" charset="0"/>
                <a:cs typeface="Times New Roman" panose="02020603050405020304" pitchFamily="18" charset="0"/>
              </a:rPr>
              <a:t>End of Program</a:t>
            </a:r>
            <a:endParaRPr lang="en-US" altLang="en-US" sz="2000" dirty="0" smtClean="0">
              <a:solidFill>
                <a:srgbClr val="C0000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000" dirty="0" smtClean="0">
                <a:latin typeface="Times New Roman" panose="02020603050405020304" pitchFamily="18" charset="0"/>
                <a:cs typeface="Times New Roman" panose="02020603050405020304" pitchFamily="18" charset="0"/>
              </a:rPr>
              <a:t>END marks the end of source program so the assembler stops processing.</a:t>
            </a:r>
          </a:p>
          <a:p>
            <a:pPr lvl="0" eaLnBrk="0" fontAlgn="base" hangingPunct="0">
              <a:spcBef>
                <a:spcPct val="0"/>
              </a:spcBef>
              <a:spcAft>
                <a:spcPct val="0"/>
              </a:spcAft>
            </a:pPr>
            <a:r>
              <a:rPr lang="en-US" altLang="en-US" sz="2000" dirty="0" smtClean="0">
                <a:latin typeface="Times New Roman" panose="02020603050405020304" pitchFamily="18" charset="0"/>
                <a:cs typeface="Times New Roman" panose="02020603050405020304" pitchFamily="18" charset="0"/>
              </a:rPr>
              <a:t>END</a:t>
            </a:r>
          </a:p>
          <a:p>
            <a:pPr lvl="0" eaLnBrk="0" fontAlgn="base" hangingPunct="0">
              <a:spcBef>
                <a:spcPct val="0"/>
              </a:spcBef>
              <a:spcAft>
                <a:spcPct val="0"/>
              </a:spcAft>
            </a:pPr>
            <a:endParaRPr lang="en-US" altLang="en-US" sz="2000" dirty="0" smtClean="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endParaRPr lang="en-US" altLang="en-US" sz="1600" dirty="0" smtClean="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endParaRPr lang="en-US" altLang="en-US" sz="600" dirty="0">
              <a:latin typeface="Arial" panose="020B0604020202020204" pitchFamily="34" charset="0"/>
            </a:endParaRPr>
          </a:p>
          <a:p>
            <a:pPr lvl="1" eaLnBrk="0" fontAlgn="base" hangingPunct="0">
              <a:spcBef>
                <a:spcPct val="0"/>
              </a:spcBef>
              <a:spcAft>
                <a:spcPct val="0"/>
              </a:spcAft>
              <a:buFontTx/>
              <a:buChar char="•"/>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smtClean="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27259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20" y="214290"/>
            <a:ext cx="8501122" cy="6396062"/>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a:bodyPr>
          <a:lstStyle/>
          <a:p>
            <a:pPr algn="just"/>
            <a:r>
              <a:rPr lang="en-IN" sz="2400" dirty="0" smtClean="0">
                <a:latin typeface="Times New Roman" panose="02020603050405020304" pitchFamily="18" charset="0"/>
                <a:cs typeface="Times New Roman" panose="02020603050405020304" pitchFamily="18" charset="0"/>
              </a:rPr>
              <a:t>Below </a:t>
            </a:r>
            <a:r>
              <a:rPr lang="en-IN" sz="2400" dirty="0">
                <a:latin typeface="Times New Roman" panose="02020603050405020304" pitchFamily="18" charset="0"/>
                <a:cs typeface="Times New Roman" panose="02020603050405020304" pitchFamily="18" charset="0"/>
              </a:rPr>
              <a:t>figure shows the memory addresses where the </a:t>
            </a:r>
            <a:r>
              <a:rPr lang="en-IN" sz="2400" dirty="0" smtClean="0">
                <a:latin typeface="Times New Roman" panose="02020603050405020304" pitchFamily="18" charset="0"/>
                <a:cs typeface="Times New Roman" panose="02020603050405020304" pitchFamily="18" charset="0"/>
              </a:rPr>
              <a:t>machine instructions </a:t>
            </a:r>
            <a:r>
              <a:rPr lang="en-IN" sz="2400" dirty="0">
                <a:latin typeface="Times New Roman" panose="02020603050405020304" pitchFamily="18" charset="0"/>
                <a:cs typeface="Times New Roman" panose="02020603050405020304" pitchFamily="18" charset="0"/>
              </a:rPr>
              <a:t>and the required data items are to be found after </a:t>
            </a:r>
            <a:r>
              <a:rPr lang="en-IN" sz="2400" b="1" dirty="0">
                <a:solidFill>
                  <a:srgbClr val="C00000"/>
                </a:solidFill>
                <a:latin typeface="Times New Roman" panose="02020603050405020304" pitchFamily="18" charset="0"/>
                <a:cs typeface="Times New Roman" panose="02020603050405020304" pitchFamily="18" charset="0"/>
              </a:rPr>
              <a:t>the </a:t>
            </a:r>
            <a:r>
              <a:rPr lang="en-IN" sz="2400" b="1" dirty="0" smtClean="0">
                <a:solidFill>
                  <a:srgbClr val="C00000"/>
                </a:solidFill>
                <a:latin typeface="Times New Roman" panose="02020603050405020304" pitchFamily="18" charset="0"/>
                <a:cs typeface="Times New Roman" panose="02020603050405020304" pitchFamily="18" charset="0"/>
              </a:rPr>
              <a:t>previous slide program </a:t>
            </a:r>
            <a:r>
              <a:rPr lang="en-IN" sz="2400" dirty="0">
                <a:latin typeface="Times New Roman" panose="02020603050405020304" pitchFamily="18" charset="0"/>
                <a:cs typeface="Times New Roman" panose="02020603050405020304" pitchFamily="18" charset="0"/>
              </a:rPr>
              <a:t>is loaded </a:t>
            </a:r>
            <a:r>
              <a:rPr lang="en-IN" sz="2400" dirty="0" smtClean="0">
                <a:latin typeface="Times New Roman" panose="02020603050405020304" pitchFamily="18" charset="0"/>
                <a:cs typeface="Times New Roman" panose="02020603050405020304" pitchFamily="18" charset="0"/>
              </a:rPr>
              <a:t>for execution.</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If the assembler is to produce an object program according to this arrangement</a:t>
            </a:r>
            <a:r>
              <a:rPr lang="en-IN" sz="2400" dirty="0" smtClean="0">
                <a:latin typeface="Times New Roman" panose="02020603050405020304" pitchFamily="18" charset="0"/>
                <a:cs typeface="Times New Roman" panose="02020603050405020304" pitchFamily="18" charset="0"/>
              </a:rPr>
              <a:t>, it </a:t>
            </a:r>
            <a:r>
              <a:rPr lang="en-IN" sz="2400" dirty="0">
                <a:latin typeface="Times New Roman" panose="02020603050405020304" pitchFamily="18" charset="0"/>
                <a:cs typeface="Times New Roman" panose="02020603050405020304" pitchFamily="18" charset="0"/>
              </a:rPr>
              <a:t>has to know</a:t>
            </a:r>
          </a:p>
          <a:p>
            <a:pPr lvl="1" algn="just">
              <a:buNone/>
            </a:pPr>
            <a:r>
              <a:rPr lang="en-IN" sz="2400" dirty="0">
                <a:latin typeface="Times New Roman" panose="02020603050405020304" pitchFamily="18" charset="0"/>
                <a:cs typeface="Times New Roman" panose="02020603050405020304" pitchFamily="18" charset="0"/>
              </a:rPr>
              <a:t>• How to interpret the names</a:t>
            </a:r>
          </a:p>
          <a:p>
            <a:pPr lvl="1" algn="just">
              <a:buNone/>
            </a:pPr>
            <a:r>
              <a:rPr lang="en-IN" sz="2400" dirty="0">
                <a:latin typeface="Times New Roman" panose="02020603050405020304" pitchFamily="18" charset="0"/>
                <a:cs typeface="Times New Roman" panose="02020603050405020304" pitchFamily="18" charset="0"/>
              </a:rPr>
              <a:t>• Where to place the instructions in the memory</a:t>
            </a:r>
          </a:p>
          <a:p>
            <a:pPr lvl="1" algn="just">
              <a:buNone/>
            </a:pPr>
            <a:r>
              <a:rPr lang="en-IN" sz="2400" dirty="0">
                <a:latin typeface="Times New Roman" panose="02020603050405020304" pitchFamily="18" charset="0"/>
                <a:cs typeface="Times New Roman" panose="02020603050405020304" pitchFamily="18" charset="0"/>
              </a:rPr>
              <a:t>• Where to place the data operands in the memory</a:t>
            </a:r>
          </a:p>
        </p:txBody>
      </p:sp>
    </p:spTree>
    <p:extLst>
      <p:ext uri="{BB962C8B-B14F-4D97-AF65-F5344CB8AC3E}">
        <p14:creationId xmlns:p14="http://schemas.microsoft.com/office/powerpoint/2010/main" val="318365066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23528" y="1323783"/>
            <a:ext cx="8572560" cy="5520652"/>
          </a:xfrm>
          <a:prstGeom prst="rect">
            <a:avLst/>
          </a:prstGeom>
          <a:noFill/>
          <a:ln w="9525">
            <a:noFill/>
            <a:miter lim="800000"/>
            <a:headEnd/>
            <a:tailEnd/>
          </a:ln>
          <a:effectLst/>
        </p:spPr>
      </p:pic>
      <p:sp>
        <p:nvSpPr>
          <p:cNvPr id="2" name="Rectangle 1"/>
          <p:cNvSpPr/>
          <p:nvPr/>
        </p:nvSpPr>
        <p:spPr>
          <a:xfrm>
            <a:off x="179512" y="116632"/>
            <a:ext cx="8496944" cy="646331"/>
          </a:xfrm>
          <a:prstGeom prst="rect">
            <a:avLst/>
          </a:prstGeom>
        </p:spPr>
        <p:txBody>
          <a:bodyPr wrap="square">
            <a:spAutoFit/>
          </a:bodyPr>
          <a:lstStyle/>
          <a:p>
            <a:pPr algn="just"/>
            <a:r>
              <a:rPr lang="en-IN" dirty="0">
                <a:solidFill>
                  <a:srgbClr val="C00000"/>
                </a:solidFill>
                <a:latin typeface="Times New Roman" panose="02020603050405020304" pitchFamily="18" charset="0"/>
                <a:cs typeface="Times New Roman" panose="02020603050405020304" pitchFamily="18" charset="0"/>
              </a:rPr>
              <a:t>The figure shows the memory addresses where the machine instructions and the required data items are to be found after the program is loaded for execution</a:t>
            </a:r>
            <a:r>
              <a:rPr lang="en-IN" dirty="0" smtClean="0">
                <a:solidFill>
                  <a:srgbClr val="C00000"/>
                </a:solidFill>
                <a:latin typeface="Times New Roman" panose="02020603050405020304" pitchFamily="18" charset="0"/>
                <a:cs typeface="Times New Roman" panose="02020603050405020304" pitchFamily="18" charset="0"/>
              </a:rPr>
              <a:t>.</a:t>
            </a:r>
            <a:endParaRPr lang="en-IN"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285728"/>
            <a:ext cx="8929718" cy="60722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6240185"/>
          </a:xfrm>
        </p:spPr>
        <p:txBody>
          <a:bodyPr>
            <a:normAutofit fontScale="25000" lnSpcReduction="20000"/>
          </a:bodyPr>
          <a:lstStyle/>
          <a:p>
            <a:pPr algn="just"/>
            <a:endParaRPr lang="en-IN" dirty="0" smtClean="0"/>
          </a:p>
          <a:p>
            <a:pPr algn="just"/>
            <a:r>
              <a:rPr lang="en-IN" sz="7400" dirty="0" smtClean="0">
                <a:latin typeface="Times New Roman" panose="02020603050405020304" pitchFamily="18" charset="0"/>
                <a:cs typeface="Times New Roman" panose="02020603050405020304" pitchFamily="18" charset="0"/>
              </a:rPr>
              <a:t>The assembler automatically assigns the address of that location to the label.</a:t>
            </a:r>
          </a:p>
          <a:p>
            <a:pPr algn="just"/>
            <a:r>
              <a:rPr lang="en-IN" sz="7400" dirty="0" smtClean="0">
                <a:latin typeface="Times New Roman" panose="02020603050405020304" pitchFamily="18" charset="0"/>
                <a:cs typeface="Times New Roman" panose="02020603050405020304" pitchFamily="18" charset="0"/>
              </a:rPr>
              <a:t> For example, in the data block that follows the second ORIGIN directive, we used the labels SUM, N, and NUM1. </a:t>
            </a:r>
          </a:p>
          <a:p>
            <a:pPr algn="just"/>
            <a:r>
              <a:rPr lang="en-IN" sz="7400" dirty="0" smtClean="0">
                <a:latin typeface="Times New Roman" panose="02020603050405020304" pitchFamily="18" charset="0"/>
                <a:cs typeface="Times New Roman" panose="02020603050405020304" pitchFamily="18" charset="0"/>
              </a:rPr>
              <a:t>Because the first RESERVE statement after the ORIGIN directive is given the label SUM, the name SUM is assigned the value 200. </a:t>
            </a:r>
          </a:p>
          <a:p>
            <a:pPr algn="just"/>
            <a:r>
              <a:rPr lang="en-IN" sz="7400" dirty="0" smtClean="0">
                <a:latin typeface="Times New Roman" panose="02020603050405020304" pitchFamily="18" charset="0"/>
                <a:cs typeface="Times New Roman" panose="02020603050405020304" pitchFamily="18" charset="0"/>
              </a:rPr>
              <a:t>Whenever SUM is encountered in the program, it will be replaced with this value</a:t>
            </a:r>
          </a:p>
          <a:p>
            <a:pPr algn="just"/>
            <a:r>
              <a:rPr lang="en-IN" sz="7400" dirty="0" smtClean="0">
                <a:latin typeface="Times New Roman" panose="02020603050405020304" pitchFamily="18" charset="0"/>
                <a:cs typeface="Times New Roman" panose="02020603050405020304" pitchFamily="18" charset="0"/>
              </a:rPr>
              <a:t>A 4-byte space for the sum is reserved by means  of the assembler directive RESERVE </a:t>
            </a:r>
          </a:p>
          <a:p>
            <a:pPr algn="just"/>
            <a:r>
              <a:rPr lang="en-IN" sz="7400" dirty="0" smtClean="0">
                <a:latin typeface="Times New Roman" panose="02020603050405020304" pitchFamily="18" charset="0"/>
                <a:cs typeface="Times New Roman" panose="02020603050405020304" pitchFamily="18" charset="0"/>
              </a:rPr>
              <a:t>The next word, at address 204, has to contain the value 150 which is the number of entries in the list.</a:t>
            </a:r>
          </a:p>
          <a:p>
            <a:pPr algn="just"/>
            <a:r>
              <a:rPr lang="en-IN" sz="7400" dirty="0" smtClean="0">
                <a:latin typeface="Times New Roman" panose="02020603050405020304" pitchFamily="18" charset="0"/>
                <a:cs typeface="Times New Roman" panose="02020603050405020304" pitchFamily="18" charset="0"/>
              </a:rPr>
              <a:t>The DATAWORD directive is used to inform the assembler of this requirement.</a:t>
            </a:r>
          </a:p>
          <a:p>
            <a:pPr algn="just"/>
            <a:r>
              <a:rPr lang="en-IN" sz="7400" dirty="0" smtClean="0">
                <a:latin typeface="Times New Roman" panose="02020603050405020304" pitchFamily="18" charset="0"/>
                <a:cs typeface="Times New Roman" panose="02020603050405020304" pitchFamily="18" charset="0"/>
              </a:rPr>
              <a:t>The next RESERVE directive declares that a memory block of 600 bytes is to be reserved for data</a:t>
            </a:r>
          </a:p>
          <a:p>
            <a:pPr algn="just"/>
            <a:r>
              <a:rPr lang="en-IN" sz="7400" dirty="0" smtClean="0">
                <a:latin typeface="Times New Roman" panose="02020603050405020304" pitchFamily="18" charset="0"/>
                <a:cs typeface="Times New Roman" panose="02020603050405020304" pitchFamily="18" charset="0"/>
              </a:rPr>
              <a:t>This directive does not cause any data to be loaded in these locations. Data may be loaded in the memory using an input procedure</a:t>
            </a:r>
          </a:p>
          <a:p>
            <a:pPr algn="just"/>
            <a:r>
              <a:rPr lang="en-IN" sz="7400" dirty="0" smtClean="0">
                <a:latin typeface="Times New Roman" panose="02020603050405020304" pitchFamily="18" charset="0"/>
                <a:cs typeface="Times New Roman" panose="02020603050405020304" pitchFamily="18" charset="0"/>
              </a:rPr>
              <a:t>Directive END tells the assembler that this is the end of the source program text.</a:t>
            </a:r>
          </a:p>
          <a:p>
            <a:pPr algn="just"/>
            <a:r>
              <a:rPr lang="en-IN" sz="7400" dirty="0" smtClean="0">
                <a:latin typeface="Times New Roman" panose="02020603050405020304" pitchFamily="18" charset="0"/>
                <a:cs typeface="Times New Roman" panose="02020603050405020304" pitchFamily="18" charset="0"/>
              </a:rPr>
              <a:t>Similarly, the labels N and NUM1 are assigned the values 204 and 208, respectively</a:t>
            </a:r>
            <a:endParaRPr lang="en-IN" sz="7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a:bodyPr>
          <a:lstStyle/>
          <a:p>
            <a:pPr>
              <a:buNone/>
            </a:pPr>
            <a:r>
              <a:rPr lang="en-IN" sz="2400" b="1" dirty="0" smtClean="0">
                <a:solidFill>
                  <a:srgbClr val="FF0000"/>
                </a:solidFill>
                <a:latin typeface="Times New Roman" panose="02020603050405020304" pitchFamily="18" charset="0"/>
                <a:cs typeface="Times New Roman" panose="02020603050405020304" pitchFamily="18" charset="0"/>
              </a:rPr>
              <a:t>Number Notation:</a:t>
            </a:r>
          </a:p>
          <a:p>
            <a:r>
              <a:rPr lang="en-IN" sz="2400" dirty="0" smtClean="0">
                <a:latin typeface="Times New Roman" panose="02020603050405020304" pitchFamily="18" charset="0"/>
                <a:cs typeface="Times New Roman" panose="02020603050405020304" pitchFamily="18" charset="0"/>
              </a:rPr>
              <a:t>Most assemblers allow numerical values to be specified in different ways, using conventions that are defined by the assembly-language syntax.</a:t>
            </a:r>
          </a:p>
          <a:p>
            <a:r>
              <a:rPr lang="en-US" sz="2400" dirty="0" smtClean="0">
                <a:solidFill>
                  <a:srgbClr val="FF0000"/>
                </a:solidFill>
                <a:latin typeface="Times New Roman" panose="02020603050405020304" pitchFamily="18" charset="0"/>
                <a:cs typeface="Times New Roman" panose="02020603050405020304" pitchFamily="18" charset="0"/>
              </a:rPr>
              <a:t>Ex:  </a:t>
            </a:r>
            <a:r>
              <a:rPr lang="en-IN" sz="2400" dirty="0" smtClean="0">
                <a:latin typeface="Times New Roman" panose="02020603050405020304" pitchFamily="18" charset="0"/>
                <a:cs typeface="Times New Roman" panose="02020603050405020304" pitchFamily="18" charset="0"/>
              </a:rPr>
              <a:t>ADDI R2, R3, 93        </a:t>
            </a:r>
            <a:r>
              <a:rPr lang="en-IN" sz="2400" dirty="0" smtClean="0">
                <a:latin typeface="Times New Roman" panose="02020603050405020304" pitchFamily="18" charset="0"/>
                <a:cs typeface="Times New Roman" panose="02020603050405020304" pitchFamily="18" charset="0"/>
                <a:sym typeface="Wingdings" pitchFamily="2" charset="2"/>
              </a:rPr>
              <a:t> </a:t>
            </a:r>
            <a:r>
              <a:rPr lang="en-IN" sz="2400" dirty="0" smtClean="0">
                <a:solidFill>
                  <a:srgbClr val="FF0000"/>
                </a:solidFill>
                <a:latin typeface="Times New Roman" panose="02020603050405020304" pitchFamily="18" charset="0"/>
                <a:cs typeface="Times New Roman" panose="02020603050405020304" pitchFamily="18" charset="0"/>
              </a:rPr>
              <a:t>decimal number 93  </a:t>
            </a:r>
          </a:p>
          <a:p>
            <a:pPr>
              <a:buNone/>
            </a:pPr>
            <a:r>
              <a:rPr lang="en-IN" sz="2400" dirty="0" smtClean="0">
                <a:latin typeface="Times New Roman" panose="02020603050405020304" pitchFamily="18" charset="0"/>
                <a:cs typeface="Times New Roman" panose="02020603050405020304" pitchFamily="18" charset="0"/>
              </a:rPr>
              <a:t>		ADDI R2, R3, %01011101   </a:t>
            </a:r>
            <a:r>
              <a:rPr lang="en-IN" sz="2400" dirty="0" smtClean="0">
                <a:latin typeface="Times New Roman" panose="02020603050405020304" pitchFamily="18" charset="0"/>
                <a:cs typeface="Times New Roman" panose="02020603050405020304" pitchFamily="18" charset="0"/>
                <a:sym typeface="Wingdings" pitchFamily="2" charset="2"/>
              </a:rPr>
              <a:t> binary number</a:t>
            </a:r>
          </a:p>
          <a:p>
            <a:pPr>
              <a:buNone/>
            </a:pPr>
            <a:r>
              <a:rPr lang="en-US" sz="2400" dirty="0" smtClean="0">
                <a:solidFill>
                  <a:srgbClr val="FF0000"/>
                </a:solidFill>
                <a:latin typeface="Times New Roman" panose="02020603050405020304" pitchFamily="18" charset="0"/>
                <a:cs typeface="Times New Roman" panose="02020603050405020304" pitchFamily="18" charset="0"/>
                <a:sym typeface="Wingdings" pitchFamily="2" charset="2"/>
              </a:rPr>
              <a:t>		</a:t>
            </a:r>
            <a:r>
              <a:rPr lang="en-IN" sz="2400" dirty="0" smtClean="0">
                <a:latin typeface="Times New Roman" panose="02020603050405020304" pitchFamily="18" charset="0"/>
                <a:cs typeface="Times New Roman" panose="02020603050405020304" pitchFamily="18" charset="0"/>
              </a:rPr>
              <a:t>ADDI R2, R3, 0x5D   </a:t>
            </a:r>
            <a:r>
              <a:rPr lang="en-IN" sz="2400" dirty="0" smtClean="0">
                <a:latin typeface="Times New Roman" panose="02020603050405020304" pitchFamily="18" charset="0"/>
                <a:cs typeface="Times New Roman" panose="02020603050405020304" pitchFamily="18" charset="0"/>
                <a:sym typeface="Wingdings" pitchFamily="2" charset="2"/>
              </a:rPr>
              <a:t>   hex number</a:t>
            </a:r>
            <a:endParaRPr lang="en-IN" sz="24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572272"/>
          </a:xfrm>
        </p:spPr>
        <p:txBody>
          <a:bodyPr>
            <a:normAutofit fontScale="70000" lnSpcReduction="20000"/>
          </a:bodyPr>
          <a:lstStyle/>
          <a:p>
            <a:pPr>
              <a:buNone/>
            </a:pPr>
            <a:r>
              <a:rPr lang="en-IN" b="1" dirty="0" smtClean="0">
                <a:solidFill>
                  <a:srgbClr val="FF0000"/>
                </a:solidFill>
                <a:latin typeface="Times New Roman" panose="02020603050405020304" pitchFamily="18" charset="0"/>
                <a:cs typeface="Times New Roman" panose="02020603050405020304" pitchFamily="18" charset="0"/>
              </a:rPr>
              <a:t>Solved Problems:   </a:t>
            </a:r>
          </a:p>
          <a:p>
            <a:pPr>
              <a:buNone/>
            </a:pPr>
            <a:r>
              <a:rPr lang="en-IN" b="1" dirty="0" smtClean="0">
                <a:latin typeface="Times New Roman" panose="02020603050405020304" pitchFamily="18" charset="0"/>
                <a:cs typeface="Times New Roman" panose="02020603050405020304" pitchFamily="18" charset="0"/>
              </a:rPr>
              <a:t>List the steps needed to execute the machine instruction</a:t>
            </a:r>
          </a:p>
          <a:p>
            <a:pPr>
              <a:buNone/>
            </a:pPr>
            <a:r>
              <a:rPr lang="en-IN" dirty="0" smtClean="0">
                <a:latin typeface="Times New Roman" panose="02020603050405020304" pitchFamily="18" charset="0"/>
                <a:cs typeface="Times New Roman" panose="02020603050405020304" pitchFamily="18" charset="0"/>
              </a:rPr>
              <a:t>		Load R2, LOC</a:t>
            </a:r>
          </a:p>
          <a:p>
            <a:pPr algn="just">
              <a:buNone/>
            </a:pPr>
            <a:r>
              <a:rPr lang="en-IN" dirty="0" smtClean="0">
                <a:latin typeface="Times New Roman" panose="02020603050405020304" pitchFamily="18" charset="0"/>
                <a:cs typeface="Times New Roman" panose="02020603050405020304" pitchFamily="18" charset="0"/>
              </a:rPr>
              <a:t>	in terms of transfers between the components shown in Figure 1.2 and some simple control commands. An overview of the steps needed is given in Section 1.3. Assume that the address of the memory location containing this instruction is initially in register PC.</a:t>
            </a:r>
          </a:p>
          <a:p>
            <a:pPr>
              <a:buNone/>
            </a:pPr>
            <a:r>
              <a:rPr lang="en-IN" b="1" dirty="0" smtClean="0">
                <a:solidFill>
                  <a:srgbClr val="FF0000"/>
                </a:solidFill>
                <a:latin typeface="Times New Roman" panose="02020603050405020304" pitchFamily="18" charset="0"/>
                <a:cs typeface="Times New Roman" panose="02020603050405020304" pitchFamily="18" charset="0"/>
              </a:rPr>
              <a:t>Solution:   The required steps are:</a:t>
            </a:r>
          </a:p>
          <a:p>
            <a:pPr algn="just"/>
            <a:r>
              <a:rPr lang="en-IN" dirty="0" smtClean="0">
                <a:latin typeface="Times New Roman" panose="02020603050405020304" pitchFamily="18" charset="0"/>
                <a:cs typeface="Times New Roman" panose="02020603050405020304" pitchFamily="18" charset="0"/>
              </a:rPr>
              <a:t> Send the address of the instruction word from register PC to the memory and issue a Read control command.</a:t>
            </a:r>
          </a:p>
          <a:p>
            <a:pPr algn="just"/>
            <a:r>
              <a:rPr lang="en-IN" dirty="0" smtClean="0">
                <a:latin typeface="Times New Roman" panose="02020603050405020304" pitchFamily="18" charset="0"/>
                <a:cs typeface="Times New Roman" panose="02020603050405020304" pitchFamily="18" charset="0"/>
              </a:rPr>
              <a:t> Wait until the requested word has been retrieved from the memory, then load it into register IR, where it is interpreted (decoded) by the control circuitry to determine the operation to be performed.</a:t>
            </a:r>
          </a:p>
          <a:p>
            <a:pPr algn="just"/>
            <a:r>
              <a:rPr lang="en-IN" dirty="0" smtClean="0">
                <a:latin typeface="Times New Roman" panose="02020603050405020304" pitchFamily="18" charset="0"/>
                <a:cs typeface="Times New Roman" panose="02020603050405020304" pitchFamily="18" charset="0"/>
              </a:rPr>
              <a:t> Increment the contents of register PC to point to the next instruction in memory.</a:t>
            </a:r>
          </a:p>
          <a:p>
            <a:pPr algn="just"/>
            <a:r>
              <a:rPr lang="en-IN" dirty="0" smtClean="0">
                <a:latin typeface="Times New Roman" panose="02020603050405020304" pitchFamily="18" charset="0"/>
                <a:cs typeface="Times New Roman" panose="02020603050405020304" pitchFamily="18" charset="0"/>
              </a:rPr>
              <a:t>Send the address value LOC from the instruction in register IR to the memory and issue a Read control command.</a:t>
            </a:r>
          </a:p>
          <a:p>
            <a:pPr algn="just"/>
            <a:r>
              <a:rPr lang="en-IN" dirty="0" smtClean="0">
                <a:latin typeface="Times New Roman" panose="02020603050405020304" pitchFamily="18" charset="0"/>
                <a:cs typeface="Times New Roman" panose="02020603050405020304" pitchFamily="18" charset="0"/>
              </a:rPr>
              <a:t>Wait until the requested word has been retrieved from the memory, then load it into register R2</a:t>
            </a:r>
            <a:endParaRPr lang="en-IN"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5216</TotalTime>
  <Words>4180</Words>
  <Application>Microsoft Office PowerPoint</Application>
  <PresentationFormat>On-screen Show (4:3)</PresentationFormat>
  <Paragraphs>672</Paragraphs>
  <Slides>67</Slides>
  <Notes>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67</vt:i4>
      </vt:variant>
    </vt:vector>
  </HeadingPairs>
  <TitlesOfParts>
    <vt:vector size="78" baseType="lpstr">
      <vt:lpstr>Arial Unicode MS</vt:lpstr>
      <vt:lpstr>SimSun</vt:lpstr>
      <vt:lpstr>Arial</vt:lpstr>
      <vt:lpstr>Calibri</vt:lpstr>
      <vt:lpstr>Nimbus Roman No9 L</vt:lpstr>
      <vt:lpstr>Nimbus Sans L</vt:lpstr>
      <vt:lpstr>Times New Roman</vt:lpstr>
      <vt:lpstr>Verdana</vt:lpstr>
      <vt:lpstr>Wingdings</vt:lpstr>
      <vt:lpstr>Wingdings 2</vt:lpstr>
      <vt:lpstr>Office Theme</vt:lpstr>
      <vt:lpstr>Computer Organization and Embedded systems</vt:lpstr>
      <vt:lpstr>Unit-1 TOPICS TO BE COVERED</vt:lpstr>
      <vt:lpstr>Basic Operational Concepts </vt:lpstr>
      <vt:lpstr>Basic Operational Concepts </vt:lpstr>
      <vt:lpstr>Basic Operational Concepts CONTD </vt:lpstr>
      <vt:lpstr>Basic Operational Concepts cont.. </vt:lpstr>
      <vt:lpstr>Connection Between the Processor and the Memory</vt:lpstr>
      <vt:lpstr>REGISTERS</vt:lpstr>
      <vt:lpstr>PowerPoint Presentation</vt:lpstr>
      <vt:lpstr>TYPICAL OPERATING STEPS</vt:lpstr>
      <vt:lpstr>INTERRUPT:</vt:lpstr>
      <vt:lpstr>PowerPoint Presentation</vt:lpstr>
      <vt:lpstr>PowerPoint Presentation</vt:lpstr>
      <vt:lpstr>PowerPoint Presentation</vt:lpstr>
      <vt:lpstr>PowerPoint Presentation</vt:lpstr>
      <vt:lpstr>PowerPoint Presentation</vt:lpstr>
      <vt:lpstr>Chapter 2 Instruction Set Architecture</vt:lpstr>
      <vt:lpstr>PowerPoint Presentation</vt:lpstr>
      <vt:lpstr>PowerPoint Presentation</vt:lpstr>
      <vt:lpstr>PowerPoint Presentation</vt:lpstr>
      <vt:lpstr>PowerPoint Presentation</vt:lpstr>
      <vt:lpstr>Big-Endian and Little-Endian Assignments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Instruction Execution and Straight-Line Sequencing</vt:lpstr>
      <vt:lpstr>PowerPoint Presentation</vt:lpstr>
      <vt:lpstr>Branching</vt:lpstr>
      <vt:lpstr>Branching</vt:lpstr>
      <vt:lpstr>Branching</vt:lpstr>
      <vt:lpstr>Addressing Modes</vt:lpstr>
      <vt:lpstr>PowerPoint Presentation</vt:lpstr>
      <vt:lpstr>PowerPoint Presentation</vt:lpstr>
      <vt:lpstr>PowerPoint Presentation</vt:lpstr>
      <vt:lpstr>PowerPoint Presentation</vt:lpstr>
      <vt:lpstr>PowerPoint Presentation</vt:lpstr>
      <vt:lpstr>Adding a list of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Assembler Directives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dc:title>
  <dc:creator>roopa</dc:creator>
  <cp:lastModifiedBy>CSC</cp:lastModifiedBy>
  <cp:revision>208</cp:revision>
  <dcterms:created xsi:type="dcterms:W3CDTF">2006-08-16T00:00:00Z</dcterms:created>
  <dcterms:modified xsi:type="dcterms:W3CDTF">2025-09-29T05:25:44Z</dcterms:modified>
</cp:coreProperties>
</file>